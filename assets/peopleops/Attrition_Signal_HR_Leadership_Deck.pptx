
<file path=[Content_Types].xml><?xml version="1.0" encoding="utf-8"?>
<Types xmlns="http://schemas.openxmlformats.org/package/2006/content-types">
  <Default Extension="xlsx" ContentType="application/vnd.openxmlformats-officedocument.spreadsheetml.sheet"/>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Workbook1.xlsx"/></Relationships>
</file>

<file path=ppt/charts/_rels/chart2.xml.rels><?xml version="1.0" encoding="UTF-8" standalone="yes"?>
<Relationships xmlns="http://schemas.openxmlformats.org/package/2006/relationships"><Relationship Id="rId1" Type="http://schemas.openxmlformats.org/officeDocument/2006/relationships/package" Target="../embeddings/Workbook2.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Leavers caught in advance</c:v>
                </c:pt>
              </c:strCache>
            </c:strRef>
          </c:tx>
          <c:spPr>
            <a:solidFill>
              <a:srgbClr val="3E6B8A"/>
            </a:solidFill>
            <a:effectLst/>
          </c:spPr>
          <c:invertIfNegative val="0"/>
          <c:dLbls>
            <c:numFmt formatCode="0&quot;%&quot;" sourceLinked="0"/>
            <c:spPr>
              <a:noFill/>
              <a:ln>
                <a:noFill/>
              </a:ln>
              <a:effectLst/>
            </c:spPr>
            <c:txPr>
              <a:bodyPr rot="0" spcFirstLastPara="0" vertOverflow="ellipsis" vert="horz" wrap="square" lIns="38100" tIns="19050" rIns="38100" bIns="19050" anchor="ctr" anchorCtr="1"/>
              <a:lstStyle/>
              <a:p>
                <a:pPr>
                  <a:defRPr lang="en-US" sz="1300" b="0" i="0" u="none" strike="noStrike" kern="1200" baseline="0">
                    <a:solidFill>
                      <a:srgbClr val="565A61"/>
                    </a:solidFill>
                    <a:latin typeface="Arial" panose="020B0704020202020204"/>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Sheet1!$A$2:$A$3</c:f>
              <c:strCache>
                <c:ptCount val="2"/>
                <c:pt idx="0">
                  <c:v>Do nothing
(assume everyone stays)</c:v>
                </c:pt>
                <c:pt idx="1">
                  <c:v>Our early-warning signal</c:v>
                </c:pt>
              </c:strCache>
            </c:strRef>
          </c:cat>
          <c:val>
            <c:numRef>
              <c:f>Sheet1!$B$2:$B$3</c:f>
              <c:numCache>
                <c:formatCode>General</c:formatCode>
                <c:ptCount val="2"/>
                <c:pt idx="0">
                  <c:v>0</c:v>
                </c:pt>
                <c:pt idx="1">
                  <c:v>61.7</c:v>
                </c:pt>
              </c:numCache>
            </c:numRef>
          </c:val>
        </c:ser>
        <c:dLbls>
          <c:showLegendKey val="0"/>
          <c:showVal val="1"/>
          <c:showCatName val="0"/>
          <c:showSerName val="0"/>
          <c:showPercent val="0"/>
          <c:showBubbleSize val="0"/>
        </c:dLbls>
        <c:gapWidth val="60"/>
        <c:overlap val="0"/>
        <c:axId val="2094734554"/>
        <c:axId val="2094734552"/>
      </c:barChart>
      <c:catAx>
        <c:axId val="2094734554"/>
        <c:scaling>
          <c:orientation val="minMax"/>
        </c:scaling>
        <c:delete val="0"/>
        <c:axPos val="b"/>
        <c:numFmt formatCode="General" sourceLinked="1"/>
        <c:majorTickMark val="out"/>
        <c:minorTickMark val="none"/>
        <c:tickLblPos val="low"/>
        <c:spPr>
          <a:ln w="12700" cap="flat" cmpd="sng" algn="ctr">
            <a:solidFill>
              <a:srgbClr val="888888"/>
            </a:solidFill>
            <a:prstDash val="solid"/>
            <a:round/>
          </a:ln>
        </c:spPr>
        <c:txPr>
          <a:bodyPr rot="-60000000" spcFirstLastPara="0" vertOverflow="ellipsis" vert="horz" wrap="square" anchor="ctr" anchorCtr="1"/>
          <a:lstStyle/>
          <a:p>
            <a:pPr>
              <a:defRPr lang="en-US" sz="1150" b="0" i="0" u="none" strike="noStrike" kern="1200" baseline="0">
                <a:solidFill>
                  <a:srgbClr val="565A61"/>
                </a:solidFill>
                <a:latin typeface="Arial" panose="020B0704020202020204"/>
                <a:ea typeface="+mn-ea"/>
                <a:cs typeface="+mn-cs"/>
              </a:defRPr>
            </a:pPr>
          </a:p>
        </c:txPr>
        <c:crossAx val="2094734552"/>
        <c:crosses val="autoZero"/>
        <c:auto val="1"/>
        <c:lblAlgn val="ctr"/>
        <c:lblOffset val="100"/>
        <c:noMultiLvlLbl val="1"/>
      </c:catAx>
      <c:valAx>
        <c:axId val="2094734552"/>
        <c:scaling>
          <c:orientation val="minMax"/>
          <c:max val="100"/>
        </c:scaling>
        <c:delete val="1"/>
        <c:axPos val="l"/>
        <c:numFmt formatCode="General" sourceLinked="0"/>
        <c:majorTickMark val="out"/>
        <c:minorTickMark val="none"/>
        <c:tickLblPos val="nextTo"/>
        <c:txPr>
          <a:bodyPr rot="-60000000" spcFirstLastPara="0" vertOverflow="ellipsis" vert="horz" wrap="square" anchor="ctr" anchorCtr="1"/>
          <a:lstStyle/>
          <a:p>
            <a:pPr>
              <a:defRPr lang="en-US" sz="1200" b="0" i="0" u="none" strike="noStrike" kern="1200" baseline="0">
                <a:solidFill>
                  <a:srgbClr val="000000"/>
                </a:solidFill>
                <a:latin typeface="Arial" panose="020B0704020202020204"/>
                <a:ea typeface="+mn-ea"/>
                <a:cs typeface="+mn-cs"/>
              </a:defRPr>
            </a:pPr>
          </a:p>
        </c:txPr>
        <c:crossAx val="2094734554"/>
        <c:crosses val="autoZero"/>
        <c:crossBetween val="between"/>
      </c:valAx>
      <c:spPr>
        <a:noFill/>
        <a:ln>
          <a:noFill/>
        </a:ln>
        <a:effectLst/>
      </c:spPr>
    </c:plotArea>
    <c:plotVisOnly val="1"/>
    <c:dispBlanksAs val="span"/>
    <c:showDLblsOverMax val="0"/>
    <c:extLst>
      <c:ext uri="{0b15fc19-7d7d-44ad-8c2d-2c3a37ce22c3}">
        <chartProps xmlns="https://web.wps.cn/et/2018/main" chartId="{83c81077-4751-48bf-b67c-814c8bbcb4c4}"/>
      </c:ext>
    </c:extLst>
  </c:chart>
  <c:spPr>
    <a:noFill/>
    <a:ln>
      <a:noFill/>
    </a:ln>
    <a:effectLst/>
  </c:spPr>
  <c:txPr>
    <a:bodyPr/>
    <a:lstStyle/>
    <a:p>
      <a:pPr>
        <a:defRPr lang="en-US"/>
      </a:p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Relative Strength</c:v>
                </c:pt>
              </c:strCache>
            </c:strRef>
          </c:tx>
          <c:spPr>
            <a:solidFill>
              <a:srgbClr val="3E6B8A"/>
            </a:solidFill>
            <a:effectLst/>
          </c:spPr>
          <c:invertIfNegative val="0"/>
          <c:dLbls>
            <c:dLbl>
              <c:idx val="0"/>
              <c:delete val="1"/>
            </c:dLbl>
            <c:dLbl>
              <c:idx val="1"/>
              <c:delete val="1"/>
            </c:dLbl>
            <c:dLbl>
              <c:idx val="2"/>
              <c:delete val="1"/>
            </c:dLbl>
            <c:dLbl>
              <c:idx val="3"/>
              <c:delete val="1"/>
            </c:dLbl>
            <c:dLbl>
              <c:idx val="4"/>
              <c:delete val="1"/>
            </c:dLbl>
            <c:dLbl>
              <c:idx val="5"/>
              <c:delete val="1"/>
            </c:dLbl>
            <c:dLbl>
              <c:idx val="6"/>
              <c:delete val="1"/>
            </c:dLbl>
            <c:dLbl>
              <c:idx val="7"/>
              <c:delete val="1"/>
            </c:dLbl>
            <c:dLbl>
              <c:idx val="8"/>
              <c:delete val="1"/>
            </c:dLbl>
            <c:numFmt formatCode="#,##0" sourceLinked="0"/>
            <c:spPr>
              <a:noFill/>
              <a:ln>
                <a:noFill/>
              </a:ln>
              <a:effectLst/>
            </c:spPr>
            <c:txPr>
              <a:bodyPr rot="0" spcFirstLastPara="0" vertOverflow="ellipsis" vert="horz" wrap="square" lIns="38100" tIns="19050" rIns="38100" bIns="19050" anchor="ctr" anchorCtr="1"/>
              <a:lstStyle/>
              <a:p>
                <a:pPr>
                  <a:defRPr lang="en-US" sz="1200" b="0" i="0" u="none" strike="noStrike" kern="1200" baseline="0">
                    <a:solidFill>
                      <a:srgbClr val="000000"/>
                    </a:solidFill>
                    <a:latin typeface="Arial" panose="020B0704020202020204"/>
                    <a:ea typeface="+mn-ea"/>
                    <a:cs typeface="+mn-cs"/>
                  </a:defRPr>
                </a:pPr>
              </a:p>
            </c:txPr>
            <c:dLblPos val="outEnd"/>
            <c:showLegendKey val="0"/>
            <c:showVal val="0"/>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Sheet1!$A$2:$A$10</c:f>
              <c:strCache>
                <c:ptCount val="9"/>
                <c:pt idx="0">
                  <c:v>Daily Rate</c:v>
                </c:pt>
                <c:pt idx="1">
                  <c:v>Number of Companies Worked</c:v>
                </c:pt>
                <c:pt idx="2">
                  <c:v>Stock Option Level</c:v>
                </c:pt>
                <c:pt idx="3">
                  <c:v>Years With Current Manager</c:v>
                </c:pt>
                <c:pt idx="4">
                  <c:v>Works Overtime</c:v>
                </c:pt>
                <c:pt idx="5">
                  <c:v>Years at Company</c:v>
                </c:pt>
                <c:pt idx="6">
                  <c:v>Total Working Years</c:v>
                </c:pt>
                <c:pt idx="7">
                  <c:v>Age</c:v>
                </c:pt>
                <c:pt idx="8">
                  <c:v>Monthly Income</c:v>
                </c:pt>
              </c:strCache>
            </c:strRef>
          </c:cat>
          <c:val>
            <c:numRef>
              <c:f>Sheet1!$B$2:$B$10</c:f>
              <c:numCache>
                <c:formatCode>General</c:formatCode>
                <c:ptCount val="9"/>
                <c:pt idx="0">
                  <c:v>4.4</c:v>
                </c:pt>
                <c:pt idx="1">
                  <c:v>3.8</c:v>
                </c:pt>
                <c:pt idx="2">
                  <c:v>4.5</c:v>
                </c:pt>
                <c:pt idx="3">
                  <c:v>5</c:v>
                </c:pt>
                <c:pt idx="4">
                  <c:v>6.4</c:v>
                </c:pt>
                <c:pt idx="5">
                  <c:v>6.5</c:v>
                </c:pt>
                <c:pt idx="6">
                  <c:v>6.8</c:v>
                </c:pt>
                <c:pt idx="7">
                  <c:v>6.9</c:v>
                </c:pt>
                <c:pt idx="8">
                  <c:v>8.4</c:v>
                </c:pt>
              </c:numCache>
            </c:numRef>
          </c:val>
        </c:ser>
        <c:dLbls>
          <c:showLegendKey val="0"/>
          <c:showVal val="0"/>
          <c:showCatName val="0"/>
          <c:showSerName val="0"/>
          <c:showPercent val="0"/>
          <c:showBubbleSize val="0"/>
        </c:dLbls>
        <c:gapWidth val="35"/>
        <c:overlap val="0"/>
        <c:axId val="2094734554"/>
        <c:axId val="2094734552"/>
      </c:barChart>
      <c:catAx>
        <c:axId val="2094734554"/>
        <c:scaling>
          <c:orientation val="minMax"/>
        </c:scaling>
        <c:delete val="0"/>
        <c:axPos val="l"/>
        <c:numFmt formatCode="General" sourceLinked="1"/>
        <c:majorTickMark val="out"/>
        <c:minorTickMark val="none"/>
        <c:tickLblPos val="nextTo"/>
        <c:spPr>
          <a:ln w="12700" cap="flat" cmpd="sng" algn="ctr">
            <a:solidFill>
              <a:srgbClr val="888888"/>
            </a:solidFill>
            <a:prstDash val="solid"/>
            <a:round/>
          </a:ln>
        </c:spPr>
        <c:txPr>
          <a:bodyPr rot="-60000000" spcFirstLastPara="0" vertOverflow="ellipsis" vert="horz" wrap="square" anchor="ctr" anchorCtr="1"/>
          <a:lstStyle/>
          <a:p>
            <a:pPr>
              <a:defRPr lang="en-US" sz="1050" b="0" i="0" u="none" strike="noStrike" kern="1200" baseline="0">
                <a:solidFill>
                  <a:srgbClr val="565A61"/>
                </a:solidFill>
                <a:latin typeface="Arial" panose="020B0704020202020204"/>
                <a:ea typeface="+mn-ea"/>
                <a:cs typeface="+mn-cs"/>
              </a:defRPr>
            </a:pPr>
          </a:p>
        </c:txPr>
        <c:crossAx val="2094734552"/>
        <c:crosses val="autoZero"/>
        <c:auto val="1"/>
        <c:lblAlgn val="ctr"/>
        <c:lblOffset val="100"/>
        <c:noMultiLvlLbl val="1"/>
      </c:catAx>
      <c:valAx>
        <c:axId val="2094734552"/>
        <c:scaling>
          <c:orientation val="minMax"/>
        </c:scaling>
        <c:delete val="1"/>
        <c:axPos val="b"/>
        <c:numFmt formatCode="General" sourceLinked="0"/>
        <c:majorTickMark val="out"/>
        <c:minorTickMark val="none"/>
        <c:tickLblPos val="low"/>
        <c:txPr>
          <a:bodyPr rot="-60000000" spcFirstLastPara="0" vertOverflow="ellipsis" vert="horz" wrap="square" anchor="ctr" anchorCtr="1"/>
          <a:lstStyle/>
          <a:p>
            <a:pPr>
              <a:defRPr lang="en-US" sz="1200" b="0" i="0" u="none" strike="noStrike" kern="1200" baseline="0">
                <a:solidFill>
                  <a:srgbClr val="000000"/>
                </a:solidFill>
                <a:latin typeface="Arial" panose="020B0704020202020204"/>
                <a:ea typeface="+mn-ea"/>
                <a:cs typeface="+mn-cs"/>
              </a:defRPr>
            </a:pPr>
          </a:p>
        </c:txPr>
        <c:crossAx val="2094734554"/>
        <c:crosses val="autoZero"/>
        <c:crossBetween val="between"/>
      </c:valAx>
      <c:spPr>
        <a:noFill/>
        <a:ln>
          <a:noFill/>
        </a:ln>
        <a:effectLst/>
      </c:spPr>
    </c:plotArea>
    <c:plotVisOnly val="1"/>
    <c:dispBlanksAs val="span"/>
    <c:showDLblsOverMax val="0"/>
    <c:extLst>
      <c:ext uri="{0b15fc19-7d7d-44ad-8c2d-2c3a37ce22c3}">
        <chartProps xmlns="https://web.wps.cn/et/2018/main" chartId="{d0d65adc-31c2-4b26-b010-15302f5a9830}"/>
      </c:ext>
    </c:extLst>
  </c:chart>
  <c:spPr>
    <a:noFill/>
    <a:ln>
      <a:noFill/>
    </a:ln>
    <a:effectLst/>
  </c:spPr>
  <c:txPr>
    <a:bodyPr/>
    <a:lstStyle/>
    <a:p>
      <a:pPr>
        <a:defRPr lang="en-US"/>
      </a:pP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No technical terms anywhere in this deck — if a question needs the technical detail, that lives in the companion deck for the product and engineering 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expectations: this is a business conversation, not a technical one, and it leads with exactly who's at risk and what to do before explaining how we got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exists so nobody is confused about the problem, the goal, or what 'it' means before the numbers show up. Say the four lines out loud in order: the problem, the goal, what it is, how it works. Then move straight into the real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one slide that has to land. Walk the grid once, left to right, top to bottom: quietly fine, false alarm, missed entirely, caught in time. The bottom-right box is the whole business case — say the dollar range is illustrative, built from this dataset's real average pay, not a promised outcome.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grounding stat as the technical deck — real and citable. The room has already seen the real numbers, so this slide explains why they matter financially.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Deliberately no model names, no algorithm names, no metrics on this slide — this is the 'how it works' slide for someone who will never open the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entire ‘accuracy vs. recall’ concept lives on this one slide, translated: the metric that looks impressive (percent correct overall) is the wrong one to chase; the metric that matters is how many real leavers get caught.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patterns, not proven causes — say that plainly if asked. Overtime is the headline because it's the one lever HR can actually pull through policy.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HR leadership will remember — it answers 'so what do we actually do' directly, building on the four intervention groups from the opening slide, and reassures the room that no one is being managed by an algorithm.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exists purely so the projection on the next slide doesn't feel like a number pulled out of thin air. Walk the three-step chain once, then land on the callout: we're choosing a range, not inventing a headline stat.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funding slide. Lead with the Conservative and Likely rows — the 33% row exists to show consistency with the headcount slide's dollar figure, not as the headline number. Close on the Ask: a measured pilot beats a bigger promise.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these out loud before anyone else raises them — it builds trust faster than waiting to be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loop on 'this is low-lift to try' — that's the point of leading with pilot, not full rollout.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pointing to the companion technical deck for anyone in the room who wants the modeling detail — keeps this deck honest without dragging jargon into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7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7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7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chart" Target="../charts/chart1.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chart" Target="../charts/char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C222E"/>
        </a:solidFill>
        <a:effectLst/>
      </p:bgPr>
    </p:bg>
    <p:spTree>
      <p:nvGrpSpPr>
        <p:cNvPr id="1" name=""/>
        <p:cNvGrpSpPr/>
        <p:nvPr/>
      </p:nvGrpSpPr>
      <p:grpSpPr>
        <a:xfrm>
          <a:off x="0" y="0"/>
          <a:ext cx="0" cy="0"/>
          <a:chOff x="0" y="0"/>
          <a:chExt cx="0" cy="0"/>
        </a:xfrm>
      </p:grpSpPr>
      <p:sp>
        <p:nvSpPr>
          <p:cNvPr id="2" name="Shape 0"/>
          <p:cNvSpPr/>
          <p:nvPr/>
        </p:nvSpPr>
        <p:spPr>
          <a:xfrm>
            <a:off x="9692640" y="-1463040"/>
            <a:ext cx="4572000" cy="4572000"/>
          </a:xfrm>
          <a:prstGeom prst="ellipse">
            <a:avLst/>
          </a:prstGeom>
          <a:solidFill>
            <a:srgbClr val="242B38">
              <a:alpha val="55000"/>
            </a:srgbClr>
          </a:solidFill>
        </p:spPr>
      </p:sp>
      <p:sp>
        <p:nvSpPr>
          <p:cNvPr id="3" name="Shape 1"/>
          <p:cNvSpPr/>
          <p:nvPr/>
        </p:nvSpPr>
        <p:spPr>
          <a:xfrm>
            <a:off x="-1463040" y="4754880"/>
            <a:ext cx="3657600" cy="3657600"/>
          </a:xfrm>
          <a:prstGeom prst="ellipse">
            <a:avLst/>
          </a:prstGeom>
          <a:solidFill>
            <a:srgbClr val="242B38">
              <a:alpha val="55000"/>
            </a:srgbClr>
          </a:solidFill>
        </p:spPr>
      </p:sp>
      <p:sp>
        <p:nvSpPr>
          <p:cNvPr id="4" name="Text 2"/>
          <p:cNvSpPr/>
          <p:nvPr/>
        </p:nvSpPr>
        <p:spPr>
          <a:xfrm>
            <a:off x="822960" y="1554480"/>
            <a:ext cx="8229600" cy="274320"/>
          </a:xfrm>
          <a:prstGeom prst="rect">
            <a:avLst/>
          </a:prstGeom>
          <a:noFill/>
        </p:spPr>
        <p:txBody>
          <a:bodyPr wrap="square" rtlCol="0" anchor="ctr"/>
          <a:lstStyle/>
          <a:p>
            <a:pPr marL="0" indent="0">
              <a:buNone/>
            </a:pPr>
            <a:r>
              <a:rPr lang="en-US" sz="1100" b="1" kern="0" spc="200" dirty="0">
                <a:solidFill>
                  <a:srgbClr val="A9B7C4"/>
                </a:solidFill>
                <a:latin typeface="Calibri" pitchFamily="34" charset="0"/>
                <a:ea typeface="Calibri" pitchFamily="34" charset="-122"/>
                <a:cs typeface="Calibri" pitchFamily="34" charset="-120"/>
              </a:rPr>
              <a:t>HR LEADERSHIP BRIEFING</a:t>
            </a:r>
            <a:endParaRPr lang="en-US" sz="1100" dirty="0"/>
          </a:p>
        </p:txBody>
      </p:sp>
      <p:sp>
        <p:nvSpPr>
          <p:cNvPr id="5" name="Text 3"/>
          <p:cNvSpPr/>
          <p:nvPr/>
        </p:nvSpPr>
        <p:spPr>
          <a:xfrm>
            <a:off x="822960" y="1874520"/>
            <a:ext cx="10515600" cy="1280160"/>
          </a:xfrm>
          <a:prstGeom prst="rect">
            <a:avLst/>
          </a:prstGeom>
          <a:noFill/>
        </p:spPr>
        <p:txBody>
          <a:bodyPr wrap="square"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Spotting Flight Risk Before It's Too Late</a:t>
            </a:r>
            <a:endParaRPr lang="en-US" sz="3400" dirty="0"/>
          </a:p>
        </p:txBody>
      </p:sp>
      <p:sp>
        <p:nvSpPr>
          <p:cNvPr id="6" name="Text 4"/>
          <p:cNvSpPr/>
          <p:nvPr/>
        </p:nvSpPr>
        <p:spPr>
          <a:xfrm>
            <a:off x="822960" y="2971800"/>
            <a:ext cx="9692640" cy="640080"/>
          </a:xfrm>
          <a:prstGeom prst="rect">
            <a:avLst/>
          </a:prstGeom>
          <a:noFill/>
        </p:spPr>
        <p:txBody>
          <a:bodyPr wrap="square" rtlCol="0" anchor="ctr"/>
          <a:lstStyle/>
          <a:p>
            <a:pPr marL="0" indent="0">
              <a:buNone/>
            </a:pPr>
            <a:r>
              <a:rPr lang="en-US" sz="1700" dirty="0">
                <a:solidFill>
                  <a:srgbClr val="D7DEE4"/>
                </a:solidFill>
                <a:latin typeface="Calibri" pitchFamily="34" charset="0"/>
                <a:ea typeface="Calibri" pitchFamily="34" charset="-122"/>
                <a:cs typeface="Calibri" pitchFamily="34" charset="-120"/>
              </a:rPr>
              <a:t>A simple early-warning signal for HR, built and tested on real employee data.</a:t>
            </a:r>
            <a:endParaRPr lang="en-US" sz="1700" dirty="0"/>
          </a:p>
        </p:txBody>
      </p:sp>
      <p:sp>
        <p:nvSpPr>
          <p:cNvPr id="7" name="Text 5"/>
          <p:cNvSpPr/>
          <p:nvPr/>
        </p:nvSpPr>
        <p:spPr>
          <a:xfrm>
            <a:off x="822960" y="3794760"/>
            <a:ext cx="7315200" cy="365760"/>
          </a:xfrm>
          <a:prstGeom prst="rect">
            <a:avLst/>
          </a:prstGeom>
          <a:noFill/>
        </p:spPr>
        <p:txBody>
          <a:bodyPr wrap="square" rtlCol="0" anchor="ctr"/>
          <a:lstStyle/>
          <a:p>
            <a:pPr marL="0" indent="0">
              <a:buNone/>
            </a:pPr>
            <a:r>
              <a:rPr lang="en-US" sz="1300" i="1" dirty="0">
                <a:solidFill>
                  <a:srgbClr val="A9B7C4"/>
                </a:solidFill>
                <a:latin typeface="Calibri" pitchFamily="34" charset="0"/>
                <a:ea typeface="Calibri" pitchFamily="34" charset="-122"/>
                <a:cs typeface="Calibri" pitchFamily="34" charset="-120"/>
              </a:rPr>
              <a:t>Prepared for: HR Leadership Review</a:t>
            </a:r>
            <a:endParaRPr lang="en-US" sz="1300" dirty="0"/>
          </a:p>
        </p:txBody>
      </p:sp>
      <p:sp>
        <p:nvSpPr>
          <p:cNvPr id="8" name="Text 6"/>
          <p:cNvSpPr/>
          <p:nvPr/>
        </p:nvSpPr>
        <p:spPr>
          <a:xfrm>
            <a:off x="822960" y="6035040"/>
            <a:ext cx="7315200" cy="365760"/>
          </a:xfrm>
          <a:prstGeom prst="rect">
            <a:avLst/>
          </a:prstGeom>
          <a:noFill/>
        </p:spPr>
        <p:txBody>
          <a:bodyPr wrap="square" rtlCol="0" anchor="ctr"/>
          <a:lstStyle/>
          <a:p>
            <a:pPr marL="0" indent="0">
              <a:buNone/>
            </a:pPr>
            <a:r>
              <a:rPr lang="en-US" sz="1200" dirty="0">
                <a:solidFill>
                  <a:srgbClr val="7C8894"/>
                </a:solidFill>
                <a:latin typeface="Calibri" pitchFamily="34" charset="0"/>
                <a:ea typeface="Calibri" pitchFamily="34" charset="-122"/>
                <a:cs typeface="Calibri" pitchFamily="34" charset="-120"/>
              </a:rPr>
              <a:t>Uma Ramanathan  —  Product, UX &amp; Data Portfolio</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22960" y="548640"/>
            <a:ext cx="8229600" cy="274320"/>
          </a:xfrm>
          <a:prstGeom prst="rect">
            <a:avLst/>
          </a:prstGeom>
          <a:noFill/>
        </p:spPr>
        <p:txBody>
          <a:bodyPr wrap="square" rtlCol="0" anchor="ctr"/>
          <a:lstStyle/>
          <a:p>
            <a:pPr marL="0" indent="0">
              <a:buNone/>
            </a:pPr>
            <a:r>
              <a:rPr lang="en-US" sz="1100" b="1" kern="0" spc="200" dirty="0">
                <a:solidFill>
                  <a:srgbClr val="3E6B8A"/>
                </a:solidFill>
                <a:latin typeface="Calibri" pitchFamily="34" charset="0"/>
                <a:ea typeface="Calibri" pitchFamily="34" charset="-122"/>
                <a:cs typeface="Calibri" pitchFamily="34" charset="-120"/>
              </a:rPr>
              <a:t>WHAT WE'LL COVER</a:t>
            </a:r>
            <a:endParaRPr lang="en-US" sz="1100" dirty="0"/>
          </a:p>
        </p:txBody>
      </p:sp>
      <p:sp>
        <p:nvSpPr>
          <p:cNvPr id="3" name="Text 1"/>
          <p:cNvSpPr/>
          <p:nvPr/>
        </p:nvSpPr>
        <p:spPr>
          <a:xfrm>
            <a:off x="822960" y="868680"/>
            <a:ext cx="9601200" cy="548640"/>
          </a:xfrm>
          <a:prstGeom prst="rect">
            <a:avLst/>
          </a:prstGeom>
          <a:noFill/>
        </p:spPr>
        <p:txBody>
          <a:bodyPr wrap="square" rtlCol="0" anchor="ctr"/>
          <a:lstStyle/>
          <a:p>
            <a:pPr marL="0" indent="0">
              <a:buNone/>
            </a:pPr>
            <a:r>
              <a:rPr lang="en-US" sz="2700" b="1" dirty="0">
                <a:solidFill>
                  <a:srgbClr val="1A1A1A"/>
                </a:solidFill>
                <a:latin typeface="Calibri" pitchFamily="34" charset="0"/>
                <a:ea typeface="Calibri" pitchFamily="34" charset="-122"/>
                <a:cs typeface="Calibri" pitchFamily="34" charset="-120"/>
              </a:rPr>
              <a:t>Four Things to Walk Away With</a:t>
            </a:r>
            <a:endParaRPr lang="en-US" sz="2700" dirty="0"/>
          </a:p>
        </p:txBody>
      </p:sp>
      <p:sp>
        <p:nvSpPr>
          <p:cNvPr id="4" name="Shape 2"/>
          <p:cNvSpPr/>
          <p:nvPr/>
        </p:nvSpPr>
        <p:spPr>
          <a:xfrm>
            <a:off x="822960" y="1828800"/>
            <a:ext cx="10515600" cy="886968"/>
          </a:xfrm>
          <a:prstGeom prst="roundRect">
            <a:avLst>
              <a:gd name="adj" fmla="val 8247"/>
            </a:avLst>
          </a:prstGeom>
          <a:solidFill>
            <a:srgbClr val="FAFAFC"/>
          </a:solidFill>
          <a:ln w="12700">
            <a:solidFill>
              <a:srgbClr val="E3E5E8"/>
            </a:solidFill>
            <a:prstDash val="solid"/>
          </a:ln>
        </p:spPr>
      </p:sp>
      <p:sp>
        <p:nvSpPr>
          <p:cNvPr id="5" name="Shape 3"/>
          <p:cNvSpPr/>
          <p:nvPr/>
        </p:nvSpPr>
        <p:spPr>
          <a:xfrm>
            <a:off x="1051560" y="2011680"/>
            <a:ext cx="457200" cy="457200"/>
          </a:xfrm>
          <a:prstGeom prst="ellipse">
            <a:avLst/>
          </a:prstGeom>
          <a:solidFill>
            <a:srgbClr val="3E6B8A"/>
          </a:solidFill>
        </p:spPr>
      </p:sp>
      <p:sp>
        <p:nvSpPr>
          <p:cNvPr id="6" name="Text 4"/>
          <p:cNvSpPr/>
          <p:nvPr/>
        </p:nvSpPr>
        <p:spPr>
          <a:xfrm>
            <a:off x="1051560" y="2011680"/>
            <a:ext cx="457200" cy="457200"/>
          </a:xfrm>
          <a:prstGeom prst="rect">
            <a:avLst/>
          </a:prstGeom>
          <a:noFill/>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01</a:t>
            </a:r>
            <a:endParaRPr lang="en-US" sz="1600" dirty="0"/>
          </a:p>
        </p:txBody>
      </p:sp>
      <p:sp>
        <p:nvSpPr>
          <p:cNvPr id="7" name="Text 5"/>
          <p:cNvSpPr/>
          <p:nvPr/>
        </p:nvSpPr>
        <p:spPr>
          <a:xfrm>
            <a:off x="1737360" y="1920240"/>
            <a:ext cx="8503920" cy="365760"/>
          </a:xfrm>
          <a:prstGeom prst="rect">
            <a:avLst/>
          </a:prstGeom>
          <a:noFill/>
        </p:spPr>
        <p:txBody>
          <a:bodyPr wrap="square" rtlCol="0" anchor="ctr"/>
          <a:lstStyle/>
          <a:p>
            <a:pPr marL="0" indent="0">
              <a:buNone/>
            </a:pPr>
            <a:r>
              <a:rPr lang="en-US" sz="1600" b="1" dirty="0">
                <a:solidFill>
                  <a:srgbClr val="1A1A1A"/>
                </a:solidFill>
                <a:latin typeface="Calibri" pitchFamily="34" charset="0"/>
                <a:ea typeface="Calibri" pitchFamily="34" charset="-122"/>
                <a:cs typeface="Calibri" pitchFamily="34" charset="-120"/>
              </a:rPr>
              <a:t>Who's At Risk</a:t>
            </a:r>
            <a:endParaRPr lang="en-US" sz="1600" dirty="0"/>
          </a:p>
        </p:txBody>
      </p:sp>
      <p:sp>
        <p:nvSpPr>
          <p:cNvPr id="8" name="Text 6"/>
          <p:cNvSpPr/>
          <p:nvPr/>
        </p:nvSpPr>
        <p:spPr>
          <a:xfrm>
            <a:off x="1737360" y="2286000"/>
            <a:ext cx="8503920" cy="365760"/>
          </a:xfrm>
          <a:prstGeom prst="rect">
            <a:avLst/>
          </a:prstGeom>
          <a:noFill/>
        </p:spPr>
        <p:txBody>
          <a:bodyPr wrap="square" rtlCol="0" anchor="ctr"/>
          <a:lstStyle/>
          <a:p>
            <a:pPr marL="0" indent="0">
              <a:buNone/>
            </a:pPr>
            <a:r>
              <a:rPr lang="en-US" sz="1250" dirty="0">
                <a:solidFill>
                  <a:srgbClr val="565A61"/>
                </a:solidFill>
                <a:latin typeface="Calibri" pitchFamily="34" charset="0"/>
                <a:ea typeface="Calibri" pitchFamily="34" charset="-122"/>
                <a:cs typeface="Calibri" pitchFamily="34" charset="-120"/>
              </a:rPr>
              <a:t>The real headcount, broken into groups — who needs what, and why</a:t>
            </a:r>
            <a:endParaRPr lang="en-US" sz="1250" dirty="0"/>
          </a:p>
        </p:txBody>
      </p:sp>
      <p:sp>
        <p:nvSpPr>
          <p:cNvPr id="9" name="Shape 7"/>
          <p:cNvSpPr/>
          <p:nvPr/>
        </p:nvSpPr>
        <p:spPr>
          <a:xfrm>
            <a:off x="822960" y="2880360"/>
            <a:ext cx="10515600" cy="886968"/>
          </a:xfrm>
          <a:prstGeom prst="roundRect">
            <a:avLst>
              <a:gd name="adj" fmla="val 8247"/>
            </a:avLst>
          </a:prstGeom>
          <a:solidFill>
            <a:srgbClr val="FAFAFC"/>
          </a:solidFill>
          <a:ln w="12700">
            <a:solidFill>
              <a:srgbClr val="E3E5E8"/>
            </a:solidFill>
            <a:prstDash val="solid"/>
          </a:ln>
        </p:spPr>
      </p:sp>
      <p:sp>
        <p:nvSpPr>
          <p:cNvPr id="10" name="Shape 8"/>
          <p:cNvSpPr/>
          <p:nvPr/>
        </p:nvSpPr>
        <p:spPr>
          <a:xfrm>
            <a:off x="1051560" y="3063240"/>
            <a:ext cx="457200" cy="457200"/>
          </a:xfrm>
          <a:prstGeom prst="ellipse">
            <a:avLst/>
          </a:prstGeom>
          <a:solidFill>
            <a:srgbClr val="AD8A57"/>
          </a:solidFill>
        </p:spPr>
      </p:sp>
      <p:sp>
        <p:nvSpPr>
          <p:cNvPr id="11" name="Text 9"/>
          <p:cNvSpPr/>
          <p:nvPr/>
        </p:nvSpPr>
        <p:spPr>
          <a:xfrm>
            <a:off x="1051560" y="3063240"/>
            <a:ext cx="457200" cy="457200"/>
          </a:xfrm>
          <a:prstGeom prst="rect">
            <a:avLst/>
          </a:prstGeom>
          <a:noFill/>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02</a:t>
            </a:r>
            <a:endParaRPr lang="en-US" sz="1600" dirty="0"/>
          </a:p>
        </p:txBody>
      </p:sp>
      <p:sp>
        <p:nvSpPr>
          <p:cNvPr id="12" name="Text 10"/>
          <p:cNvSpPr/>
          <p:nvPr/>
        </p:nvSpPr>
        <p:spPr>
          <a:xfrm>
            <a:off x="1737360" y="2971800"/>
            <a:ext cx="8503920" cy="365760"/>
          </a:xfrm>
          <a:prstGeom prst="rect">
            <a:avLst/>
          </a:prstGeom>
          <a:noFill/>
        </p:spPr>
        <p:txBody>
          <a:bodyPr wrap="square" rtlCol="0" anchor="ctr"/>
          <a:lstStyle/>
          <a:p>
            <a:pPr marL="0" indent="0">
              <a:buNone/>
            </a:pPr>
            <a:r>
              <a:rPr lang="en-US" sz="1600" b="1" dirty="0">
                <a:solidFill>
                  <a:srgbClr val="1A1A1A"/>
                </a:solidFill>
                <a:latin typeface="Calibri" pitchFamily="34" charset="0"/>
                <a:ea typeface="Calibri" pitchFamily="34" charset="-122"/>
                <a:cs typeface="Calibri" pitchFamily="34" charset="-120"/>
              </a:rPr>
              <a:t>The Problem</a:t>
            </a:r>
            <a:endParaRPr lang="en-US" sz="1600" dirty="0"/>
          </a:p>
        </p:txBody>
      </p:sp>
      <p:sp>
        <p:nvSpPr>
          <p:cNvPr id="13" name="Text 11"/>
          <p:cNvSpPr/>
          <p:nvPr/>
        </p:nvSpPr>
        <p:spPr>
          <a:xfrm>
            <a:off x="1737360" y="3337560"/>
            <a:ext cx="8503920" cy="365760"/>
          </a:xfrm>
          <a:prstGeom prst="rect">
            <a:avLst/>
          </a:prstGeom>
          <a:noFill/>
        </p:spPr>
        <p:txBody>
          <a:bodyPr wrap="square" rtlCol="0" anchor="ctr"/>
          <a:lstStyle/>
          <a:p>
            <a:pPr marL="0" indent="0">
              <a:buNone/>
            </a:pPr>
            <a:r>
              <a:rPr lang="en-US" sz="1250" dirty="0">
                <a:solidFill>
                  <a:srgbClr val="565A61"/>
                </a:solidFill>
                <a:latin typeface="Calibri" pitchFamily="34" charset="0"/>
                <a:ea typeface="Calibri" pitchFamily="34" charset="-122"/>
                <a:cs typeface="Calibri" pitchFamily="34" charset="-120"/>
              </a:rPr>
              <a:t>Why we usually find out someone's leaving only when it's too late</a:t>
            </a:r>
            <a:endParaRPr lang="en-US" sz="1250" dirty="0"/>
          </a:p>
        </p:txBody>
      </p:sp>
      <p:sp>
        <p:nvSpPr>
          <p:cNvPr id="14" name="Shape 12"/>
          <p:cNvSpPr/>
          <p:nvPr/>
        </p:nvSpPr>
        <p:spPr>
          <a:xfrm>
            <a:off x="822960" y="3931920"/>
            <a:ext cx="10515600" cy="886968"/>
          </a:xfrm>
          <a:prstGeom prst="roundRect">
            <a:avLst>
              <a:gd name="adj" fmla="val 8247"/>
            </a:avLst>
          </a:prstGeom>
          <a:solidFill>
            <a:srgbClr val="FAFAFC"/>
          </a:solidFill>
          <a:ln w="12700">
            <a:solidFill>
              <a:srgbClr val="E3E5E8"/>
            </a:solidFill>
            <a:prstDash val="solid"/>
          </a:ln>
        </p:spPr>
      </p:sp>
      <p:sp>
        <p:nvSpPr>
          <p:cNvPr id="15" name="Shape 13"/>
          <p:cNvSpPr/>
          <p:nvPr/>
        </p:nvSpPr>
        <p:spPr>
          <a:xfrm>
            <a:off x="1051560" y="4114800"/>
            <a:ext cx="457200" cy="457200"/>
          </a:xfrm>
          <a:prstGeom prst="ellipse">
            <a:avLst/>
          </a:prstGeom>
          <a:solidFill>
            <a:srgbClr val="3E6B8A"/>
          </a:solidFill>
        </p:spPr>
      </p:sp>
      <p:sp>
        <p:nvSpPr>
          <p:cNvPr id="16" name="Text 14"/>
          <p:cNvSpPr/>
          <p:nvPr/>
        </p:nvSpPr>
        <p:spPr>
          <a:xfrm>
            <a:off x="1051560" y="4114800"/>
            <a:ext cx="457200" cy="457200"/>
          </a:xfrm>
          <a:prstGeom prst="rect">
            <a:avLst/>
          </a:prstGeom>
          <a:noFill/>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03</a:t>
            </a:r>
            <a:endParaRPr lang="en-US" sz="1600" dirty="0"/>
          </a:p>
        </p:txBody>
      </p:sp>
      <p:sp>
        <p:nvSpPr>
          <p:cNvPr id="17" name="Text 15"/>
          <p:cNvSpPr/>
          <p:nvPr/>
        </p:nvSpPr>
        <p:spPr>
          <a:xfrm>
            <a:off x="1737360" y="4023360"/>
            <a:ext cx="8503920" cy="365760"/>
          </a:xfrm>
          <a:prstGeom prst="rect">
            <a:avLst/>
          </a:prstGeom>
          <a:noFill/>
        </p:spPr>
        <p:txBody>
          <a:bodyPr wrap="square" rtlCol="0" anchor="ctr"/>
          <a:lstStyle/>
          <a:p>
            <a:pPr marL="0" indent="0">
              <a:buNone/>
            </a:pPr>
            <a:r>
              <a:rPr lang="en-US" sz="1600" b="1" dirty="0">
                <a:solidFill>
                  <a:srgbClr val="1A1A1A"/>
                </a:solidFill>
                <a:latin typeface="Calibri" pitchFamily="34" charset="0"/>
                <a:ea typeface="Calibri" pitchFamily="34" charset="-122"/>
                <a:cs typeface="Calibri" pitchFamily="34" charset="-120"/>
              </a:rPr>
              <a:t>How It Works</a:t>
            </a:r>
            <a:endParaRPr lang="en-US" sz="1600" dirty="0"/>
          </a:p>
        </p:txBody>
      </p:sp>
      <p:sp>
        <p:nvSpPr>
          <p:cNvPr id="18" name="Text 16"/>
          <p:cNvSpPr/>
          <p:nvPr/>
        </p:nvSpPr>
        <p:spPr>
          <a:xfrm>
            <a:off x="1737360" y="4389120"/>
            <a:ext cx="8503920" cy="365760"/>
          </a:xfrm>
          <a:prstGeom prst="rect">
            <a:avLst/>
          </a:prstGeom>
          <a:noFill/>
        </p:spPr>
        <p:txBody>
          <a:bodyPr wrap="square" rtlCol="0" anchor="ctr"/>
          <a:lstStyle/>
          <a:p>
            <a:pPr marL="0" indent="0">
              <a:buNone/>
            </a:pPr>
            <a:r>
              <a:rPr lang="en-US" sz="1250" dirty="0">
                <a:solidFill>
                  <a:srgbClr val="565A61"/>
                </a:solidFill>
                <a:latin typeface="Calibri" pitchFamily="34" charset="0"/>
                <a:ea typeface="Calibri" pitchFamily="34" charset="-122"/>
                <a:cs typeface="Calibri" pitchFamily="34" charset="-120"/>
              </a:rPr>
              <a:t>A plain-language look at what we built and how well it performs</a:t>
            </a:r>
            <a:endParaRPr lang="en-US" sz="1250" dirty="0"/>
          </a:p>
        </p:txBody>
      </p:sp>
      <p:sp>
        <p:nvSpPr>
          <p:cNvPr id="19" name="Shape 17"/>
          <p:cNvSpPr/>
          <p:nvPr/>
        </p:nvSpPr>
        <p:spPr>
          <a:xfrm>
            <a:off x="822960" y="4983480"/>
            <a:ext cx="10515600" cy="886968"/>
          </a:xfrm>
          <a:prstGeom prst="roundRect">
            <a:avLst>
              <a:gd name="adj" fmla="val 8247"/>
            </a:avLst>
          </a:prstGeom>
          <a:solidFill>
            <a:srgbClr val="FAFAFC"/>
          </a:solidFill>
          <a:ln w="12700">
            <a:solidFill>
              <a:srgbClr val="E3E5E8"/>
            </a:solidFill>
            <a:prstDash val="solid"/>
          </a:ln>
        </p:spPr>
      </p:sp>
      <p:sp>
        <p:nvSpPr>
          <p:cNvPr id="20" name="Shape 18"/>
          <p:cNvSpPr/>
          <p:nvPr/>
        </p:nvSpPr>
        <p:spPr>
          <a:xfrm>
            <a:off x="1051560" y="5166360"/>
            <a:ext cx="457200" cy="457200"/>
          </a:xfrm>
          <a:prstGeom prst="ellipse">
            <a:avLst/>
          </a:prstGeom>
          <a:solidFill>
            <a:srgbClr val="AD8A57"/>
          </a:solidFill>
        </p:spPr>
      </p:sp>
      <p:sp>
        <p:nvSpPr>
          <p:cNvPr id="21" name="Text 19"/>
          <p:cNvSpPr/>
          <p:nvPr/>
        </p:nvSpPr>
        <p:spPr>
          <a:xfrm>
            <a:off x="1051560" y="5166360"/>
            <a:ext cx="457200" cy="457200"/>
          </a:xfrm>
          <a:prstGeom prst="rect">
            <a:avLst/>
          </a:prstGeom>
          <a:noFill/>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04</a:t>
            </a:r>
            <a:endParaRPr lang="en-US" sz="1600" dirty="0"/>
          </a:p>
        </p:txBody>
      </p:sp>
      <p:sp>
        <p:nvSpPr>
          <p:cNvPr id="22" name="Text 20"/>
          <p:cNvSpPr/>
          <p:nvPr/>
        </p:nvSpPr>
        <p:spPr>
          <a:xfrm>
            <a:off x="1737360" y="5074920"/>
            <a:ext cx="8503920" cy="365760"/>
          </a:xfrm>
          <a:prstGeom prst="rect">
            <a:avLst/>
          </a:prstGeom>
          <a:noFill/>
        </p:spPr>
        <p:txBody>
          <a:bodyPr wrap="square" rtlCol="0" anchor="ctr"/>
          <a:lstStyle/>
          <a:p>
            <a:pPr marL="0" indent="0">
              <a:buNone/>
            </a:pPr>
            <a:r>
              <a:rPr lang="en-US" sz="1600" b="1" dirty="0">
                <a:solidFill>
                  <a:srgbClr val="1A1A1A"/>
                </a:solidFill>
                <a:latin typeface="Calibri" pitchFamily="34" charset="0"/>
                <a:ea typeface="Calibri" pitchFamily="34" charset="-122"/>
                <a:cs typeface="Calibri" pitchFamily="34" charset="-120"/>
              </a:rPr>
              <a:t>What To Do Next</a:t>
            </a:r>
            <a:endParaRPr lang="en-US" sz="1600" dirty="0"/>
          </a:p>
        </p:txBody>
      </p:sp>
      <p:sp>
        <p:nvSpPr>
          <p:cNvPr id="23" name="Text 21"/>
          <p:cNvSpPr/>
          <p:nvPr/>
        </p:nvSpPr>
        <p:spPr>
          <a:xfrm>
            <a:off x="1737360" y="5440680"/>
            <a:ext cx="8503920" cy="365760"/>
          </a:xfrm>
          <a:prstGeom prst="rect">
            <a:avLst/>
          </a:prstGeom>
          <a:noFill/>
        </p:spPr>
        <p:txBody>
          <a:bodyPr wrap="square" rtlCol="0" anchor="ctr"/>
          <a:lstStyle/>
          <a:p>
            <a:pPr marL="0" indent="0">
              <a:buNone/>
            </a:pPr>
            <a:r>
              <a:rPr lang="en-US" sz="1250" dirty="0">
                <a:solidFill>
                  <a:srgbClr val="565A61"/>
                </a:solidFill>
                <a:latin typeface="Calibri" pitchFamily="34" charset="0"/>
                <a:ea typeface="Calibri" pitchFamily="34" charset="-122"/>
                <a:cs typeface="Calibri" pitchFamily="34" charset="-120"/>
              </a:rPr>
              <a:t>Turning a flag into action, what it could be worth, and what's next</a:t>
            </a:r>
            <a:endParaRPr lang="en-US" sz="1250" dirty="0"/>
          </a:p>
        </p:txBody>
      </p:sp>
      <p:sp>
        <p:nvSpPr>
          <p:cNvPr id="24" name="Text 22"/>
          <p:cNvSpPr/>
          <p:nvPr/>
        </p:nvSpPr>
        <p:spPr>
          <a:xfrm>
            <a:off x="457200" y="6473952"/>
            <a:ext cx="7315200" cy="274320"/>
          </a:xfrm>
          <a:prstGeom prst="rect">
            <a:avLst/>
          </a:prstGeom>
          <a:noFill/>
        </p:spPr>
        <p:txBody>
          <a:bodyPr wrap="square" rtlCol="0" anchor="ctr"/>
          <a:lstStyle/>
          <a:p>
            <a:pPr marL="0" indent="0">
              <a:buNone/>
            </a:pPr>
            <a:r>
              <a:rPr lang="en-US" sz="900" dirty="0">
                <a:solidFill>
                  <a:srgbClr val="8B8F94"/>
                </a:solidFill>
                <a:latin typeface="Calibri" pitchFamily="34" charset="0"/>
                <a:ea typeface="Calibri" pitchFamily="34" charset="-122"/>
                <a:cs typeface="Calibri" pitchFamily="34" charset="-120"/>
              </a:rPr>
              <a:t>Employee Flight-Risk Signal  ·  For HR Leadership</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22960" y="438912"/>
            <a:ext cx="457200" cy="457200"/>
          </a:xfrm>
          <a:prstGeom prst="ellipse">
            <a:avLst/>
          </a:prstGeom>
          <a:solidFill>
            <a:srgbClr val="3E6B8A"/>
          </a:solidFill>
        </p:spPr>
      </p:sp>
      <p:sp>
        <p:nvSpPr>
          <p:cNvPr id="3" name="Text 1"/>
          <p:cNvSpPr/>
          <p:nvPr/>
        </p:nvSpPr>
        <p:spPr>
          <a:xfrm>
            <a:off x="822960" y="438912"/>
            <a:ext cx="457200" cy="457200"/>
          </a:xfrm>
          <a:prstGeom prst="rect">
            <a:avLst/>
          </a:prstGeom>
          <a:noFill/>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01</a:t>
            </a:r>
            <a:endParaRPr lang="en-US" sz="1600" dirty="0"/>
          </a:p>
        </p:txBody>
      </p:sp>
      <p:sp>
        <p:nvSpPr>
          <p:cNvPr id="4" name="Text 2"/>
          <p:cNvSpPr/>
          <p:nvPr/>
        </p:nvSpPr>
        <p:spPr>
          <a:xfrm>
            <a:off x="1463040" y="502920"/>
            <a:ext cx="8229600" cy="274320"/>
          </a:xfrm>
          <a:prstGeom prst="rect">
            <a:avLst/>
          </a:prstGeom>
          <a:noFill/>
        </p:spPr>
        <p:txBody>
          <a:bodyPr wrap="square" rtlCol="0" anchor="ctr"/>
          <a:lstStyle/>
          <a:p>
            <a:pPr marL="0" indent="0">
              <a:buNone/>
            </a:pPr>
            <a:r>
              <a:rPr lang="en-US" sz="1100" b="1" kern="0" spc="200" dirty="0">
                <a:solidFill>
                  <a:srgbClr val="3E6B8A"/>
                </a:solidFill>
                <a:latin typeface="Calibri" pitchFamily="34" charset="0"/>
                <a:ea typeface="Calibri" pitchFamily="34" charset="-122"/>
                <a:cs typeface="Calibri" pitchFamily="34" charset="-120"/>
              </a:rPr>
              <a:t>SECTION 01 · WHO'S AT RISK</a:t>
            </a:r>
            <a:endParaRPr lang="en-US" sz="1100" dirty="0"/>
          </a:p>
        </p:txBody>
      </p:sp>
      <p:sp>
        <p:nvSpPr>
          <p:cNvPr id="5" name="Text 3"/>
          <p:cNvSpPr/>
          <p:nvPr/>
        </p:nvSpPr>
        <p:spPr>
          <a:xfrm>
            <a:off x="822960" y="822960"/>
            <a:ext cx="10332720" cy="548640"/>
          </a:xfrm>
          <a:prstGeom prst="rect">
            <a:avLst/>
          </a:prstGeom>
          <a:noFill/>
        </p:spPr>
        <p:txBody>
          <a:bodyPr wrap="square" rtlCol="0" anchor="ctr"/>
          <a:lstStyle/>
          <a:p>
            <a:pPr marL="0" indent="0">
              <a:buNone/>
            </a:pPr>
            <a:r>
              <a:rPr lang="en-US" sz="2200" b="1" dirty="0">
                <a:solidFill>
                  <a:srgbClr val="1A1A1A"/>
                </a:solidFill>
                <a:latin typeface="Calibri" pitchFamily="34" charset="0"/>
                <a:ea typeface="Calibri" pitchFamily="34" charset="-122"/>
                <a:cs typeface="Calibri" pitchFamily="34" charset="-120"/>
              </a:rPr>
              <a:t>What We're Trying to Do</a:t>
            </a:r>
            <a:endParaRPr lang="en-US" sz="2200" dirty="0"/>
          </a:p>
        </p:txBody>
      </p:sp>
      <p:sp>
        <p:nvSpPr>
          <p:cNvPr id="6" name="Shape 4"/>
          <p:cNvSpPr/>
          <p:nvPr/>
        </p:nvSpPr>
        <p:spPr>
          <a:xfrm>
            <a:off x="822960" y="1371600"/>
            <a:ext cx="10332720" cy="1097280"/>
          </a:xfrm>
          <a:prstGeom prst="roundRect">
            <a:avLst>
              <a:gd name="adj" fmla="val 6667"/>
            </a:avLst>
          </a:prstGeom>
          <a:solidFill>
            <a:srgbClr val="FAFAFC"/>
          </a:solidFill>
          <a:ln w="12700">
            <a:solidFill>
              <a:srgbClr val="E3E5E8"/>
            </a:solidFill>
            <a:prstDash val="solid"/>
          </a:ln>
        </p:spPr>
      </p:sp>
      <p:sp>
        <p:nvSpPr>
          <p:cNvPr id="7" name="Text 5"/>
          <p:cNvSpPr/>
          <p:nvPr/>
        </p:nvSpPr>
        <p:spPr>
          <a:xfrm>
            <a:off x="1143000" y="1499616"/>
            <a:ext cx="9692640" cy="237744"/>
          </a:xfrm>
          <a:prstGeom prst="rect">
            <a:avLst/>
          </a:prstGeom>
          <a:noFill/>
        </p:spPr>
        <p:txBody>
          <a:bodyPr wrap="square" rtlCol="0" anchor="ctr"/>
          <a:lstStyle/>
          <a:p>
            <a:pPr marL="0" indent="0">
              <a:buNone/>
            </a:pPr>
            <a:r>
              <a:rPr lang="en-US" sz="1100" b="1" kern="0" spc="150" dirty="0">
                <a:solidFill>
                  <a:srgbClr val="AD8A57"/>
                </a:solidFill>
                <a:latin typeface="Calibri" pitchFamily="34" charset="0"/>
                <a:ea typeface="Calibri" pitchFamily="34" charset="-122"/>
                <a:cs typeface="Calibri" pitchFamily="34" charset="-120"/>
              </a:rPr>
              <a:t>THE PROBLEM</a:t>
            </a:r>
            <a:endParaRPr lang="en-US" sz="1100" dirty="0"/>
          </a:p>
        </p:txBody>
      </p:sp>
      <p:sp>
        <p:nvSpPr>
          <p:cNvPr id="8" name="Text 6"/>
          <p:cNvSpPr/>
          <p:nvPr/>
        </p:nvSpPr>
        <p:spPr>
          <a:xfrm>
            <a:off x="1143000" y="1755648"/>
            <a:ext cx="9692640" cy="658368"/>
          </a:xfrm>
          <a:prstGeom prst="rect">
            <a:avLst/>
          </a:prstGeom>
          <a:noFill/>
        </p:spPr>
        <p:txBody>
          <a:bodyPr wrap="square" rtlCol="0" anchor="t"/>
          <a:lstStyle/>
          <a:p>
            <a:pPr marL="0" indent="0">
              <a:buNone/>
            </a:pPr>
            <a:r>
              <a:rPr lang="en-US" sz="1200" dirty="0">
                <a:solidFill>
                  <a:srgbClr val="565A61"/>
                </a:solidFill>
                <a:latin typeface="Calibri" pitchFamily="34" charset="0"/>
                <a:ea typeface="Calibri" pitchFamily="34" charset="-122"/>
                <a:cs typeface="Calibri" pitchFamily="34" charset="-120"/>
              </a:rPr>
              <a:t>Employee attrition is expensive and hard to see coming. This is demonstrated on IBM's own published HR Analytics Employee Attrition dataset (Kaggle) — 1,470 employees, 237 who left and 1,233 who stayed (16.1% attrition).</a:t>
            </a:r>
            <a:endParaRPr lang="en-US" sz="1200" dirty="0"/>
          </a:p>
        </p:txBody>
      </p:sp>
      <p:sp>
        <p:nvSpPr>
          <p:cNvPr id="9" name="Shape 7"/>
          <p:cNvSpPr/>
          <p:nvPr/>
        </p:nvSpPr>
        <p:spPr>
          <a:xfrm>
            <a:off x="822960" y="2587752"/>
            <a:ext cx="10332720" cy="1097280"/>
          </a:xfrm>
          <a:prstGeom prst="roundRect">
            <a:avLst>
              <a:gd name="adj" fmla="val 6667"/>
            </a:avLst>
          </a:prstGeom>
          <a:solidFill>
            <a:srgbClr val="FAFAFC"/>
          </a:solidFill>
          <a:ln w="12700">
            <a:solidFill>
              <a:srgbClr val="E3E5E8"/>
            </a:solidFill>
            <a:prstDash val="solid"/>
          </a:ln>
        </p:spPr>
      </p:sp>
      <p:sp>
        <p:nvSpPr>
          <p:cNvPr id="10" name="Text 8"/>
          <p:cNvSpPr/>
          <p:nvPr/>
        </p:nvSpPr>
        <p:spPr>
          <a:xfrm>
            <a:off x="1143000" y="2715768"/>
            <a:ext cx="9692640" cy="237744"/>
          </a:xfrm>
          <a:prstGeom prst="rect">
            <a:avLst/>
          </a:prstGeom>
          <a:noFill/>
        </p:spPr>
        <p:txBody>
          <a:bodyPr wrap="square" rtlCol="0" anchor="ctr"/>
          <a:lstStyle/>
          <a:p>
            <a:pPr marL="0" indent="0">
              <a:buNone/>
            </a:pPr>
            <a:r>
              <a:rPr lang="en-US" sz="1100" b="1" kern="0" spc="150" dirty="0">
                <a:solidFill>
                  <a:srgbClr val="3E6B8A"/>
                </a:solidFill>
                <a:latin typeface="Calibri" pitchFamily="34" charset="0"/>
                <a:ea typeface="Calibri" pitchFamily="34" charset="-122"/>
                <a:cs typeface="Calibri" pitchFamily="34" charset="-120"/>
              </a:rPr>
              <a:t>THE GOAL</a:t>
            </a:r>
            <a:endParaRPr lang="en-US" sz="1100" dirty="0"/>
          </a:p>
        </p:txBody>
      </p:sp>
      <p:sp>
        <p:nvSpPr>
          <p:cNvPr id="11" name="Text 9"/>
          <p:cNvSpPr/>
          <p:nvPr/>
        </p:nvSpPr>
        <p:spPr>
          <a:xfrm>
            <a:off x="1143000" y="2971800"/>
            <a:ext cx="9692640" cy="658368"/>
          </a:xfrm>
          <a:prstGeom prst="rect">
            <a:avLst/>
          </a:prstGeom>
          <a:noFill/>
        </p:spPr>
        <p:txBody>
          <a:bodyPr wrap="square" rtlCol="0" anchor="t"/>
          <a:lstStyle/>
          <a:p>
            <a:pPr marL="0" indent="0">
              <a:buNone/>
            </a:pPr>
            <a:r>
              <a:rPr lang="en-US" sz="1200" dirty="0">
                <a:solidFill>
                  <a:srgbClr val="565A61"/>
                </a:solidFill>
                <a:latin typeface="Calibri" pitchFamily="34" charset="0"/>
                <a:ea typeface="Calibri" pitchFamily="34" charset="-122"/>
                <a:cs typeface="Calibri" pitchFamily="34" charset="-120"/>
              </a:rPr>
              <a:t>Catch flight risk — the chance that a given employee is likely to leave soon, based on patterns in their work history — early enough to act on it, instead of finding out in the exit interview, when it's already too late.</a:t>
            </a:r>
            <a:endParaRPr lang="en-US" sz="1200" dirty="0"/>
          </a:p>
        </p:txBody>
      </p:sp>
      <p:sp>
        <p:nvSpPr>
          <p:cNvPr id="12" name="Shape 10"/>
          <p:cNvSpPr/>
          <p:nvPr/>
        </p:nvSpPr>
        <p:spPr>
          <a:xfrm>
            <a:off x="822960" y="3803904"/>
            <a:ext cx="10332720" cy="1097280"/>
          </a:xfrm>
          <a:prstGeom prst="roundRect">
            <a:avLst>
              <a:gd name="adj" fmla="val 6667"/>
            </a:avLst>
          </a:prstGeom>
          <a:solidFill>
            <a:srgbClr val="FAFAFC"/>
          </a:solidFill>
          <a:ln w="12700">
            <a:solidFill>
              <a:srgbClr val="E3E5E8"/>
            </a:solidFill>
            <a:prstDash val="solid"/>
          </a:ln>
        </p:spPr>
      </p:sp>
      <p:sp>
        <p:nvSpPr>
          <p:cNvPr id="13" name="Text 11"/>
          <p:cNvSpPr/>
          <p:nvPr/>
        </p:nvSpPr>
        <p:spPr>
          <a:xfrm>
            <a:off x="1143000" y="3931920"/>
            <a:ext cx="9692640" cy="237744"/>
          </a:xfrm>
          <a:prstGeom prst="rect">
            <a:avLst/>
          </a:prstGeom>
          <a:noFill/>
        </p:spPr>
        <p:txBody>
          <a:bodyPr wrap="square" rtlCol="0" anchor="ctr"/>
          <a:lstStyle/>
          <a:p>
            <a:pPr marL="0" indent="0">
              <a:buNone/>
            </a:pPr>
            <a:r>
              <a:rPr lang="en-US" sz="1100" b="1" kern="0" spc="150" dirty="0">
                <a:solidFill>
                  <a:srgbClr val="AD8A57"/>
                </a:solidFill>
                <a:latin typeface="Calibri" pitchFamily="34" charset="0"/>
                <a:ea typeface="Calibri" pitchFamily="34" charset="-122"/>
                <a:cs typeface="Calibri" pitchFamily="34" charset="-120"/>
              </a:rPr>
              <a:t>WHAT ARE WE BUILDING</a:t>
            </a:r>
            <a:endParaRPr lang="en-US" sz="1100" dirty="0"/>
          </a:p>
        </p:txBody>
      </p:sp>
      <p:sp>
        <p:nvSpPr>
          <p:cNvPr id="14" name="Text 12"/>
          <p:cNvSpPr/>
          <p:nvPr/>
        </p:nvSpPr>
        <p:spPr>
          <a:xfrm>
            <a:off x="1143000" y="4187952"/>
            <a:ext cx="9692640" cy="658368"/>
          </a:xfrm>
          <a:prstGeom prst="rect">
            <a:avLst/>
          </a:prstGeom>
          <a:noFill/>
        </p:spPr>
        <p:txBody>
          <a:bodyPr wrap="square" rtlCol="0" anchor="t"/>
          <a:lstStyle/>
          <a:p>
            <a:pPr marL="0" indent="0">
              <a:buNone/>
            </a:pPr>
            <a:r>
              <a:rPr lang="en-US" sz="1200" dirty="0">
                <a:solidFill>
                  <a:srgbClr val="565A61"/>
                </a:solidFill>
                <a:latin typeface="Calibri" pitchFamily="34" charset="0"/>
                <a:ea typeface="Calibri" pitchFamily="34" charset="-122"/>
                <a:cs typeface="Calibri" pitchFamily="34" charset="-120"/>
              </a:rPr>
              <a:t>A simple early-warning tool built from past employee records. Not a person, not magic, and unlike generative AI it doesn't hallucinate — it only reflects real patterns in the data, and it never decides anything on its own.</a:t>
            </a:r>
            <a:endParaRPr lang="en-US" sz="1200" dirty="0"/>
          </a:p>
        </p:txBody>
      </p:sp>
      <p:sp>
        <p:nvSpPr>
          <p:cNvPr id="15" name="Shape 13"/>
          <p:cNvSpPr/>
          <p:nvPr/>
        </p:nvSpPr>
        <p:spPr>
          <a:xfrm>
            <a:off x="822960" y="5020056"/>
            <a:ext cx="10332720" cy="1097280"/>
          </a:xfrm>
          <a:prstGeom prst="roundRect">
            <a:avLst>
              <a:gd name="adj" fmla="val 6667"/>
            </a:avLst>
          </a:prstGeom>
          <a:solidFill>
            <a:srgbClr val="FAFAFC"/>
          </a:solidFill>
          <a:ln w="12700">
            <a:solidFill>
              <a:srgbClr val="E3E5E8"/>
            </a:solidFill>
            <a:prstDash val="solid"/>
          </a:ln>
        </p:spPr>
      </p:sp>
      <p:sp>
        <p:nvSpPr>
          <p:cNvPr id="16" name="Text 14"/>
          <p:cNvSpPr/>
          <p:nvPr/>
        </p:nvSpPr>
        <p:spPr>
          <a:xfrm>
            <a:off x="1143000" y="5148072"/>
            <a:ext cx="9692640" cy="237744"/>
          </a:xfrm>
          <a:prstGeom prst="rect">
            <a:avLst/>
          </a:prstGeom>
          <a:noFill/>
        </p:spPr>
        <p:txBody>
          <a:bodyPr wrap="square" rtlCol="0" anchor="ctr"/>
          <a:lstStyle/>
          <a:p>
            <a:pPr marL="0" indent="0">
              <a:buNone/>
            </a:pPr>
            <a:r>
              <a:rPr lang="en-US" sz="1100" b="1" kern="0" spc="150" dirty="0">
                <a:solidFill>
                  <a:srgbClr val="3E6B8A"/>
                </a:solidFill>
                <a:latin typeface="Calibri" pitchFamily="34" charset="0"/>
                <a:ea typeface="Calibri" pitchFamily="34" charset="-122"/>
                <a:cs typeface="Calibri" pitchFamily="34" charset="-120"/>
              </a:rPr>
              <a:t>HOW IT WORKS</a:t>
            </a:r>
            <a:endParaRPr lang="en-US" sz="1100" dirty="0"/>
          </a:p>
        </p:txBody>
      </p:sp>
      <p:sp>
        <p:nvSpPr>
          <p:cNvPr id="17" name="Text 15"/>
          <p:cNvSpPr/>
          <p:nvPr/>
        </p:nvSpPr>
        <p:spPr>
          <a:xfrm>
            <a:off x="1143000" y="5404104"/>
            <a:ext cx="9692640" cy="658368"/>
          </a:xfrm>
          <a:prstGeom prst="rect">
            <a:avLst/>
          </a:prstGeom>
          <a:noFill/>
        </p:spPr>
        <p:txBody>
          <a:bodyPr wrap="square" rtlCol="0" anchor="t"/>
          <a:lstStyle/>
          <a:p>
            <a:pPr marL="0" indent="0">
              <a:buNone/>
            </a:pPr>
            <a:r>
              <a:rPr lang="en-US" sz="1200" dirty="0">
                <a:solidFill>
                  <a:srgbClr val="565A61"/>
                </a:solidFill>
                <a:latin typeface="Calibri" pitchFamily="34" charset="0"/>
                <a:ea typeface="Calibri" pitchFamily="34" charset="-122"/>
                <a:cs typeface="Calibri" pitchFamily="34" charset="-120"/>
              </a:rPr>
              <a:t>It learns what past leavers had in common, then compares today's employees to that pattern and flags the ones who look similar. The next slide shows exactly what that looked like, tested on real data.</a:t>
            </a:r>
            <a:endParaRPr lang="en-US" sz="1200" dirty="0"/>
          </a:p>
        </p:txBody>
      </p:sp>
      <p:sp>
        <p:nvSpPr>
          <p:cNvPr id="18" name="Text 16"/>
          <p:cNvSpPr/>
          <p:nvPr/>
        </p:nvSpPr>
        <p:spPr>
          <a:xfrm>
            <a:off x="457200" y="6473952"/>
            <a:ext cx="7315200" cy="274320"/>
          </a:xfrm>
          <a:prstGeom prst="rect">
            <a:avLst/>
          </a:prstGeom>
          <a:noFill/>
        </p:spPr>
        <p:txBody>
          <a:bodyPr wrap="square" rtlCol="0" anchor="ctr"/>
          <a:lstStyle/>
          <a:p>
            <a:pPr marL="0" indent="0">
              <a:buNone/>
            </a:pPr>
            <a:r>
              <a:rPr lang="en-US" sz="900" dirty="0">
                <a:solidFill>
                  <a:srgbClr val="8B8F94"/>
                </a:solidFill>
                <a:latin typeface="Calibri" pitchFamily="34" charset="0"/>
                <a:ea typeface="Calibri" pitchFamily="34" charset="-122"/>
                <a:cs typeface="Calibri" pitchFamily="34" charset="-120"/>
              </a:rPr>
              <a:t>Employee Flight-Risk Signal  ·  For HR Leadership</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22960" y="457200"/>
            <a:ext cx="457200" cy="457200"/>
          </a:xfrm>
          <a:prstGeom prst="ellipse">
            <a:avLst/>
          </a:prstGeom>
          <a:solidFill>
            <a:srgbClr val="3E6B8A"/>
          </a:solidFill>
        </p:spPr>
      </p:sp>
      <p:sp>
        <p:nvSpPr>
          <p:cNvPr id="3" name="Text 1"/>
          <p:cNvSpPr/>
          <p:nvPr/>
        </p:nvSpPr>
        <p:spPr>
          <a:xfrm>
            <a:off x="822960" y="457200"/>
            <a:ext cx="457200" cy="457200"/>
          </a:xfrm>
          <a:prstGeom prst="rect">
            <a:avLst/>
          </a:prstGeom>
          <a:noFill/>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01</a:t>
            </a:r>
            <a:endParaRPr lang="en-US" sz="1600" dirty="0"/>
          </a:p>
        </p:txBody>
      </p:sp>
      <p:sp>
        <p:nvSpPr>
          <p:cNvPr id="4" name="Text 2"/>
          <p:cNvSpPr/>
          <p:nvPr/>
        </p:nvSpPr>
        <p:spPr>
          <a:xfrm>
            <a:off x="1463040" y="521208"/>
            <a:ext cx="8229600" cy="274320"/>
          </a:xfrm>
          <a:prstGeom prst="rect">
            <a:avLst/>
          </a:prstGeom>
          <a:noFill/>
        </p:spPr>
        <p:txBody>
          <a:bodyPr wrap="square" rtlCol="0" anchor="ctr"/>
          <a:lstStyle/>
          <a:p>
            <a:pPr marL="0" indent="0">
              <a:buNone/>
            </a:pPr>
            <a:r>
              <a:rPr lang="en-US" sz="1100" b="1" kern="0" spc="200" dirty="0">
                <a:solidFill>
                  <a:srgbClr val="3E6B8A"/>
                </a:solidFill>
                <a:latin typeface="Calibri" pitchFamily="34" charset="0"/>
                <a:ea typeface="Calibri" pitchFamily="34" charset="-122"/>
                <a:cs typeface="Calibri" pitchFamily="34" charset="-120"/>
              </a:rPr>
              <a:t>SECTION 01 · WHO'S AT RISK</a:t>
            </a:r>
            <a:endParaRPr lang="en-US" sz="1100" dirty="0"/>
          </a:p>
        </p:txBody>
      </p:sp>
      <p:sp>
        <p:nvSpPr>
          <p:cNvPr id="5" name="Text 3"/>
          <p:cNvSpPr/>
          <p:nvPr/>
        </p:nvSpPr>
        <p:spPr>
          <a:xfrm>
            <a:off x="822960" y="960120"/>
            <a:ext cx="10332720" cy="548640"/>
          </a:xfrm>
          <a:prstGeom prst="rect">
            <a:avLst/>
          </a:prstGeom>
          <a:noFill/>
        </p:spPr>
        <p:txBody>
          <a:bodyPr wrap="square" rtlCol="0" anchor="ctr"/>
          <a:lstStyle/>
          <a:p>
            <a:pPr marL="0" indent="0">
              <a:buNone/>
            </a:pPr>
            <a:r>
              <a:rPr lang="en-US" sz="2200" b="1" dirty="0">
                <a:solidFill>
                  <a:srgbClr val="1A1A1A"/>
                </a:solidFill>
                <a:latin typeface="Calibri" pitchFamily="34" charset="0"/>
                <a:ea typeface="Calibri" pitchFamily="34" charset="-122"/>
                <a:cs typeface="Calibri" pitchFamily="34" charset="-120"/>
              </a:rPr>
              <a:t>16.1% Attrition: Who's At Risk, and What To Do</a:t>
            </a:r>
            <a:endParaRPr lang="en-US" sz="2200" dirty="0"/>
          </a:p>
        </p:txBody>
      </p:sp>
      <p:sp>
        <p:nvSpPr>
          <p:cNvPr id="6" name="Text 4"/>
          <p:cNvSpPr/>
          <p:nvPr/>
        </p:nvSpPr>
        <p:spPr>
          <a:xfrm>
            <a:off x="822960" y="1417320"/>
            <a:ext cx="10332720" cy="502920"/>
          </a:xfrm>
          <a:prstGeom prst="rect">
            <a:avLst/>
          </a:prstGeom>
          <a:noFill/>
        </p:spPr>
        <p:txBody>
          <a:bodyPr wrap="square" rtlCol="0" anchor="t"/>
          <a:lstStyle/>
          <a:p>
            <a:pPr marL="0" indent="0">
              <a:buNone/>
            </a:pPr>
            <a:r>
              <a:rPr lang="en-US" sz="1150" dirty="0">
                <a:solidFill>
                  <a:srgbClr val="1A1A1A"/>
                </a:solidFill>
                <a:latin typeface="Calibri" pitchFamily="34" charset="0"/>
                <a:ea typeface="Calibri" pitchFamily="34" charset="-122"/>
                <a:cs typeface="Calibri" pitchFamily="34" charset="-120"/>
              </a:rPr>
              <a:t>1,470 real employee records — 237 who left, 1,233 who stayed (16.1% attrition) — from IBM's HR Analytics Employee Attrition dataset (Kaggle). Of the 294 held out for testing, every employee falls into one of four groups: </a:t>
            </a:r>
            <a:endParaRPr lang="en-US" sz="1150" dirty="0"/>
          </a:p>
        </p:txBody>
      </p:sp>
      <p:sp>
        <p:nvSpPr>
          <p:cNvPr id="7" name="Shape 5"/>
          <p:cNvSpPr/>
          <p:nvPr/>
        </p:nvSpPr>
        <p:spPr>
          <a:xfrm>
            <a:off x="822960" y="1993392"/>
            <a:ext cx="5074920" cy="2103120"/>
          </a:xfrm>
          <a:prstGeom prst="roundRect">
            <a:avLst>
              <a:gd name="adj" fmla="val 3478"/>
            </a:avLst>
          </a:prstGeom>
          <a:solidFill>
            <a:srgbClr val="FAFAFC"/>
          </a:solidFill>
          <a:ln w="12700">
            <a:solidFill>
              <a:srgbClr val="E3E5E8"/>
            </a:solidFill>
            <a:prstDash val="solid"/>
          </a:ln>
        </p:spPr>
      </p:sp>
      <p:sp>
        <p:nvSpPr>
          <p:cNvPr id="8" name="Shape 6"/>
          <p:cNvSpPr/>
          <p:nvPr/>
        </p:nvSpPr>
        <p:spPr>
          <a:xfrm>
            <a:off x="822960" y="1993392"/>
            <a:ext cx="73152" cy="2103120"/>
          </a:xfrm>
          <a:prstGeom prst="rect">
            <a:avLst/>
          </a:prstGeom>
          <a:solidFill>
            <a:srgbClr val="AEB4BB"/>
          </a:solidFill>
        </p:spPr>
      </p:sp>
      <p:sp>
        <p:nvSpPr>
          <p:cNvPr id="9" name="Text 7"/>
          <p:cNvSpPr/>
          <p:nvPr/>
        </p:nvSpPr>
        <p:spPr>
          <a:xfrm>
            <a:off x="1051560" y="2103120"/>
            <a:ext cx="960120" cy="548640"/>
          </a:xfrm>
          <a:prstGeom prst="rect">
            <a:avLst/>
          </a:prstGeom>
          <a:noFill/>
        </p:spPr>
        <p:txBody>
          <a:bodyPr wrap="square" rtlCol="0" anchor="ctr"/>
          <a:lstStyle/>
          <a:p>
            <a:pPr marL="0" indent="0">
              <a:buNone/>
            </a:pPr>
            <a:r>
              <a:rPr lang="en-US" sz="2600" b="1" dirty="0">
                <a:solidFill>
                  <a:srgbClr val="1A1A1A"/>
                </a:solidFill>
                <a:latin typeface="Calibri" pitchFamily="34" charset="0"/>
                <a:ea typeface="Calibri" pitchFamily="34" charset="-122"/>
                <a:cs typeface="Calibri" pitchFamily="34" charset="-120"/>
              </a:rPr>
              <a:t>192</a:t>
            </a:r>
            <a:endParaRPr lang="en-US" sz="2600" dirty="0"/>
          </a:p>
        </p:txBody>
      </p:sp>
      <p:sp>
        <p:nvSpPr>
          <p:cNvPr id="10" name="Text 8"/>
          <p:cNvSpPr/>
          <p:nvPr/>
        </p:nvSpPr>
        <p:spPr>
          <a:xfrm>
            <a:off x="2057400" y="2103120"/>
            <a:ext cx="3657600" cy="274320"/>
          </a:xfrm>
          <a:prstGeom prst="rect">
            <a:avLst/>
          </a:prstGeom>
          <a:noFill/>
        </p:spPr>
        <p:txBody>
          <a:bodyPr wrap="square" rtlCol="0" anchor="ctr"/>
          <a:lstStyle/>
          <a:p>
            <a:pPr marL="0" indent="0">
              <a:buNone/>
            </a:pPr>
            <a:r>
              <a:rPr lang="en-US" sz="1300" b="1" dirty="0">
                <a:solidFill>
                  <a:srgbClr val="1A1A1A"/>
                </a:solidFill>
                <a:latin typeface="Calibri" pitchFamily="34" charset="0"/>
                <a:ea typeface="Calibri" pitchFamily="34" charset="-122"/>
                <a:cs typeface="Calibri" pitchFamily="34" charset="-120"/>
              </a:rPr>
              <a:t>Quietly Fine</a:t>
            </a:r>
            <a:endParaRPr lang="en-US" sz="1300" dirty="0"/>
          </a:p>
        </p:txBody>
      </p:sp>
      <p:sp>
        <p:nvSpPr>
          <p:cNvPr id="11" name="Text 9"/>
          <p:cNvSpPr/>
          <p:nvPr/>
        </p:nvSpPr>
        <p:spPr>
          <a:xfrm>
            <a:off x="2057400" y="2395728"/>
            <a:ext cx="3657600" cy="365760"/>
          </a:xfrm>
          <a:prstGeom prst="rect">
            <a:avLst/>
          </a:prstGeom>
          <a:noFill/>
        </p:spPr>
        <p:txBody>
          <a:bodyPr wrap="square" rtlCol="0" anchor="ctr"/>
          <a:lstStyle/>
          <a:p>
            <a:pPr marL="0" indent="0">
              <a:buNone/>
            </a:pPr>
            <a:r>
              <a:rPr lang="en-US" sz="820" kern="0" spc="30" dirty="0">
                <a:solidFill>
                  <a:srgbClr val="AEB4BB"/>
                </a:solidFill>
                <a:latin typeface="Calibri" pitchFamily="34" charset="0"/>
                <a:ea typeface="Calibri" pitchFamily="34" charset="-122"/>
                <a:cs typeface="Calibri" pitchFamily="34" charset="-120"/>
              </a:rPr>
              <a:t>ACTUALLY STAYED · LOW RISK</a:t>
            </a:r>
            <a:endParaRPr lang="en-US" sz="820" dirty="0"/>
          </a:p>
        </p:txBody>
      </p:sp>
      <p:sp>
        <p:nvSpPr>
          <p:cNvPr id="12" name="Text 10"/>
          <p:cNvSpPr/>
          <p:nvPr/>
        </p:nvSpPr>
        <p:spPr>
          <a:xfrm>
            <a:off x="1051560" y="2798064"/>
            <a:ext cx="4617720" cy="475488"/>
          </a:xfrm>
          <a:prstGeom prst="rect">
            <a:avLst/>
          </a:prstGeom>
          <a:noFill/>
        </p:spPr>
        <p:txBody>
          <a:bodyPr wrap="square" rtlCol="0" anchor="t"/>
          <a:lstStyle/>
          <a:p>
            <a:pPr marL="0" indent="0">
              <a:buNone/>
            </a:pPr>
            <a:r>
              <a:rPr lang="en-US" sz="910" b="1" dirty="0">
                <a:solidFill>
                  <a:srgbClr val="565A61"/>
                </a:solidFill>
                <a:latin typeface="Calibri" pitchFamily="34" charset="0"/>
                <a:ea typeface="Calibri" pitchFamily="34" charset="-122"/>
                <a:cs typeface="Calibri" pitchFamily="34" charset="-120"/>
              </a:rPr>
              <a:t>Intervention: </a:t>
            </a:r>
            <a:r>
              <a:rPr lang="en-US" sz="910" dirty="0">
                <a:solidFill>
                  <a:srgbClr val="565A61"/>
                </a:solidFill>
                <a:latin typeface="Calibri" pitchFamily="34" charset="0"/>
                <a:ea typeface="Calibri" pitchFamily="34" charset="-122"/>
                <a:cs typeface="Calibri" pitchFamily="34" charset="-120"/>
              </a:rPr>
              <a:t>Not needed.</a:t>
            </a:r>
            <a:endParaRPr lang="en-US" sz="910" dirty="0"/>
          </a:p>
        </p:txBody>
      </p:sp>
      <p:sp>
        <p:nvSpPr>
          <p:cNvPr id="13" name="Text 11"/>
          <p:cNvSpPr/>
          <p:nvPr/>
        </p:nvSpPr>
        <p:spPr>
          <a:xfrm>
            <a:off x="1051560" y="3255264"/>
            <a:ext cx="4617720" cy="777240"/>
          </a:xfrm>
          <a:prstGeom prst="rect">
            <a:avLst/>
          </a:prstGeom>
          <a:noFill/>
        </p:spPr>
        <p:txBody>
          <a:bodyPr wrap="square" rtlCol="0" anchor="t"/>
          <a:lstStyle/>
          <a:p>
            <a:pPr marL="0" indent="0">
              <a:buNone/>
            </a:pPr>
            <a:r>
              <a:rPr lang="en-US" sz="860" b="1" dirty="0">
                <a:solidFill>
                  <a:srgbClr val="AEB4BB"/>
                </a:solidFill>
                <a:latin typeface="Calibri" pitchFamily="34" charset="0"/>
                <a:ea typeface="Calibri" pitchFamily="34" charset="-122"/>
                <a:cs typeface="Calibri" pitchFamily="34" charset="-120"/>
              </a:rPr>
              <a:t>Impact: </a:t>
            </a:r>
            <a:r>
              <a:rPr lang="en-US" sz="860" dirty="0">
                <a:solidFill>
                  <a:srgbClr val="565A61"/>
                </a:solidFill>
                <a:latin typeface="Calibri" pitchFamily="34" charset="0"/>
                <a:ea typeface="Calibri" pitchFamily="34" charset="-122"/>
                <a:cs typeface="Calibri" pitchFamily="34" charset="-120"/>
              </a:rPr>
              <a:t>Confirms the tool isn't over-flagging.</a:t>
            </a:r>
            <a:endParaRPr lang="en-US" sz="860" dirty="0"/>
          </a:p>
        </p:txBody>
      </p:sp>
      <p:sp>
        <p:nvSpPr>
          <p:cNvPr id="14" name="Shape 12"/>
          <p:cNvSpPr/>
          <p:nvPr/>
        </p:nvSpPr>
        <p:spPr>
          <a:xfrm>
            <a:off x="6080760" y="1993392"/>
            <a:ext cx="5074920" cy="2103120"/>
          </a:xfrm>
          <a:prstGeom prst="roundRect">
            <a:avLst>
              <a:gd name="adj" fmla="val 3478"/>
            </a:avLst>
          </a:prstGeom>
          <a:solidFill>
            <a:srgbClr val="FAFAFC"/>
          </a:solidFill>
          <a:ln w="12700">
            <a:solidFill>
              <a:srgbClr val="E3E5E8"/>
            </a:solidFill>
            <a:prstDash val="solid"/>
          </a:ln>
        </p:spPr>
      </p:sp>
      <p:sp>
        <p:nvSpPr>
          <p:cNvPr id="15" name="Shape 13"/>
          <p:cNvSpPr/>
          <p:nvPr/>
        </p:nvSpPr>
        <p:spPr>
          <a:xfrm>
            <a:off x="6080760" y="1993392"/>
            <a:ext cx="73152" cy="2103120"/>
          </a:xfrm>
          <a:prstGeom prst="rect">
            <a:avLst/>
          </a:prstGeom>
          <a:solidFill>
            <a:srgbClr val="B98B3E"/>
          </a:solidFill>
        </p:spPr>
      </p:sp>
      <p:sp>
        <p:nvSpPr>
          <p:cNvPr id="16" name="Text 14"/>
          <p:cNvSpPr/>
          <p:nvPr/>
        </p:nvSpPr>
        <p:spPr>
          <a:xfrm>
            <a:off x="6309360" y="2103120"/>
            <a:ext cx="960120" cy="548640"/>
          </a:xfrm>
          <a:prstGeom prst="rect">
            <a:avLst/>
          </a:prstGeom>
          <a:noFill/>
        </p:spPr>
        <p:txBody>
          <a:bodyPr wrap="square" rtlCol="0" anchor="ctr"/>
          <a:lstStyle/>
          <a:p>
            <a:pPr marL="0" indent="0">
              <a:buNone/>
            </a:pPr>
            <a:r>
              <a:rPr lang="en-US" sz="2600" b="1" dirty="0">
                <a:solidFill>
                  <a:srgbClr val="1A1A1A"/>
                </a:solidFill>
                <a:latin typeface="Calibri" pitchFamily="34" charset="0"/>
                <a:ea typeface="Calibri" pitchFamily="34" charset="-122"/>
                <a:cs typeface="Calibri" pitchFamily="34" charset="-120"/>
              </a:rPr>
              <a:t>55</a:t>
            </a:r>
            <a:endParaRPr lang="en-US" sz="2600" dirty="0"/>
          </a:p>
        </p:txBody>
      </p:sp>
      <p:sp>
        <p:nvSpPr>
          <p:cNvPr id="17" name="Text 15"/>
          <p:cNvSpPr/>
          <p:nvPr/>
        </p:nvSpPr>
        <p:spPr>
          <a:xfrm>
            <a:off x="7315200" y="2103120"/>
            <a:ext cx="3657600" cy="274320"/>
          </a:xfrm>
          <a:prstGeom prst="rect">
            <a:avLst/>
          </a:prstGeom>
          <a:noFill/>
        </p:spPr>
        <p:txBody>
          <a:bodyPr wrap="square" rtlCol="0" anchor="ctr"/>
          <a:lstStyle/>
          <a:p>
            <a:pPr marL="0" indent="0">
              <a:buNone/>
            </a:pPr>
            <a:r>
              <a:rPr lang="en-US" sz="1300" b="1" dirty="0">
                <a:solidFill>
                  <a:srgbClr val="1A1A1A"/>
                </a:solidFill>
                <a:latin typeface="Calibri" pitchFamily="34" charset="0"/>
                <a:ea typeface="Calibri" pitchFamily="34" charset="-122"/>
                <a:cs typeface="Calibri" pitchFamily="34" charset="-120"/>
              </a:rPr>
              <a:t>False Alarm</a:t>
            </a:r>
            <a:endParaRPr lang="en-US" sz="1300" dirty="0"/>
          </a:p>
        </p:txBody>
      </p:sp>
      <p:sp>
        <p:nvSpPr>
          <p:cNvPr id="18" name="Text 16"/>
          <p:cNvSpPr/>
          <p:nvPr/>
        </p:nvSpPr>
        <p:spPr>
          <a:xfrm>
            <a:off x="7315200" y="2395728"/>
            <a:ext cx="3657600" cy="365760"/>
          </a:xfrm>
          <a:prstGeom prst="rect">
            <a:avLst/>
          </a:prstGeom>
          <a:noFill/>
        </p:spPr>
        <p:txBody>
          <a:bodyPr wrap="square" rtlCol="0" anchor="ctr"/>
          <a:lstStyle/>
          <a:p>
            <a:pPr marL="0" indent="0">
              <a:buNone/>
            </a:pPr>
            <a:r>
              <a:rPr lang="en-US" sz="820" kern="0" spc="30" dirty="0">
                <a:solidFill>
                  <a:srgbClr val="B98B3E"/>
                </a:solidFill>
                <a:latin typeface="Calibri" pitchFamily="34" charset="0"/>
                <a:ea typeface="Calibri" pitchFamily="34" charset="-122"/>
                <a:cs typeface="Calibri" pitchFamily="34" charset="-120"/>
              </a:rPr>
              <a:t>ACTUALLY STAYED · FLAGGED HIGH RISK</a:t>
            </a:r>
            <a:endParaRPr lang="en-US" sz="820" dirty="0"/>
          </a:p>
        </p:txBody>
      </p:sp>
      <p:sp>
        <p:nvSpPr>
          <p:cNvPr id="19" name="Text 17"/>
          <p:cNvSpPr/>
          <p:nvPr/>
        </p:nvSpPr>
        <p:spPr>
          <a:xfrm>
            <a:off x="6309360" y="2798064"/>
            <a:ext cx="4617720" cy="475488"/>
          </a:xfrm>
          <a:prstGeom prst="rect">
            <a:avLst/>
          </a:prstGeom>
          <a:noFill/>
        </p:spPr>
        <p:txBody>
          <a:bodyPr wrap="square" rtlCol="0" anchor="t"/>
          <a:lstStyle/>
          <a:p>
            <a:pPr marL="0" indent="0">
              <a:buNone/>
            </a:pPr>
            <a:r>
              <a:rPr lang="en-US" sz="910" b="1" dirty="0">
                <a:solidFill>
                  <a:srgbClr val="565A61"/>
                </a:solidFill>
                <a:latin typeface="Calibri" pitchFamily="34" charset="0"/>
                <a:ea typeface="Calibri" pitchFamily="34" charset="-122"/>
                <a:cs typeface="Calibri" pitchFamily="34" charset="-120"/>
              </a:rPr>
              <a:t>Intervention: </a:t>
            </a:r>
            <a:r>
              <a:rPr lang="en-US" sz="910" dirty="0">
                <a:solidFill>
                  <a:srgbClr val="565A61"/>
                </a:solidFill>
                <a:latin typeface="Calibri" pitchFamily="34" charset="0"/>
                <a:ea typeface="Calibri" pitchFamily="34" charset="-122"/>
                <a:cs typeface="Calibri" pitchFamily="34" charset="-120"/>
              </a:rPr>
              <a:t>Possible — a brief, low-key check-in.</a:t>
            </a:r>
            <a:endParaRPr lang="en-US" sz="910" dirty="0"/>
          </a:p>
        </p:txBody>
      </p:sp>
      <p:sp>
        <p:nvSpPr>
          <p:cNvPr id="20" name="Text 18"/>
          <p:cNvSpPr/>
          <p:nvPr/>
        </p:nvSpPr>
        <p:spPr>
          <a:xfrm>
            <a:off x="6309360" y="3255264"/>
            <a:ext cx="4617720" cy="777240"/>
          </a:xfrm>
          <a:prstGeom prst="rect">
            <a:avLst/>
          </a:prstGeom>
          <a:noFill/>
        </p:spPr>
        <p:txBody>
          <a:bodyPr wrap="square" rtlCol="0" anchor="t"/>
          <a:lstStyle/>
          <a:p>
            <a:pPr marL="0" indent="0">
              <a:buNone/>
            </a:pPr>
            <a:r>
              <a:rPr lang="en-US" sz="860" b="1" dirty="0">
                <a:solidFill>
                  <a:srgbClr val="B98B3E"/>
                </a:solidFill>
                <a:latin typeface="Calibri" pitchFamily="34" charset="0"/>
                <a:ea typeface="Calibri" pitchFamily="34" charset="-122"/>
                <a:cs typeface="Calibri" pitchFamily="34" charset="-120"/>
              </a:rPr>
              <a:t>Impact: </a:t>
            </a:r>
            <a:r>
              <a:rPr lang="en-US" sz="860" dirty="0">
                <a:solidFill>
                  <a:srgbClr val="565A61"/>
                </a:solidFill>
                <a:latin typeface="Calibri" pitchFamily="34" charset="0"/>
                <a:ea typeface="Calibri" pitchFamily="34" charset="-122"/>
                <a:cs typeface="Calibri" pitchFamily="34" charset="-120"/>
              </a:rPr>
              <a:t>Cheap even when the flag turns out wrong.</a:t>
            </a:r>
            <a:endParaRPr lang="en-US" sz="860" dirty="0"/>
          </a:p>
        </p:txBody>
      </p:sp>
      <p:sp>
        <p:nvSpPr>
          <p:cNvPr id="21" name="Shape 19"/>
          <p:cNvSpPr/>
          <p:nvPr/>
        </p:nvSpPr>
        <p:spPr>
          <a:xfrm>
            <a:off x="822960" y="4224528"/>
            <a:ext cx="5074920" cy="2103120"/>
          </a:xfrm>
          <a:prstGeom prst="roundRect">
            <a:avLst>
              <a:gd name="adj" fmla="val 3478"/>
            </a:avLst>
          </a:prstGeom>
          <a:solidFill>
            <a:srgbClr val="FAFAFC"/>
          </a:solidFill>
          <a:ln w="12700">
            <a:solidFill>
              <a:srgbClr val="E3E5E8"/>
            </a:solidFill>
            <a:prstDash val="solid"/>
          </a:ln>
        </p:spPr>
      </p:sp>
      <p:sp>
        <p:nvSpPr>
          <p:cNvPr id="22" name="Shape 20"/>
          <p:cNvSpPr/>
          <p:nvPr/>
        </p:nvSpPr>
        <p:spPr>
          <a:xfrm>
            <a:off x="822960" y="4224528"/>
            <a:ext cx="73152" cy="2103120"/>
          </a:xfrm>
          <a:prstGeom prst="rect">
            <a:avLst/>
          </a:prstGeom>
          <a:solidFill>
            <a:srgbClr val="A44A42"/>
          </a:solidFill>
        </p:spPr>
      </p:sp>
      <p:sp>
        <p:nvSpPr>
          <p:cNvPr id="23" name="Text 21"/>
          <p:cNvSpPr/>
          <p:nvPr/>
        </p:nvSpPr>
        <p:spPr>
          <a:xfrm>
            <a:off x="1051560" y="4334256"/>
            <a:ext cx="960120" cy="548640"/>
          </a:xfrm>
          <a:prstGeom prst="rect">
            <a:avLst/>
          </a:prstGeom>
          <a:noFill/>
        </p:spPr>
        <p:txBody>
          <a:bodyPr wrap="square" rtlCol="0" anchor="ctr"/>
          <a:lstStyle/>
          <a:p>
            <a:pPr marL="0" indent="0">
              <a:buNone/>
            </a:pPr>
            <a:r>
              <a:rPr lang="en-US" sz="2600" b="1" dirty="0">
                <a:solidFill>
                  <a:srgbClr val="1A1A1A"/>
                </a:solidFill>
                <a:latin typeface="Calibri" pitchFamily="34" charset="0"/>
                <a:ea typeface="Calibri" pitchFamily="34" charset="-122"/>
                <a:cs typeface="Calibri" pitchFamily="34" charset="-120"/>
              </a:rPr>
              <a:t>18</a:t>
            </a:r>
            <a:endParaRPr lang="en-US" sz="2600" dirty="0"/>
          </a:p>
        </p:txBody>
      </p:sp>
      <p:sp>
        <p:nvSpPr>
          <p:cNvPr id="24" name="Text 22"/>
          <p:cNvSpPr/>
          <p:nvPr/>
        </p:nvSpPr>
        <p:spPr>
          <a:xfrm>
            <a:off x="2057400" y="4334256"/>
            <a:ext cx="3657600" cy="274320"/>
          </a:xfrm>
          <a:prstGeom prst="rect">
            <a:avLst/>
          </a:prstGeom>
          <a:noFill/>
        </p:spPr>
        <p:txBody>
          <a:bodyPr wrap="square" rtlCol="0" anchor="ctr"/>
          <a:lstStyle/>
          <a:p>
            <a:pPr marL="0" indent="0">
              <a:buNone/>
            </a:pPr>
            <a:r>
              <a:rPr lang="en-US" sz="1300" b="1" dirty="0">
                <a:solidFill>
                  <a:srgbClr val="1A1A1A"/>
                </a:solidFill>
                <a:latin typeface="Calibri" pitchFamily="34" charset="0"/>
                <a:ea typeface="Calibri" pitchFamily="34" charset="-122"/>
                <a:cs typeface="Calibri" pitchFamily="34" charset="-120"/>
              </a:rPr>
              <a:t>Missed Entirely</a:t>
            </a:r>
            <a:endParaRPr lang="en-US" sz="1300" dirty="0"/>
          </a:p>
        </p:txBody>
      </p:sp>
      <p:sp>
        <p:nvSpPr>
          <p:cNvPr id="25" name="Text 23"/>
          <p:cNvSpPr/>
          <p:nvPr/>
        </p:nvSpPr>
        <p:spPr>
          <a:xfrm>
            <a:off x="2057400" y="4626864"/>
            <a:ext cx="3657600" cy="365760"/>
          </a:xfrm>
          <a:prstGeom prst="rect">
            <a:avLst/>
          </a:prstGeom>
          <a:noFill/>
        </p:spPr>
        <p:txBody>
          <a:bodyPr wrap="square" rtlCol="0" anchor="ctr"/>
          <a:lstStyle/>
          <a:p>
            <a:pPr marL="0" indent="0">
              <a:buNone/>
            </a:pPr>
            <a:r>
              <a:rPr lang="en-US" sz="820" kern="0" spc="30" dirty="0">
                <a:solidFill>
                  <a:srgbClr val="A44A42"/>
                </a:solidFill>
                <a:latin typeface="Calibri" pitchFamily="34" charset="0"/>
                <a:ea typeface="Calibri" pitchFamily="34" charset="-122"/>
                <a:cs typeface="Calibri" pitchFamily="34" charset="-120"/>
              </a:rPr>
              <a:t>ACTUALLY LEFT · APPEARED LOW RISK</a:t>
            </a:r>
            <a:endParaRPr lang="en-US" sz="820" dirty="0"/>
          </a:p>
        </p:txBody>
      </p:sp>
      <p:sp>
        <p:nvSpPr>
          <p:cNvPr id="26" name="Text 24"/>
          <p:cNvSpPr/>
          <p:nvPr/>
        </p:nvSpPr>
        <p:spPr>
          <a:xfrm>
            <a:off x="1051560" y="5029200"/>
            <a:ext cx="4617720" cy="475488"/>
          </a:xfrm>
          <a:prstGeom prst="rect">
            <a:avLst/>
          </a:prstGeom>
          <a:noFill/>
        </p:spPr>
        <p:txBody>
          <a:bodyPr wrap="square" rtlCol="0" anchor="t"/>
          <a:lstStyle/>
          <a:p>
            <a:pPr marL="0" indent="0">
              <a:buNone/>
            </a:pPr>
            <a:r>
              <a:rPr lang="en-US" sz="910" b="1" dirty="0">
                <a:solidFill>
                  <a:srgbClr val="565A61"/>
                </a:solidFill>
                <a:latin typeface="Calibri" pitchFamily="34" charset="0"/>
                <a:ea typeface="Calibri" pitchFamily="34" charset="-122"/>
                <a:cs typeface="Calibri" pitchFamily="34" charset="-120"/>
              </a:rPr>
              <a:t>Intervention: </a:t>
            </a:r>
            <a:r>
              <a:rPr lang="en-US" sz="910" dirty="0">
                <a:solidFill>
                  <a:srgbClr val="565A61"/>
                </a:solidFill>
                <a:latin typeface="Calibri" pitchFamily="34" charset="0"/>
                <a:ea typeface="Calibri" pitchFamily="34" charset="-122"/>
                <a:cs typeface="Calibri" pitchFamily="34" charset="-120"/>
              </a:rPr>
              <a:t>Not possible from this flag — needs a manual safety net for high-value roles.</a:t>
            </a:r>
            <a:endParaRPr lang="en-US" sz="910" dirty="0"/>
          </a:p>
        </p:txBody>
      </p:sp>
      <p:sp>
        <p:nvSpPr>
          <p:cNvPr id="27" name="Text 25"/>
          <p:cNvSpPr/>
          <p:nvPr/>
        </p:nvSpPr>
        <p:spPr>
          <a:xfrm>
            <a:off x="1051560" y="5486400"/>
            <a:ext cx="4617720" cy="777240"/>
          </a:xfrm>
          <a:prstGeom prst="rect">
            <a:avLst/>
          </a:prstGeom>
          <a:noFill/>
        </p:spPr>
        <p:txBody>
          <a:bodyPr wrap="square" rtlCol="0" anchor="t"/>
          <a:lstStyle/>
          <a:p>
            <a:pPr marL="0" indent="0">
              <a:buNone/>
            </a:pPr>
            <a:r>
              <a:rPr lang="en-US" sz="860" b="1" dirty="0">
                <a:solidFill>
                  <a:srgbClr val="A44A42"/>
                </a:solidFill>
                <a:latin typeface="Calibri" pitchFamily="34" charset="0"/>
                <a:ea typeface="Calibri" pitchFamily="34" charset="-122"/>
                <a:cs typeface="Calibri" pitchFamily="34" charset="-120"/>
              </a:rPr>
              <a:t>Impact: </a:t>
            </a:r>
            <a:r>
              <a:rPr lang="en-US" sz="860" dirty="0">
                <a:solidFill>
                  <a:srgbClr val="565A61"/>
                </a:solidFill>
                <a:latin typeface="Calibri" pitchFamily="34" charset="0"/>
                <a:ea typeface="Calibri" pitchFamily="34" charset="-122"/>
                <a:cs typeface="Calibri" pitchFamily="34" charset="-120"/>
              </a:rPr>
              <a:t>The tool's blind spot — 4 in 10 leavers go unflagged.</a:t>
            </a:r>
            <a:endParaRPr lang="en-US" sz="860" dirty="0"/>
          </a:p>
        </p:txBody>
      </p:sp>
      <p:sp>
        <p:nvSpPr>
          <p:cNvPr id="28" name="Shape 26"/>
          <p:cNvSpPr/>
          <p:nvPr/>
        </p:nvSpPr>
        <p:spPr>
          <a:xfrm>
            <a:off x="6080760" y="4224528"/>
            <a:ext cx="5074920" cy="2103120"/>
          </a:xfrm>
          <a:prstGeom prst="roundRect">
            <a:avLst>
              <a:gd name="adj" fmla="val 3478"/>
            </a:avLst>
          </a:prstGeom>
          <a:solidFill>
            <a:srgbClr val="FAFAFC"/>
          </a:solidFill>
          <a:ln w="12700">
            <a:solidFill>
              <a:srgbClr val="E3E5E8"/>
            </a:solidFill>
            <a:prstDash val="solid"/>
          </a:ln>
        </p:spPr>
      </p:sp>
      <p:sp>
        <p:nvSpPr>
          <p:cNvPr id="29" name="Shape 27"/>
          <p:cNvSpPr/>
          <p:nvPr/>
        </p:nvSpPr>
        <p:spPr>
          <a:xfrm>
            <a:off x="6080760" y="4224528"/>
            <a:ext cx="73152" cy="2103120"/>
          </a:xfrm>
          <a:prstGeom prst="rect">
            <a:avLst/>
          </a:prstGeom>
          <a:solidFill>
            <a:srgbClr val="3E6B8A"/>
          </a:solidFill>
        </p:spPr>
      </p:sp>
      <p:sp>
        <p:nvSpPr>
          <p:cNvPr id="30" name="Text 28"/>
          <p:cNvSpPr/>
          <p:nvPr/>
        </p:nvSpPr>
        <p:spPr>
          <a:xfrm>
            <a:off x="6309360" y="4334256"/>
            <a:ext cx="960120" cy="548640"/>
          </a:xfrm>
          <a:prstGeom prst="rect">
            <a:avLst/>
          </a:prstGeom>
          <a:noFill/>
        </p:spPr>
        <p:txBody>
          <a:bodyPr wrap="square" rtlCol="0" anchor="ctr"/>
          <a:lstStyle/>
          <a:p>
            <a:pPr marL="0" indent="0">
              <a:buNone/>
            </a:pPr>
            <a:r>
              <a:rPr lang="en-US" sz="2600" b="1" dirty="0">
                <a:solidFill>
                  <a:srgbClr val="1A1A1A"/>
                </a:solidFill>
                <a:latin typeface="Calibri" pitchFamily="34" charset="0"/>
                <a:ea typeface="Calibri" pitchFamily="34" charset="-122"/>
                <a:cs typeface="Calibri" pitchFamily="34" charset="-120"/>
              </a:rPr>
              <a:t>29</a:t>
            </a:r>
            <a:endParaRPr lang="en-US" sz="2600" dirty="0"/>
          </a:p>
        </p:txBody>
      </p:sp>
      <p:sp>
        <p:nvSpPr>
          <p:cNvPr id="31" name="Text 29"/>
          <p:cNvSpPr/>
          <p:nvPr/>
        </p:nvSpPr>
        <p:spPr>
          <a:xfrm>
            <a:off x="7315200" y="4334256"/>
            <a:ext cx="3657600" cy="274320"/>
          </a:xfrm>
          <a:prstGeom prst="rect">
            <a:avLst/>
          </a:prstGeom>
          <a:noFill/>
        </p:spPr>
        <p:txBody>
          <a:bodyPr wrap="square" rtlCol="0" anchor="ctr"/>
          <a:lstStyle/>
          <a:p>
            <a:pPr marL="0" indent="0">
              <a:buNone/>
            </a:pPr>
            <a:r>
              <a:rPr lang="en-US" sz="1300" b="1" dirty="0">
                <a:solidFill>
                  <a:srgbClr val="1A1A1A"/>
                </a:solidFill>
                <a:latin typeface="Calibri" pitchFamily="34" charset="0"/>
                <a:ea typeface="Calibri" pitchFamily="34" charset="-122"/>
                <a:cs typeface="Calibri" pitchFamily="34" charset="-120"/>
              </a:rPr>
              <a:t>Caught in Time</a:t>
            </a:r>
            <a:endParaRPr lang="en-US" sz="1300" dirty="0"/>
          </a:p>
        </p:txBody>
      </p:sp>
      <p:sp>
        <p:nvSpPr>
          <p:cNvPr id="32" name="Text 30"/>
          <p:cNvSpPr/>
          <p:nvPr/>
        </p:nvSpPr>
        <p:spPr>
          <a:xfrm>
            <a:off x="7315200" y="4626864"/>
            <a:ext cx="3657600" cy="365760"/>
          </a:xfrm>
          <a:prstGeom prst="rect">
            <a:avLst/>
          </a:prstGeom>
          <a:noFill/>
        </p:spPr>
        <p:txBody>
          <a:bodyPr wrap="square" rtlCol="0" anchor="ctr"/>
          <a:lstStyle/>
          <a:p>
            <a:pPr marL="0" indent="0">
              <a:buNone/>
            </a:pPr>
            <a:r>
              <a:rPr lang="en-US" sz="820" kern="0" spc="30" dirty="0">
                <a:solidFill>
                  <a:srgbClr val="3E6B8A"/>
                </a:solidFill>
                <a:latin typeface="Calibri" pitchFamily="34" charset="0"/>
                <a:ea typeface="Calibri" pitchFamily="34" charset="-122"/>
                <a:cs typeface="Calibri" pitchFamily="34" charset="-120"/>
              </a:rPr>
              <a:t>ACTUALLY LEFT · FLAGGED HIGH RISK</a:t>
            </a:r>
            <a:endParaRPr lang="en-US" sz="820" dirty="0"/>
          </a:p>
        </p:txBody>
      </p:sp>
      <p:sp>
        <p:nvSpPr>
          <p:cNvPr id="33" name="Text 31"/>
          <p:cNvSpPr/>
          <p:nvPr/>
        </p:nvSpPr>
        <p:spPr>
          <a:xfrm>
            <a:off x="6309360" y="5029200"/>
            <a:ext cx="4617720" cy="475488"/>
          </a:xfrm>
          <a:prstGeom prst="rect">
            <a:avLst/>
          </a:prstGeom>
          <a:noFill/>
        </p:spPr>
        <p:txBody>
          <a:bodyPr wrap="square" rtlCol="0" anchor="t"/>
          <a:lstStyle/>
          <a:p>
            <a:pPr marL="0" indent="0">
              <a:buNone/>
            </a:pPr>
            <a:r>
              <a:rPr lang="en-US" sz="910" b="1" dirty="0">
                <a:solidFill>
                  <a:srgbClr val="565A61"/>
                </a:solidFill>
                <a:latin typeface="Calibri" pitchFamily="34" charset="0"/>
                <a:ea typeface="Calibri" pitchFamily="34" charset="-122"/>
                <a:cs typeface="Calibri" pitchFamily="34" charset="-120"/>
              </a:rPr>
              <a:t>Intervention: </a:t>
            </a:r>
            <a:r>
              <a:rPr lang="en-US" sz="910" dirty="0">
                <a:solidFill>
                  <a:srgbClr val="565A61"/>
                </a:solidFill>
                <a:latin typeface="Calibri" pitchFamily="34" charset="0"/>
                <a:ea typeface="Calibri" pitchFamily="34" charset="-122"/>
                <a:cs typeface="Calibri" pitchFamily="34" charset="-120"/>
              </a:rPr>
              <a:t>Needed and possible — retention conversation within days.</a:t>
            </a:r>
            <a:endParaRPr lang="en-US" sz="910" dirty="0"/>
          </a:p>
        </p:txBody>
      </p:sp>
      <p:sp>
        <p:nvSpPr>
          <p:cNvPr id="34" name="Text 32"/>
          <p:cNvSpPr/>
          <p:nvPr/>
        </p:nvSpPr>
        <p:spPr>
          <a:xfrm>
            <a:off x="6309360" y="5486400"/>
            <a:ext cx="4617720" cy="777240"/>
          </a:xfrm>
          <a:prstGeom prst="rect">
            <a:avLst/>
          </a:prstGeom>
          <a:noFill/>
        </p:spPr>
        <p:txBody>
          <a:bodyPr wrap="square" rtlCol="0" anchor="t"/>
          <a:lstStyle/>
          <a:p>
            <a:pPr marL="0" indent="0">
              <a:buNone/>
            </a:pPr>
            <a:r>
              <a:rPr lang="en-US" sz="860" b="1" dirty="0">
                <a:solidFill>
                  <a:srgbClr val="3E6B8A"/>
                </a:solidFill>
                <a:latin typeface="Calibri" pitchFamily="34" charset="0"/>
                <a:ea typeface="Calibri" pitchFamily="34" charset="-122"/>
                <a:cs typeface="Calibri" pitchFamily="34" charset="-120"/>
              </a:rPr>
              <a:t>Impact: </a:t>
            </a:r>
            <a:r>
              <a:rPr lang="en-US" sz="860" dirty="0">
                <a:solidFill>
                  <a:srgbClr val="565A61"/>
                </a:solidFill>
                <a:latin typeface="Calibri" pitchFamily="34" charset="0"/>
                <a:ea typeface="Calibri" pitchFamily="34" charset="-122"/>
                <a:cs typeface="Calibri" pitchFamily="34" charset="-120"/>
              </a:rPr>
              <a:t>Retaining even 1 in 3 (~10 people) could avoid ~$290K–$1.1M in replacement cost (avg $57K/yr pay, SHRM's 50–200% benchmark).</a:t>
            </a:r>
            <a:endParaRPr lang="en-US" sz="860" dirty="0"/>
          </a:p>
        </p:txBody>
      </p:sp>
      <p:sp>
        <p:nvSpPr>
          <p:cNvPr id="35" name="Text 33"/>
          <p:cNvSpPr/>
          <p:nvPr/>
        </p:nvSpPr>
        <p:spPr>
          <a:xfrm>
            <a:off x="457200" y="6473952"/>
            <a:ext cx="7315200" cy="274320"/>
          </a:xfrm>
          <a:prstGeom prst="rect">
            <a:avLst/>
          </a:prstGeom>
          <a:noFill/>
        </p:spPr>
        <p:txBody>
          <a:bodyPr wrap="square" rtlCol="0" anchor="ctr"/>
          <a:lstStyle/>
          <a:p>
            <a:pPr marL="0" indent="0">
              <a:buNone/>
            </a:pPr>
            <a:r>
              <a:rPr lang="en-US" sz="900" dirty="0">
                <a:solidFill>
                  <a:srgbClr val="8B8F94"/>
                </a:solidFill>
                <a:latin typeface="Calibri" pitchFamily="34" charset="0"/>
                <a:ea typeface="Calibri" pitchFamily="34" charset="-122"/>
                <a:cs typeface="Calibri" pitchFamily="34" charset="-120"/>
              </a:rPr>
              <a:t>Employee Flight-Risk Signal  ·  For HR Leadership</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22960" y="502920"/>
            <a:ext cx="457200" cy="457200"/>
          </a:xfrm>
          <a:prstGeom prst="ellipse">
            <a:avLst/>
          </a:prstGeom>
          <a:solidFill>
            <a:srgbClr val="AD8A57"/>
          </a:solidFill>
        </p:spPr>
      </p:sp>
      <p:sp>
        <p:nvSpPr>
          <p:cNvPr id="3" name="Text 1"/>
          <p:cNvSpPr/>
          <p:nvPr/>
        </p:nvSpPr>
        <p:spPr>
          <a:xfrm>
            <a:off x="822960" y="502920"/>
            <a:ext cx="457200" cy="457200"/>
          </a:xfrm>
          <a:prstGeom prst="rect">
            <a:avLst/>
          </a:prstGeom>
          <a:noFill/>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02</a:t>
            </a:r>
            <a:endParaRPr lang="en-US" sz="1600" dirty="0"/>
          </a:p>
        </p:txBody>
      </p:sp>
      <p:sp>
        <p:nvSpPr>
          <p:cNvPr id="4" name="Text 2"/>
          <p:cNvSpPr/>
          <p:nvPr/>
        </p:nvSpPr>
        <p:spPr>
          <a:xfrm>
            <a:off x="1463040" y="566928"/>
            <a:ext cx="8229600" cy="274320"/>
          </a:xfrm>
          <a:prstGeom prst="rect">
            <a:avLst/>
          </a:prstGeom>
          <a:noFill/>
        </p:spPr>
        <p:txBody>
          <a:bodyPr wrap="square" rtlCol="0" anchor="ctr"/>
          <a:lstStyle/>
          <a:p>
            <a:pPr marL="0" indent="0">
              <a:buNone/>
            </a:pPr>
            <a:r>
              <a:rPr lang="en-US" sz="1100" b="1" kern="0" spc="200" dirty="0">
                <a:solidFill>
                  <a:srgbClr val="AD8A57"/>
                </a:solidFill>
                <a:latin typeface="Calibri" pitchFamily="34" charset="0"/>
                <a:ea typeface="Calibri" pitchFamily="34" charset="-122"/>
                <a:cs typeface="Calibri" pitchFamily="34" charset="-120"/>
              </a:rPr>
              <a:t>SECTION 02 · THE PROBLEM</a:t>
            </a:r>
            <a:endParaRPr lang="en-US" sz="1100" dirty="0"/>
          </a:p>
        </p:txBody>
      </p:sp>
      <p:sp>
        <p:nvSpPr>
          <p:cNvPr id="5" name="Text 3"/>
          <p:cNvSpPr/>
          <p:nvPr/>
        </p:nvSpPr>
        <p:spPr>
          <a:xfrm>
            <a:off x="822960" y="1051560"/>
            <a:ext cx="10058400" cy="548640"/>
          </a:xfrm>
          <a:prstGeom prst="rect">
            <a:avLst/>
          </a:prstGeom>
          <a:noFill/>
        </p:spPr>
        <p:txBody>
          <a:bodyPr wrap="square" rtlCol="0" anchor="ctr"/>
          <a:lstStyle/>
          <a:p>
            <a:pPr marL="0" indent="0">
              <a:buNone/>
            </a:pPr>
            <a:r>
              <a:rPr lang="en-US" sz="2700" b="1" dirty="0">
                <a:solidFill>
                  <a:srgbClr val="1A1A1A"/>
                </a:solidFill>
                <a:latin typeface="Calibri" pitchFamily="34" charset="0"/>
                <a:ea typeface="Calibri" pitchFamily="34" charset="-122"/>
                <a:cs typeface="Calibri" pitchFamily="34" charset="-120"/>
              </a:rPr>
              <a:t>We Usually Find Out Too Late</a:t>
            </a:r>
            <a:endParaRPr lang="en-US" sz="2700" dirty="0"/>
          </a:p>
        </p:txBody>
      </p:sp>
      <p:sp>
        <p:nvSpPr>
          <p:cNvPr id="6" name="Text 4"/>
          <p:cNvSpPr/>
          <p:nvPr/>
        </p:nvSpPr>
        <p:spPr>
          <a:xfrm>
            <a:off x="822960" y="1645920"/>
            <a:ext cx="10332720" cy="457200"/>
          </a:xfrm>
          <a:prstGeom prst="rect">
            <a:avLst/>
          </a:prstGeom>
          <a:noFill/>
        </p:spPr>
        <p:txBody>
          <a:bodyPr wrap="square" rtlCol="0" anchor="ctr"/>
          <a:lstStyle/>
          <a:p>
            <a:pPr marL="0" indent="0">
              <a:buNone/>
            </a:pPr>
            <a:r>
              <a:rPr lang="en-US" sz="1400" dirty="0">
                <a:solidFill>
                  <a:srgbClr val="565A61"/>
                </a:solidFill>
                <a:latin typeface="Calibri" pitchFamily="34" charset="0"/>
                <a:ea typeface="Calibri" pitchFamily="34" charset="-122"/>
                <a:cs typeface="Calibri" pitchFamily="34" charset="-120"/>
              </a:rPr>
              <a:t>The 47 departures on the previous slide are the norm, not the exception: the clearest signal that someone was a flight risk usually arrives in the exit interview — the one moment it's too late to act on it.</a:t>
            </a:r>
            <a:endParaRPr lang="en-US" sz="1400" dirty="0"/>
          </a:p>
        </p:txBody>
      </p:sp>
      <p:sp>
        <p:nvSpPr>
          <p:cNvPr id="7" name="Shape 5"/>
          <p:cNvSpPr/>
          <p:nvPr/>
        </p:nvSpPr>
        <p:spPr>
          <a:xfrm>
            <a:off x="822960" y="2377440"/>
            <a:ext cx="5074920" cy="3291840"/>
          </a:xfrm>
          <a:prstGeom prst="roundRect">
            <a:avLst>
              <a:gd name="adj" fmla="val 2778"/>
            </a:avLst>
          </a:prstGeom>
          <a:solidFill>
            <a:srgbClr val="F2ECE0"/>
          </a:solidFill>
          <a:ln w="19050">
            <a:solidFill>
              <a:srgbClr val="AD8A57"/>
            </a:solidFill>
            <a:prstDash val="solid"/>
          </a:ln>
        </p:spPr>
      </p:sp>
      <p:sp>
        <p:nvSpPr>
          <p:cNvPr id="8" name="Text 6"/>
          <p:cNvSpPr/>
          <p:nvPr/>
        </p:nvSpPr>
        <p:spPr>
          <a:xfrm>
            <a:off x="1097280" y="2606040"/>
            <a:ext cx="4526280" cy="457200"/>
          </a:xfrm>
          <a:prstGeom prst="rect">
            <a:avLst/>
          </a:prstGeom>
          <a:noFill/>
        </p:spPr>
        <p:txBody>
          <a:bodyPr wrap="square" rtlCol="0" anchor="ctr"/>
          <a:lstStyle/>
          <a:p>
            <a:pPr marL="0" indent="0">
              <a:buNone/>
            </a:pPr>
            <a:r>
              <a:rPr lang="en-US" sz="1500" b="1" dirty="0">
                <a:solidFill>
                  <a:srgbClr val="AD8A57"/>
                </a:solidFill>
                <a:latin typeface="Calibri" pitchFamily="34" charset="0"/>
                <a:ea typeface="Calibri" pitchFamily="34" charset="-122"/>
                <a:cs typeface="Calibri" pitchFamily="34" charset="-120"/>
              </a:rPr>
              <a:t>The Cost of Finding Out Late</a:t>
            </a:r>
            <a:endParaRPr lang="en-US" sz="1500" dirty="0"/>
          </a:p>
        </p:txBody>
      </p:sp>
      <p:sp>
        <p:nvSpPr>
          <p:cNvPr id="9" name="Text 7"/>
          <p:cNvSpPr/>
          <p:nvPr/>
        </p:nvSpPr>
        <p:spPr>
          <a:xfrm>
            <a:off x="1097280" y="3200400"/>
            <a:ext cx="4526280" cy="2286000"/>
          </a:xfrm>
          <a:prstGeom prst="rect">
            <a:avLst/>
          </a:prstGeom>
          <a:noFill/>
        </p:spPr>
        <p:txBody>
          <a:bodyPr wrap="square" rtlCol="0" anchor="ctr"/>
          <a:lstStyle/>
          <a:p>
            <a:pPr marL="342900" indent="-342900">
              <a:spcAft>
                <a:spcPts val="1200"/>
              </a:spcAft>
              <a:buSzPct val="100000"/>
              <a:buChar char="•"/>
            </a:pPr>
            <a:r>
              <a:rPr lang="en-US" sz="1250" dirty="0">
                <a:solidFill>
                  <a:srgbClr val="565A61"/>
                </a:solidFill>
                <a:latin typeface="Calibri" pitchFamily="34" charset="0"/>
                <a:ea typeface="Calibri" pitchFamily="34" charset="-122"/>
                <a:cs typeface="Calibri" pitchFamily="34" charset="-120"/>
              </a:rPr>
              <a:t>Replacing an employee typically costs half to two times their annual salary (SHRM)</a:t>
            </a:r>
            <a:endParaRPr lang="en-US" sz="1250" dirty="0"/>
          </a:p>
          <a:p>
            <a:pPr marL="342900" indent="-342900">
              <a:spcAft>
                <a:spcPts val="1200"/>
              </a:spcAft>
              <a:buSzPct val="100000"/>
              <a:buChar char="•"/>
            </a:pPr>
            <a:r>
              <a:rPr lang="en-US" sz="1250" dirty="0">
                <a:solidFill>
                  <a:srgbClr val="565A61"/>
                </a:solidFill>
                <a:latin typeface="Calibri" pitchFamily="34" charset="0"/>
                <a:ea typeface="Calibri" pitchFamily="34" charset="-122"/>
                <a:cs typeface="Calibri" pitchFamily="34" charset="-120"/>
              </a:rPr>
              <a:t>By the time it shows up in a quarterly report, the decision to leave was already made</a:t>
            </a:r>
            <a:endParaRPr lang="en-US" sz="1250" dirty="0"/>
          </a:p>
          <a:p>
            <a:pPr marL="342900" indent="-342900">
              <a:buSzPct val="100000"/>
              <a:buChar char="•"/>
            </a:pPr>
            <a:r>
              <a:rPr lang="en-US" sz="1250" dirty="0">
                <a:solidFill>
                  <a:srgbClr val="565A61"/>
                </a:solidFill>
                <a:latin typeface="Calibri" pitchFamily="34" charset="0"/>
                <a:ea typeface="Calibri" pitchFamily="34" charset="-122"/>
                <a:cs typeface="Calibri" pitchFamily="34" charset="-120"/>
              </a:rPr>
              <a:t>HRBPs are working off instinct, not an early, data-backed signal</a:t>
            </a:r>
            <a:endParaRPr lang="en-US" sz="1250" dirty="0"/>
          </a:p>
        </p:txBody>
      </p:sp>
      <p:sp>
        <p:nvSpPr>
          <p:cNvPr id="10" name="Shape 8"/>
          <p:cNvSpPr/>
          <p:nvPr/>
        </p:nvSpPr>
        <p:spPr>
          <a:xfrm>
            <a:off x="6263640" y="2377440"/>
            <a:ext cx="5074920" cy="3291840"/>
          </a:xfrm>
          <a:prstGeom prst="roundRect">
            <a:avLst>
              <a:gd name="adj" fmla="val 2778"/>
            </a:avLst>
          </a:prstGeom>
          <a:solidFill>
            <a:srgbClr val="E7EDF1"/>
          </a:solidFill>
          <a:ln w="19050">
            <a:solidFill>
              <a:srgbClr val="3E6B8A"/>
            </a:solidFill>
            <a:prstDash val="solid"/>
          </a:ln>
        </p:spPr>
      </p:sp>
      <p:sp>
        <p:nvSpPr>
          <p:cNvPr id="11" name="Text 9"/>
          <p:cNvSpPr/>
          <p:nvPr/>
        </p:nvSpPr>
        <p:spPr>
          <a:xfrm>
            <a:off x="6537960" y="2606040"/>
            <a:ext cx="4526280" cy="457200"/>
          </a:xfrm>
          <a:prstGeom prst="rect">
            <a:avLst/>
          </a:prstGeom>
          <a:noFill/>
        </p:spPr>
        <p:txBody>
          <a:bodyPr wrap="square" rtlCol="0" anchor="ctr"/>
          <a:lstStyle/>
          <a:p>
            <a:pPr marL="0" indent="0">
              <a:buNone/>
            </a:pPr>
            <a:r>
              <a:rPr lang="en-US" sz="1500" b="1" dirty="0">
                <a:solidFill>
                  <a:srgbClr val="3E6B8A"/>
                </a:solidFill>
                <a:latin typeface="Calibri" pitchFamily="34" charset="0"/>
                <a:ea typeface="Calibri" pitchFamily="34" charset="-122"/>
                <a:cs typeface="Calibri" pitchFamily="34" charset="-120"/>
              </a:rPr>
              <a:t>The Opportunity</a:t>
            </a:r>
            <a:endParaRPr lang="en-US" sz="1500" dirty="0"/>
          </a:p>
        </p:txBody>
      </p:sp>
      <p:sp>
        <p:nvSpPr>
          <p:cNvPr id="12" name="Text 10"/>
          <p:cNvSpPr/>
          <p:nvPr/>
        </p:nvSpPr>
        <p:spPr>
          <a:xfrm>
            <a:off x="6537960" y="3200400"/>
            <a:ext cx="4526280" cy="2286000"/>
          </a:xfrm>
          <a:prstGeom prst="rect">
            <a:avLst/>
          </a:prstGeom>
          <a:noFill/>
        </p:spPr>
        <p:txBody>
          <a:bodyPr wrap="square" rtlCol="0" anchor="ctr"/>
          <a:lstStyle/>
          <a:p>
            <a:pPr marL="342900" indent="-342900">
              <a:spcAft>
                <a:spcPts val="1200"/>
              </a:spcAft>
              <a:buSzPct val="100000"/>
              <a:buChar char="•"/>
            </a:pPr>
            <a:r>
              <a:rPr lang="en-US" sz="1250" dirty="0">
                <a:solidFill>
                  <a:srgbClr val="565A61"/>
                </a:solidFill>
                <a:latin typeface="Calibri" pitchFamily="34" charset="0"/>
                <a:ea typeface="Calibri" pitchFamily="34" charset="-122"/>
                <a:cs typeface="Calibri" pitchFamily="34" charset="-120"/>
              </a:rPr>
              <a:t>HR already holds the information needed to see risk coming — it's just not connected</a:t>
            </a:r>
            <a:endParaRPr lang="en-US" sz="1250" dirty="0"/>
          </a:p>
          <a:p>
            <a:pPr marL="342900" indent="-342900">
              <a:spcAft>
                <a:spcPts val="1200"/>
              </a:spcAft>
              <a:buSzPct val="100000"/>
              <a:buChar char="•"/>
            </a:pPr>
            <a:r>
              <a:rPr lang="en-US" sz="1250" dirty="0">
                <a:solidFill>
                  <a:srgbClr val="565A61"/>
                </a:solidFill>
                <a:latin typeface="Calibri" pitchFamily="34" charset="0"/>
                <a:ea typeface="Calibri" pitchFamily="34" charset="-122"/>
                <a:cs typeface="Calibri" pitchFamily="34" charset="-120"/>
              </a:rPr>
              <a:t>An early signal, even an imperfect one, turns an exit interview into a retention conversation</a:t>
            </a:r>
            <a:endParaRPr lang="en-US" sz="1250" dirty="0"/>
          </a:p>
          <a:p>
            <a:pPr marL="342900" indent="-342900">
              <a:buSzPct val="100000"/>
              <a:buChar char="•"/>
            </a:pPr>
            <a:r>
              <a:rPr lang="en-US" sz="1250" dirty="0">
                <a:solidFill>
                  <a:srgbClr val="565A61"/>
                </a:solidFill>
                <a:latin typeface="Calibri" pitchFamily="34" charset="0"/>
                <a:ea typeface="Calibri" pitchFamily="34" charset="-122"/>
                <a:cs typeface="Calibri" pitchFamily="34" charset="-120"/>
              </a:rPr>
              <a:t>The question this deck answers: can a simple tool actually do this, honestly?</a:t>
            </a:r>
            <a:endParaRPr lang="en-US" sz="1250" dirty="0"/>
          </a:p>
        </p:txBody>
      </p:sp>
      <p:sp>
        <p:nvSpPr>
          <p:cNvPr id="13" name="Text 11"/>
          <p:cNvSpPr/>
          <p:nvPr/>
        </p:nvSpPr>
        <p:spPr>
          <a:xfrm>
            <a:off x="822960" y="5806440"/>
            <a:ext cx="9144000" cy="274320"/>
          </a:xfrm>
          <a:prstGeom prst="rect">
            <a:avLst/>
          </a:prstGeom>
          <a:noFill/>
        </p:spPr>
        <p:txBody>
          <a:bodyPr wrap="square" rtlCol="0" anchor="ctr"/>
          <a:lstStyle/>
          <a:p>
            <a:pPr marL="0" indent="0">
              <a:buNone/>
            </a:pPr>
            <a:r>
              <a:rPr lang="en-US" sz="1000" i="1" dirty="0">
                <a:solidFill>
                  <a:srgbClr val="8B8F94"/>
                </a:solidFill>
                <a:latin typeface="Calibri" pitchFamily="34" charset="0"/>
                <a:ea typeface="Calibri" pitchFamily="34" charset="-122"/>
                <a:cs typeface="Calibri" pitchFamily="34" charset="-120"/>
              </a:rPr>
              <a:t>Source: SHRM, cost-to-replace-an-employee benchmark.</a:t>
            </a:r>
            <a:endParaRPr lang="en-US" sz="1000" dirty="0"/>
          </a:p>
        </p:txBody>
      </p:sp>
      <p:sp>
        <p:nvSpPr>
          <p:cNvPr id="14" name="Text 12"/>
          <p:cNvSpPr/>
          <p:nvPr/>
        </p:nvSpPr>
        <p:spPr>
          <a:xfrm>
            <a:off x="457200" y="6473952"/>
            <a:ext cx="7315200" cy="274320"/>
          </a:xfrm>
          <a:prstGeom prst="rect">
            <a:avLst/>
          </a:prstGeom>
          <a:noFill/>
        </p:spPr>
        <p:txBody>
          <a:bodyPr wrap="square" rtlCol="0" anchor="ctr"/>
          <a:lstStyle/>
          <a:p>
            <a:pPr marL="0" indent="0">
              <a:buNone/>
            </a:pPr>
            <a:r>
              <a:rPr lang="en-US" sz="900" dirty="0">
                <a:solidFill>
                  <a:srgbClr val="8B8F94"/>
                </a:solidFill>
                <a:latin typeface="Calibri" pitchFamily="34" charset="0"/>
                <a:ea typeface="Calibri" pitchFamily="34" charset="-122"/>
                <a:cs typeface="Calibri" pitchFamily="34" charset="-120"/>
              </a:rPr>
              <a:t>Employee Flight-Risk Signal  ·  For HR Leadership</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22960" y="502920"/>
            <a:ext cx="457200" cy="457200"/>
          </a:xfrm>
          <a:prstGeom prst="ellipse">
            <a:avLst/>
          </a:prstGeom>
          <a:solidFill>
            <a:srgbClr val="3E6B8A"/>
          </a:solidFill>
        </p:spPr>
      </p:sp>
      <p:sp>
        <p:nvSpPr>
          <p:cNvPr id="3" name="Text 1"/>
          <p:cNvSpPr/>
          <p:nvPr/>
        </p:nvSpPr>
        <p:spPr>
          <a:xfrm>
            <a:off x="822960" y="502920"/>
            <a:ext cx="457200" cy="457200"/>
          </a:xfrm>
          <a:prstGeom prst="rect">
            <a:avLst/>
          </a:prstGeom>
          <a:noFill/>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03</a:t>
            </a:r>
            <a:endParaRPr lang="en-US" sz="1600" dirty="0"/>
          </a:p>
        </p:txBody>
      </p:sp>
      <p:sp>
        <p:nvSpPr>
          <p:cNvPr id="4" name="Text 2"/>
          <p:cNvSpPr/>
          <p:nvPr/>
        </p:nvSpPr>
        <p:spPr>
          <a:xfrm>
            <a:off x="1463040" y="566928"/>
            <a:ext cx="8229600" cy="274320"/>
          </a:xfrm>
          <a:prstGeom prst="rect">
            <a:avLst/>
          </a:prstGeom>
          <a:noFill/>
        </p:spPr>
        <p:txBody>
          <a:bodyPr wrap="square" rtlCol="0" anchor="ctr"/>
          <a:lstStyle/>
          <a:p>
            <a:pPr marL="0" indent="0">
              <a:buNone/>
            </a:pPr>
            <a:r>
              <a:rPr lang="en-US" sz="1100" b="1" kern="0" spc="200" dirty="0">
                <a:solidFill>
                  <a:srgbClr val="3E6B8A"/>
                </a:solidFill>
                <a:latin typeface="Calibri" pitchFamily="34" charset="0"/>
                <a:ea typeface="Calibri" pitchFamily="34" charset="-122"/>
                <a:cs typeface="Calibri" pitchFamily="34" charset="-120"/>
              </a:rPr>
              <a:t>SECTION 03 · HOW IT WORKS</a:t>
            </a:r>
            <a:endParaRPr lang="en-US" sz="1100" dirty="0"/>
          </a:p>
        </p:txBody>
      </p:sp>
      <p:sp>
        <p:nvSpPr>
          <p:cNvPr id="5" name="Text 3"/>
          <p:cNvSpPr/>
          <p:nvPr/>
        </p:nvSpPr>
        <p:spPr>
          <a:xfrm>
            <a:off x="822960" y="1051560"/>
            <a:ext cx="10058400" cy="548640"/>
          </a:xfrm>
          <a:prstGeom prst="rect">
            <a:avLst/>
          </a:prstGeom>
          <a:noFill/>
        </p:spPr>
        <p:txBody>
          <a:bodyPr wrap="square" rtlCol="0" anchor="ctr"/>
          <a:lstStyle/>
          <a:p>
            <a:pPr marL="0" indent="0">
              <a:buNone/>
            </a:pPr>
            <a:r>
              <a:rPr lang="en-US" sz="2700" b="1" dirty="0">
                <a:solidFill>
                  <a:srgbClr val="1A1A1A"/>
                </a:solidFill>
                <a:latin typeface="Calibri" pitchFamily="34" charset="0"/>
                <a:ea typeface="Calibri" pitchFamily="34" charset="-122"/>
                <a:cs typeface="Calibri" pitchFamily="34" charset="-120"/>
              </a:rPr>
              <a:t>A Plain-Language Early-Warning Signal</a:t>
            </a:r>
            <a:endParaRPr lang="en-US" sz="2700" dirty="0"/>
          </a:p>
        </p:txBody>
      </p:sp>
      <p:sp>
        <p:nvSpPr>
          <p:cNvPr id="6" name="Text 4"/>
          <p:cNvSpPr/>
          <p:nvPr/>
        </p:nvSpPr>
        <p:spPr>
          <a:xfrm>
            <a:off x="822960" y="1627632"/>
            <a:ext cx="10332720" cy="365760"/>
          </a:xfrm>
          <a:prstGeom prst="rect">
            <a:avLst/>
          </a:prstGeom>
          <a:noFill/>
        </p:spPr>
        <p:txBody>
          <a:bodyPr wrap="square" rtlCol="0" anchor="ctr"/>
          <a:lstStyle/>
          <a:p>
            <a:pPr marL="0" indent="0">
              <a:buNone/>
            </a:pPr>
            <a:r>
              <a:rPr lang="en-US" sz="1350" dirty="0">
                <a:solidFill>
                  <a:srgbClr val="565A61"/>
                </a:solidFill>
                <a:latin typeface="Calibri" pitchFamily="34" charset="0"/>
                <a:ea typeface="Calibri" pitchFamily="34" charset="-122"/>
                <a:cs typeface="Calibri" pitchFamily="34" charset="-120"/>
              </a:rPr>
              <a:t>No new systems, no new data collection — just a different way of looking at information HR already has.</a:t>
            </a:r>
            <a:endParaRPr lang="en-US" sz="1350" dirty="0"/>
          </a:p>
        </p:txBody>
      </p:sp>
      <p:sp>
        <p:nvSpPr>
          <p:cNvPr id="7" name="Shape 5"/>
          <p:cNvSpPr/>
          <p:nvPr/>
        </p:nvSpPr>
        <p:spPr>
          <a:xfrm>
            <a:off x="822960" y="2286000"/>
            <a:ext cx="3291840" cy="3017520"/>
          </a:xfrm>
          <a:prstGeom prst="roundRect">
            <a:avLst>
              <a:gd name="adj" fmla="val 3030"/>
            </a:avLst>
          </a:prstGeom>
          <a:solidFill>
            <a:srgbClr val="FAFAFC"/>
          </a:solidFill>
          <a:ln w="12700">
            <a:solidFill>
              <a:srgbClr val="E3E5E8"/>
            </a:solidFill>
            <a:prstDash val="solid"/>
          </a:ln>
        </p:spPr>
      </p:sp>
      <p:sp>
        <p:nvSpPr>
          <p:cNvPr id="8" name="Shape 6"/>
          <p:cNvSpPr/>
          <p:nvPr/>
        </p:nvSpPr>
        <p:spPr>
          <a:xfrm>
            <a:off x="1097280" y="2560320"/>
            <a:ext cx="457200" cy="457200"/>
          </a:xfrm>
          <a:prstGeom prst="ellipse">
            <a:avLst/>
          </a:prstGeom>
          <a:solidFill>
            <a:srgbClr val="3E6B8A"/>
          </a:solidFill>
        </p:spPr>
      </p:sp>
      <p:sp>
        <p:nvSpPr>
          <p:cNvPr id="9" name="Text 7"/>
          <p:cNvSpPr/>
          <p:nvPr/>
        </p:nvSpPr>
        <p:spPr>
          <a:xfrm>
            <a:off x="1097280" y="2560320"/>
            <a:ext cx="457200" cy="457200"/>
          </a:xfrm>
          <a:prstGeom prst="rect">
            <a:avLst/>
          </a:prstGeom>
          <a:noFill/>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10" name="Text 8"/>
          <p:cNvSpPr/>
          <p:nvPr/>
        </p:nvSpPr>
        <p:spPr>
          <a:xfrm>
            <a:off x="1097280" y="3200400"/>
            <a:ext cx="2743200" cy="365760"/>
          </a:xfrm>
          <a:prstGeom prst="rect">
            <a:avLst/>
          </a:prstGeom>
          <a:noFill/>
        </p:spPr>
        <p:txBody>
          <a:bodyPr wrap="square" rtlCol="0" anchor="ctr"/>
          <a:lstStyle/>
          <a:p>
            <a:pPr marL="0" indent="0">
              <a:buNone/>
            </a:pPr>
            <a:r>
              <a:rPr lang="en-US" sz="1500" b="1" dirty="0">
                <a:solidFill>
                  <a:srgbClr val="1A1A1A"/>
                </a:solidFill>
                <a:latin typeface="Calibri" pitchFamily="34" charset="0"/>
                <a:ea typeface="Calibri" pitchFamily="34" charset="-122"/>
                <a:cs typeface="Calibri" pitchFamily="34" charset="-120"/>
              </a:rPr>
              <a:t>Look at the past</a:t>
            </a:r>
            <a:endParaRPr lang="en-US" sz="1500" dirty="0"/>
          </a:p>
        </p:txBody>
      </p:sp>
      <p:sp>
        <p:nvSpPr>
          <p:cNvPr id="11" name="Text 9"/>
          <p:cNvSpPr/>
          <p:nvPr/>
        </p:nvSpPr>
        <p:spPr>
          <a:xfrm>
            <a:off x="1097280" y="3611880"/>
            <a:ext cx="2743200" cy="1554480"/>
          </a:xfrm>
          <a:prstGeom prst="rect">
            <a:avLst/>
          </a:prstGeom>
          <a:noFill/>
        </p:spPr>
        <p:txBody>
          <a:bodyPr wrap="square" rtlCol="0" anchor="ctr"/>
          <a:lstStyle/>
          <a:p>
            <a:pPr marL="0" indent="0">
              <a:buNone/>
            </a:pPr>
            <a:r>
              <a:rPr lang="en-US" sz="1200" dirty="0">
                <a:solidFill>
                  <a:srgbClr val="565A61"/>
                </a:solidFill>
                <a:latin typeface="Calibri" pitchFamily="34" charset="0"/>
                <a:ea typeface="Calibri" pitchFamily="34" charset="-122"/>
                <a:cs typeface="Calibri" pitchFamily="34" charset="-120"/>
              </a:rPr>
              <a:t>We looked at employee records — income, tenure, overtime, time with their current manager — for people who stayed and people who left.</a:t>
            </a:r>
            <a:endParaRPr lang="en-US" sz="1200" dirty="0"/>
          </a:p>
        </p:txBody>
      </p:sp>
      <p:sp>
        <p:nvSpPr>
          <p:cNvPr id="12" name="Shape 10"/>
          <p:cNvSpPr/>
          <p:nvPr/>
        </p:nvSpPr>
        <p:spPr>
          <a:xfrm>
            <a:off x="4297680" y="2286000"/>
            <a:ext cx="3291840" cy="3017520"/>
          </a:xfrm>
          <a:prstGeom prst="roundRect">
            <a:avLst>
              <a:gd name="adj" fmla="val 3030"/>
            </a:avLst>
          </a:prstGeom>
          <a:solidFill>
            <a:srgbClr val="FAFAFC"/>
          </a:solidFill>
          <a:ln w="12700">
            <a:solidFill>
              <a:srgbClr val="E3E5E8"/>
            </a:solidFill>
            <a:prstDash val="solid"/>
          </a:ln>
        </p:spPr>
      </p:sp>
      <p:sp>
        <p:nvSpPr>
          <p:cNvPr id="13" name="Shape 11"/>
          <p:cNvSpPr/>
          <p:nvPr/>
        </p:nvSpPr>
        <p:spPr>
          <a:xfrm>
            <a:off x="4572000" y="2560320"/>
            <a:ext cx="457200" cy="457200"/>
          </a:xfrm>
          <a:prstGeom prst="ellipse">
            <a:avLst/>
          </a:prstGeom>
          <a:solidFill>
            <a:srgbClr val="3E6B8A"/>
          </a:solidFill>
        </p:spPr>
      </p:sp>
      <p:sp>
        <p:nvSpPr>
          <p:cNvPr id="14" name="Text 12"/>
          <p:cNvSpPr/>
          <p:nvPr/>
        </p:nvSpPr>
        <p:spPr>
          <a:xfrm>
            <a:off x="4572000" y="2560320"/>
            <a:ext cx="457200" cy="457200"/>
          </a:xfrm>
          <a:prstGeom prst="rect">
            <a:avLst/>
          </a:prstGeom>
          <a:noFill/>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5" name="Text 13"/>
          <p:cNvSpPr/>
          <p:nvPr/>
        </p:nvSpPr>
        <p:spPr>
          <a:xfrm>
            <a:off x="4572000" y="3200400"/>
            <a:ext cx="2743200" cy="365760"/>
          </a:xfrm>
          <a:prstGeom prst="rect">
            <a:avLst/>
          </a:prstGeom>
          <a:noFill/>
        </p:spPr>
        <p:txBody>
          <a:bodyPr wrap="square" rtlCol="0" anchor="ctr"/>
          <a:lstStyle/>
          <a:p>
            <a:pPr marL="0" indent="0">
              <a:buNone/>
            </a:pPr>
            <a:r>
              <a:rPr lang="en-US" sz="1500" b="1" dirty="0">
                <a:solidFill>
                  <a:srgbClr val="1A1A1A"/>
                </a:solidFill>
                <a:latin typeface="Calibri" pitchFamily="34" charset="0"/>
                <a:ea typeface="Calibri" pitchFamily="34" charset="-122"/>
                <a:cs typeface="Calibri" pitchFamily="34" charset="-120"/>
              </a:rPr>
              <a:t>Find the pattern</a:t>
            </a:r>
            <a:endParaRPr lang="en-US" sz="1500" dirty="0"/>
          </a:p>
        </p:txBody>
      </p:sp>
      <p:sp>
        <p:nvSpPr>
          <p:cNvPr id="16" name="Text 14"/>
          <p:cNvSpPr/>
          <p:nvPr/>
        </p:nvSpPr>
        <p:spPr>
          <a:xfrm>
            <a:off x="4572000" y="3611880"/>
            <a:ext cx="2743200" cy="1554480"/>
          </a:xfrm>
          <a:prstGeom prst="rect">
            <a:avLst/>
          </a:prstGeom>
          <a:noFill/>
        </p:spPr>
        <p:txBody>
          <a:bodyPr wrap="square" rtlCol="0" anchor="ctr"/>
          <a:lstStyle/>
          <a:p>
            <a:pPr marL="0" indent="0">
              <a:buNone/>
            </a:pPr>
            <a:r>
              <a:rPr lang="en-US" sz="1200" dirty="0">
                <a:solidFill>
                  <a:srgbClr val="565A61"/>
                </a:solidFill>
                <a:latin typeface="Calibri" pitchFamily="34" charset="0"/>
                <a:ea typeface="Calibri" pitchFamily="34" charset="-122"/>
                <a:cs typeface="Calibri" pitchFamily="34" charset="-120"/>
              </a:rPr>
              <a:t>The tool learns what past leavers tended to have in common, without anyone hand-writing the rules.</a:t>
            </a:r>
            <a:endParaRPr lang="en-US" sz="1200" dirty="0"/>
          </a:p>
        </p:txBody>
      </p:sp>
      <p:sp>
        <p:nvSpPr>
          <p:cNvPr id="17" name="Shape 15"/>
          <p:cNvSpPr/>
          <p:nvPr/>
        </p:nvSpPr>
        <p:spPr>
          <a:xfrm>
            <a:off x="7772400" y="2286000"/>
            <a:ext cx="3291840" cy="3017520"/>
          </a:xfrm>
          <a:prstGeom prst="roundRect">
            <a:avLst>
              <a:gd name="adj" fmla="val 3030"/>
            </a:avLst>
          </a:prstGeom>
          <a:solidFill>
            <a:srgbClr val="FAFAFC"/>
          </a:solidFill>
          <a:ln w="12700">
            <a:solidFill>
              <a:srgbClr val="E3E5E8"/>
            </a:solidFill>
            <a:prstDash val="solid"/>
          </a:ln>
        </p:spPr>
      </p:sp>
      <p:sp>
        <p:nvSpPr>
          <p:cNvPr id="18" name="Shape 16"/>
          <p:cNvSpPr/>
          <p:nvPr/>
        </p:nvSpPr>
        <p:spPr>
          <a:xfrm>
            <a:off x="8046720" y="2560320"/>
            <a:ext cx="457200" cy="457200"/>
          </a:xfrm>
          <a:prstGeom prst="ellipse">
            <a:avLst/>
          </a:prstGeom>
          <a:solidFill>
            <a:srgbClr val="3E6B8A"/>
          </a:solidFill>
        </p:spPr>
      </p:sp>
      <p:sp>
        <p:nvSpPr>
          <p:cNvPr id="19" name="Text 17"/>
          <p:cNvSpPr/>
          <p:nvPr/>
        </p:nvSpPr>
        <p:spPr>
          <a:xfrm>
            <a:off x="8046720" y="2560320"/>
            <a:ext cx="457200" cy="457200"/>
          </a:xfrm>
          <a:prstGeom prst="rect">
            <a:avLst/>
          </a:prstGeom>
          <a:noFill/>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0" name="Text 18"/>
          <p:cNvSpPr/>
          <p:nvPr/>
        </p:nvSpPr>
        <p:spPr>
          <a:xfrm>
            <a:off x="8046720" y="3200400"/>
            <a:ext cx="2743200" cy="365760"/>
          </a:xfrm>
          <a:prstGeom prst="rect">
            <a:avLst/>
          </a:prstGeom>
          <a:noFill/>
        </p:spPr>
        <p:txBody>
          <a:bodyPr wrap="square" rtlCol="0" anchor="ctr"/>
          <a:lstStyle/>
          <a:p>
            <a:pPr marL="0" indent="0">
              <a:buNone/>
            </a:pPr>
            <a:r>
              <a:rPr lang="en-US" sz="1500" b="1" dirty="0">
                <a:solidFill>
                  <a:srgbClr val="1A1A1A"/>
                </a:solidFill>
                <a:latin typeface="Calibri" pitchFamily="34" charset="0"/>
                <a:ea typeface="Calibri" pitchFamily="34" charset="-122"/>
                <a:cs typeface="Calibri" pitchFamily="34" charset="-120"/>
              </a:rPr>
              <a:t>Flag today's employees</a:t>
            </a:r>
            <a:endParaRPr lang="en-US" sz="1500" dirty="0"/>
          </a:p>
        </p:txBody>
      </p:sp>
      <p:sp>
        <p:nvSpPr>
          <p:cNvPr id="21" name="Text 19"/>
          <p:cNvSpPr/>
          <p:nvPr/>
        </p:nvSpPr>
        <p:spPr>
          <a:xfrm>
            <a:off x="8046720" y="3611880"/>
            <a:ext cx="2743200" cy="1554480"/>
          </a:xfrm>
          <a:prstGeom prst="rect">
            <a:avLst/>
          </a:prstGeom>
          <a:noFill/>
        </p:spPr>
        <p:txBody>
          <a:bodyPr wrap="square" rtlCol="0" anchor="ctr"/>
          <a:lstStyle/>
          <a:p>
            <a:pPr marL="0" indent="0">
              <a:buNone/>
            </a:pPr>
            <a:r>
              <a:rPr lang="en-US" sz="1200" dirty="0">
                <a:solidFill>
                  <a:srgbClr val="565A61"/>
                </a:solidFill>
                <a:latin typeface="Calibri" pitchFamily="34" charset="0"/>
                <a:ea typeface="Calibri" pitchFamily="34" charset="-122"/>
                <a:cs typeface="Calibri" pitchFamily="34" charset="-120"/>
              </a:rPr>
              <a:t>It compares today's employees to those patterns and flags the ones who look similar to people who left before — this is how we got the numbers on the opening slide.</a:t>
            </a:r>
            <a:endParaRPr lang="en-US" sz="1200" dirty="0"/>
          </a:p>
        </p:txBody>
      </p:sp>
      <p:sp>
        <p:nvSpPr>
          <p:cNvPr id="22" name="Text 20"/>
          <p:cNvSpPr/>
          <p:nvPr/>
        </p:nvSpPr>
        <p:spPr>
          <a:xfrm>
            <a:off x="822960" y="5532120"/>
            <a:ext cx="10332720" cy="457200"/>
          </a:xfrm>
          <a:prstGeom prst="rect">
            <a:avLst/>
          </a:prstGeom>
          <a:noFill/>
        </p:spPr>
        <p:txBody>
          <a:bodyPr wrap="square" rtlCol="0" anchor="ctr"/>
          <a:lstStyle/>
          <a:p>
            <a:pPr marL="0" indent="0">
              <a:buNone/>
            </a:pPr>
            <a:r>
              <a:rPr lang="en-US" sz="1150" i="1" dirty="0">
                <a:solidFill>
                  <a:srgbClr val="8B8F94"/>
                </a:solidFill>
                <a:latin typeface="Calibri" pitchFamily="34" charset="0"/>
                <a:ea typeface="Calibri" pitchFamily="34" charset="-122"/>
                <a:cs typeface="Calibri" pitchFamily="34" charset="-120"/>
              </a:rPr>
              <a:t>This was a proof of concept on a public HR research dataset, ahead of trying it on our own workforce data.</a:t>
            </a:r>
            <a:endParaRPr lang="en-US" sz="1150" dirty="0"/>
          </a:p>
        </p:txBody>
      </p:sp>
      <p:sp>
        <p:nvSpPr>
          <p:cNvPr id="23" name="Text 21"/>
          <p:cNvSpPr/>
          <p:nvPr/>
        </p:nvSpPr>
        <p:spPr>
          <a:xfrm>
            <a:off x="457200" y="6473952"/>
            <a:ext cx="7315200" cy="274320"/>
          </a:xfrm>
          <a:prstGeom prst="rect">
            <a:avLst/>
          </a:prstGeom>
          <a:noFill/>
        </p:spPr>
        <p:txBody>
          <a:bodyPr wrap="square" rtlCol="0" anchor="ctr"/>
          <a:lstStyle/>
          <a:p>
            <a:pPr marL="0" indent="0">
              <a:buNone/>
            </a:pPr>
            <a:r>
              <a:rPr lang="en-US" sz="900" dirty="0">
                <a:solidFill>
                  <a:srgbClr val="8B8F94"/>
                </a:solidFill>
                <a:latin typeface="Calibri" pitchFamily="34" charset="0"/>
                <a:ea typeface="Calibri" pitchFamily="34" charset="-122"/>
                <a:cs typeface="Calibri" pitchFamily="34" charset="-120"/>
              </a:rPr>
              <a:t>Employee Flight-Risk Signal  ·  For HR Leadership</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22960" y="502920"/>
            <a:ext cx="457200" cy="457200"/>
          </a:xfrm>
          <a:prstGeom prst="ellipse">
            <a:avLst/>
          </a:prstGeom>
          <a:solidFill>
            <a:srgbClr val="AD8A57"/>
          </a:solidFill>
        </p:spPr>
      </p:sp>
      <p:sp>
        <p:nvSpPr>
          <p:cNvPr id="3" name="Text 1"/>
          <p:cNvSpPr/>
          <p:nvPr/>
        </p:nvSpPr>
        <p:spPr>
          <a:xfrm>
            <a:off x="822960" y="502920"/>
            <a:ext cx="457200" cy="457200"/>
          </a:xfrm>
          <a:prstGeom prst="rect">
            <a:avLst/>
          </a:prstGeom>
          <a:noFill/>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03</a:t>
            </a:r>
            <a:endParaRPr lang="en-US" sz="1600" dirty="0"/>
          </a:p>
        </p:txBody>
      </p:sp>
      <p:sp>
        <p:nvSpPr>
          <p:cNvPr id="4" name="Text 2"/>
          <p:cNvSpPr/>
          <p:nvPr/>
        </p:nvSpPr>
        <p:spPr>
          <a:xfrm>
            <a:off x="1463040" y="566928"/>
            <a:ext cx="8229600" cy="274320"/>
          </a:xfrm>
          <a:prstGeom prst="rect">
            <a:avLst/>
          </a:prstGeom>
          <a:noFill/>
        </p:spPr>
        <p:txBody>
          <a:bodyPr wrap="square" rtlCol="0" anchor="ctr"/>
          <a:lstStyle/>
          <a:p>
            <a:pPr marL="0" indent="0">
              <a:buNone/>
            </a:pPr>
            <a:r>
              <a:rPr lang="en-US" sz="1100" b="1" kern="0" spc="200" dirty="0">
                <a:solidFill>
                  <a:srgbClr val="AD8A57"/>
                </a:solidFill>
                <a:latin typeface="Calibri" pitchFamily="34" charset="0"/>
                <a:ea typeface="Calibri" pitchFamily="34" charset="-122"/>
                <a:cs typeface="Calibri" pitchFamily="34" charset="-120"/>
              </a:rPr>
              <a:t>SECTION 03 · HOW IT WORKS</a:t>
            </a:r>
            <a:endParaRPr lang="en-US" sz="1100" dirty="0"/>
          </a:p>
        </p:txBody>
      </p:sp>
      <p:sp>
        <p:nvSpPr>
          <p:cNvPr id="5" name="Text 3"/>
          <p:cNvSpPr/>
          <p:nvPr/>
        </p:nvSpPr>
        <p:spPr>
          <a:xfrm>
            <a:off x="822960" y="1051560"/>
            <a:ext cx="10241280" cy="548640"/>
          </a:xfrm>
          <a:prstGeom prst="rect">
            <a:avLst/>
          </a:prstGeom>
          <a:noFill/>
        </p:spPr>
        <p:txBody>
          <a:bodyPr wrap="square" rtlCol="0" anchor="ctr"/>
          <a:lstStyle/>
          <a:p>
            <a:pPr marL="0" indent="0">
              <a:buNone/>
            </a:pPr>
            <a:r>
              <a:rPr lang="en-US" sz="2600" b="1" dirty="0">
                <a:solidFill>
                  <a:srgbClr val="1A1A1A"/>
                </a:solidFill>
                <a:latin typeface="Calibri" pitchFamily="34" charset="0"/>
                <a:ea typeface="Calibri" pitchFamily="34" charset="-122"/>
                <a:cs typeface="Calibri" pitchFamily="34" charset="-120"/>
              </a:rPr>
              <a:t>How Good Is the Signal, Really?</a:t>
            </a:r>
            <a:endParaRPr lang="en-US" sz="2600" dirty="0"/>
          </a:p>
        </p:txBody>
      </p:sp>
      <p:sp>
        <p:nvSpPr>
          <p:cNvPr id="6" name="Text 4"/>
          <p:cNvSpPr/>
          <p:nvPr/>
        </p:nvSpPr>
        <p:spPr>
          <a:xfrm>
            <a:off x="822960" y="1627632"/>
            <a:ext cx="10332720" cy="457200"/>
          </a:xfrm>
          <a:prstGeom prst="rect">
            <a:avLst/>
          </a:prstGeom>
          <a:noFill/>
        </p:spPr>
        <p:txBody>
          <a:bodyPr wrap="square" rtlCol="0" anchor="ctr"/>
          <a:lstStyle/>
          <a:p>
            <a:pPr marL="0" indent="0">
              <a:buNone/>
            </a:pPr>
            <a:r>
              <a:rPr lang="en-US" sz="1350" dirty="0">
                <a:solidFill>
                  <a:srgbClr val="565A61"/>
                </a:solidFill>
                <a:latin typeface="Calibri" pitchFamily="34" charset="0"/>
                <a:ea typeface="Calibri" pitchFamily="34" charset="-122"/>
                <a:cs typeface="Calibri" pitchFamily="34" charset="-120"/>
              </a:rPr>
              <a:t>A smoke detector that never goes off is “right” almost every day — and useless. The same trap applies here.</a:t>
            </a:r>
            <a:endParaRPr lang="en-US" sz="1350" dirty="0"/>
          </a:p>
        </p:txBody>
      </p:sp>
      <p:graphicFrame>
        <p:nvGraphicFramePr>
          <p:cNvPr id="7" name="Chart 0"/>
          <p:cNvGraphicFramePr/>
          <p:nvPr/>
        </p:nvGraphicFramePr>
        <p:xfrm>
          <a:off x="1280160" y="2331720"/>
          <a:ext cx="5852160" cy="3566160"/>
        </p:xfrm>
        <a:graphic>
          <a:graphicData uri="http://schemas.openxmlformats.org/drawingml/2006/chart">
            <c:chart xmlns:c="http://schemas.openxmlformats.org/drawingml/2006/chart" xmlns:r="http://schemas.openxmlformats.org/officeDocument/2006/relationships" r:id="rId1"/>
          </a:graphicData>
        </a:graphic>
      </p:graphicFrame>
      <p:sp>
        <p:nvSpPr>
          <p:cNvPr id="8" name="Text 5"/>
          <p:cNvSpPr/>
          <p:nvPr/>
        </p:nvSpPr>
        <p:spPr>
          <a:xfrm>
            <a:off x="7498080" y="2423160"/>
            <a:ext cx="3749040" cy="320040"/>
          </a:xfrm>
          <a:prstGeom prst="rect">
            <a:avLst/>
          </a:prstGeom>
          <a:noFill/>
        </p:spPr>
        <p:txBody>
          <a:bodyPr wrap="square" rtlCol="0" anchor="ctr"/>
          <a:lstStyle/>
          <a:p>
            <a:pPr marL="0" indent="0">
              <a:buNone/>
            </a:pPr>
            <a:r>
              <a:rPr lang="en-US" sz="1400" b="1" dirty="0">
                <a:solidFill>
                  <a:srgbClr val="1A1A1A"/>
                </a:solidFill>
                <a:latin typeface="Calibri" pitchFamily="34" charset="0"/>
                <a:ea typeface="Calibri" pitchFamily="34" charset="-122"/>
                <a:cs typeface="Calibri" pitchFamily="34" charset="-120"/>
              </a:rPr>
              <a:t>What this means</a:t>
            </a:r>
            <a:endParaRPr lang="en-US" sz="1400" dirty="0"/>
          </a:p>
        </p:txBody>
      </p:sp>
      <p:sp>
        <p:nvSpPr>
          <p:cNvPr id="9" name="Text 6"/>
          <p:cNvSpPr/>
          <p:nvPr/>
        </p:nvSpPr>
        <p:spPr>
          <a:xfrm>
            <a:off x="7498080" y="2834640"/>
            <a:ext cx="3749040" cy="2834640"/>
          </a:xfrm>
          <a:prstGeom prst="rect">
            <a:avLst/>
          </a:prstGeom>
          <a:noFill/>
        </p:spPr>
        <p:txBody>
          <a:bodyPr wrap="square" rtlCol="0" anchor="ctr"/>
          <a:lstStyle/>
          <a:p>
            <a:pPr marL="342900" indent="-342900">
              <a:spcAft>
                <a:spcPts val="1200"/>
              </a:spcAft>
              <a:buSzPct val="100000"/>
              <a:buChar char="•"/>
            </a:pPr>
            <a:r>
              <a:rPr lang="en-US" sz="1150" dirty="0">
                <a:solidFill>
                  <a:srgbClr val="565A61"/>
                </a:solidFill>
                <a:latin typeface="Calibri" pitchFamily="34" charset="0"/>
                <a:ea typeface="Calibri" pitchFamily="34" charset="-122"/>
                <a:cs typeface="Calibri" pitchFamily="34" charset="-120"/>
              </a:rPr>
              <a:t>Doing nothing “looks fine” 84% of the time, because most employees stay anyway — but it warns you about nobody.</a:t>
            </a:r>
            <a:endParaRPr lang="en-US" sz="1150" dirty="0"/>
          </a:p>
          <a:p>
            <a:pPr marL="342900" indent="-342900">
              <a:spcAft>
                <a:spcPts val="1200"/>
              </a:spcAft>
              <a:buSzPct val="100000"/>
              <a:buChar char="•"/>
            </a:pPr>
            <a:r>
              <a:rPr lang="en-US" sz="1150" dirty="0">
                <a:solidFill>
                  <a:srgbClr val="565A61"/>
                </a:solidFill>
                <a:latin typeface="Calibri" pitchFamily="34" charset="0"/>
                <a:ea typeface="Calibri" pitchFamily="34" charset="-122"/>
                <a:cs typeface="Calibri" pitchFamily="34" charset="-120"/>
              </a:rPr>
              <a:t>Our signal catches roughly 6 in 10 people who actually leave, before they leave.</a:t>
            </a:r>
            <a:endParaRPr lang="en-US" sz="1150" dirty="0"/>
          </a:p>
          <a:p>
            <a:pPr marL="342900" indent="-342900">
              <a:buSzPct val="100000"/>
              <a:buChar char="•"/>
            </a:pPr>
            <a:r>
              <a:rPr lang="en-US" sz="1150" dirty="0">
                <a:solidFill>
                  <a:srgbClr val="565A61"/>
                </a:solidFill>
                <a:latin typeface="Calibri" pitchFamily="34" charset="0"/>
                <a:ea typeface="Calibri" pitchFamily="34" charset="-122"/>
                <a:cs typeface="Calibri" pitchFamily="34" charset="-120"/>
              </a:rPr>
              <a:t>In exchange, about 1 in 3 flags turns out to be a false alarm — a fair trade for catching real departures early.</a:t>
            </a:r>
            <a:endParaRPr lang="en-US" sz="1150" dirty="0"/>
          </a:p>
        </p:txBody>
      </p:sp>
      <p:sp>
        <p:nvSpPr>
          <p:cNvPr id="10" name="Text 7"/>
          <p:cNvSpPr/>
          <p:nvPr/>
        </p:nvSpPr>
        <p:spPr>
          <a:xfrm>
            <a:off x="457200" y="6473952"/>
            <a:ext cx="7315200" cy="274320"/>
          </a:xfrm>
          <a:prstGeom prst="rect">
            <a:avLst/>
          </a:prstGeom>
          <a:noFill/>
        </p:spPr>
        <p:txBody>
          <a:bodyPr wrap="square" rtlCol="0" anchor="ctr"/>
          <a:lstStyle/>
          <a:p>
            <a:pPr marL="0" indent="0">
              <a:buNone/>
            </a:pPr>
            <a:r>
              <a:rPr lang="en-US" sz="900" dirty="0">
                <a:solidFill>
                  <a:srgbClr val="8B8F94"/>
                </a:solidFill>
                <a:latin typeface="Calibri" pitchFamily="34" charset="0"/>
                <a:ea typeface="Calibri" pitchFamily="34" charset="-122"/>
                <a:cs typeface="Calibri" pitchFamily="34" charset="-120"/>
              </a:rPr>
              <a:t>Employee Flight-Risk Signal  ·  For HR Leadership</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22960" y="502920"/>
            <a:ext cx="457200" cy="457200"/>
          </a:xfrm>
          <a:prstGeom prst="ellipse">
            <a:avLst/>
          </a:prstGeom>
          <a:solidFill>
            <a:srgbClr val="AD8A57"/>
          </a:solidFill>
        </p:spPr>
      </p:sp>
      <p:sp>
        <p:nvSpPr>
          <p:cNvPr id="3" name="Text 1"/>
          <p:cNvSpPr/>
          <p:nvPr/>
        </p:nvSpPr>
        <p:spPr>
          <a:xfrm>
            <a:off x="822960" y="502920"/>
            <a:ext cx="457200" cy="457200"/>
          </a:xfrm>
          <a:prstGeom prst="rect">
            <a:avLst/>
          </a:prstGeom>
          <a:noFill/>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03</a:t>
            </a:r>
            <a:endParaRPr lang="en-US" sz="1600" dirty="0"/>
          </a:p>
        </p:txBody>
      </p:sp>
      <p:sp>
        <p:nvSpPr>
          <p:cNvPr id="4" name="Text 2"/>
          <p:cNvSpPr/>
          <p:nvPr/>
        </p:nvSpPr>
        <p:spPr>
          <a:xfrm>
            <a:off x="1463040" y="566928"/>
            <a:ext cx="8229600" cy="274320"/>
          </a:xfrm>
          <a:prstGeom prst="rect">
            <a:avLst/>
          </a:prstGeom>
          <a:noFill/>
        </p:spPr>
        <p:txBody>
          <a:bodyPr wrap="square" rtlCol="0" anchor="ctr"/>
          <a:lstStyle/>
          <a:p>
            <a:pPr marL="0" indent="0">
              <a:buNone/>
            </a:pPr>
            <a:r>
              <a:rPr lang="en-US" sz="1100" b="1" kern="0" spc="200" dirty="0">
                <a:solidFill>
                  <a:srgbClr val="AD8A57"/>
                </a:solidFill>
                <a:latin typeface="Calibri" pitchFamily="34" charset="0"/>
                <a:ea typeface="Calibri" pitchFamily="34" charset="-122"/>
                <a:cs typeface="Calibri" pitchFamily="34" charset="-120"/>
              </a:rPr>
              <a:t>SECTION 03 · HOW IT WORKS</a:t>
            </a:r>
            <a:endParaRPr lang="en-US" sz="1100" dirty="0"/>
          </a:p>
        </p:txBody>
      </p:sp>
      <p:sp>
        <p:nvSpPr>
          <p:cNvPr id="5" name="Text 3"/>
          <p:cNvSpPr/>
          <p:nvPr/>
        </p:nvSpPr>
        <p:spPr>
          <a:xfrm>
            <a:off x="822960" y="1051560"/>
            <a:ext cx="10332720" cy="548640"/>
          </a:xfrm>
          <a:prstGeom prst="rect">
            <a:avLst/>
          </a:prstGeom>
          <a:noFill/>
        </p:spPr>
        <p:txBody>
          <a:bodyPr wrap="square" rtlCol="0" anchor="ctr"/>
          <a:lstStyle/>
          <a:p>
            <a:pPr marL="0" indent="0">
              <a:buNone/>
            </a:pPr>
            <a:r>
              <a:rPr lang="en-US" sz="2400" b="1" dirty="0">
                <a:solidFill>
                  <a:srgbClr val="1A1A1A"/>
                </a:solidFill>
                <a:latin typeface="Calibri" pitchFamily="34" charset="0"/>
                <a:ea typeface="Calibri" pitchFamily="34" charset="-122"/>
                <a:cs typeface="Calibri" pitchFamily="34" charset="-120"/>
              </a:rPr>
              <a:t>What Tends to Show Up Before Someone Leaves</a:t>
            </a:r>
            <a:endParaRPr lang="en-US" sz="2400" dirty="0"/>
          </a:p>
        </p:txBody>
      </p:sp>
      <p:sp>
        <p:nvSpPr>
          <p:cNvPr id="6" name="Text 4"/>
          <p:cNvSpPr/>
          <p:nvPr/>
        </p:nvSpPr>
        <p:spPr>
          <a:xfrm>
            <a:off x="822960" y="1600200"/>
            <a:ext cx="9144000" cy="365760"/>
          </a:xfrm>
          <a:prstGeom prst="rect">
            <a:avLst/>
          </a:prstGeom>
          <a:noFill/>
        </p:spPr>
        <p:txBody>
          <a:bodyPr wrap="square" rtlCol="0" anchor="ctr"/>
          <a:lstStyle/>
          <a:p>
            <a:pPr marL="0" indent="0">
              <a:buNone/>
            </a:pPr>
            <a:r>
              <a:rPr lang="en-US" sz="1350" dirty="0">
                <a:solidFill>
                  <a:srgbClr val="565A61"/>
                </a:solidFill>
                <a:latin typeface="Calibri" pitchFamily="34" charset="0"/>
                <a:ea typeface="Calibri" pitchFamily="34" charset="-122"/>
                <a:cs typeface="Calibri" pitchFamily="34" charset="-120"/>
              </a:rPr>
              <a:t>The strongest patterns in the data, ranked.</a:t>
            </a:r>
            <a:endParaRPr lang="en-US" sz="1350" dirty="0"/>
          </a:p>
        </p:txBody>
      </p:sp>
      <p:graphicFrame>
        <p:nvGraphicFramePr>
          <p:cNvPr id="7" name="Chart 0"/>
          <p:cNvGraphicFramePr/>
          <p:nvPr/>
        </p:nvGraphicFramePr>
        <p:xfrm>
          <a:off x="822960" y="2103120"/>
          <a:ext cx="6217920" cy="4114800"/>
        </p:xfrm>
        <a:graphic>
          <a:graphicData uri="http://schemas.openxmlformats.org/drawingml/2006/chart">
            <c:chart xmlns:c="http://schemas.openxmlformats.org/drawingml/2006/chart" xmlns:r="http://schemas.openxmlformats.org/officeDocument/2006/relationships" r:id="rId1"/>
          </a:graphicData>
        </a:graphic>
      </p:graphicFrame>
      <p:sp>
        <p:nvSpPr>
          <p:cNvPr id="8" name="Text 5"/>
          <p:cNvSpPr/>
          <p:nvPr/>
        </p:nvSpPr>
        <p:spPr>
          <a:xfrm>
            <a:off x="7315200" y="2286000"/>
            <a:ext cx="4023360" cy="3474720"/>
          </a:xfrm>
          <a:prstGeom prst="rect">
            <a:avLst/>
          </a:prstGeom>
          <a:noFill/>
        </p:spPr>
        <p:txBody>
          <a:bodyPr wrap="square" rtlCol="0" anchor="ctr"/>
          <a:lstStyle/>
          <a:p>
            <a:pPr marL="342900" indent="-342900">
              <a:spcAft>
                <a:spcPts val="1400"/>
              </a:spcAft>
              <a:buSzPct val="100000"/>
              <a:buChar char="•"/>
            </a:pPr>
            <a:r>
              <a:rPr lang="en-US" sz="1250" dirty="0">
                <a:solidFill>
                  <a:srgbClr val="565A61"/>
                </a:solidFill>
                <a:latin typeface="Calibri" pitchFamily="34" charset="0"/>
                <a:ea typeface="Calibri" pitchFamily="34" charset="-122"/>
                <a:cs typeface="Calibri" pitchFamily="34" charset="-120"/>
              </a:rPr>
              <a:t>Pay and stock options matter — both are top signals</a:t>
            </a:r>
            <a:endParaRPr lang="en-US" sz="1250" dirty="0"/>
          </a:p>
          <a:p>
            <a:pPr marL="342900" indent="-342900">
              <a:spcAft>
                <a:spcPts val="1400"/>
              </a:spcAft>
              <a:buSzPct val="100000"/>
              <a:buChar char="•"/>
            </a:pPr>
            <a:r>
              <a:rPr lang="en-US" sz="1250" dirty="0">
                <a:solidFill>
                  <a:srgbClr val="565A61"/>
                </a:solidFill>
                <a:latin typeface="Calibri" pitchFamily="34" charset="0"/>
                <a:ea typeface="Calibri" pitchFamily="34" charset="-122"/>
                <a:cs typeface="Calibri" pitchFamily="34" charset="-120"/>
              </a:rPr>
              <a:t>Overtime is the most actionable one — it's a policy lever, not just a data point</a:t>
            </a:r>
            <a:endParaRPr lang="en-US" sz="1250" dirty="0"/>
          </a:p>
          <a:p>
            <a:pPr marL="342900" indent="-342900">
              <a:buSzPct val="100000"/>
              <a:buChar char="•"/>
            </a:pPr>
            <a:r>
              <a:rPr lang="en-US" sz="1250" dirty="0">
                <a:solidFill>
                  <a:srgbClr val="565A61"/>
                </a:solidFill>
                <a:latin typeface="Calibri" pitchFamily="34" charset="0"/>
                <a:ea typeface="Calibri" pitchFamily="34" charset="-122"/>
                <a:cs typeface="Calibri" pitchFamily="34" charset="-120"/>
              </a:rPr>
              <a:t>How long someone's been with their manager matters — relationship continuity is a real retention factor</a:t>
            </a:r>
            <a:endParaRPr lang="en-US" sz="1250" dirty="0"/>
          </a:p>
        </p:txBody>
      </p:sp>
      <p:sp>
        <p:nvSpPr>
          <p:cNvPr id="9" name="Text 6"/>
          <p:cNvSpPr/>
          <p:nvPr/>
        </p:nvSpPr>
        <p:spPr>
          <a:xfrm>
            <a:off x="457200" y="6473952"/>
            <a:ext cx="7315200" cy="274320"/>
          </a:xfrm>
          <a:prstGeom prst="rect">
            <a:avLst/>
          </a:prstGeom>
          <a:noFill/>
        </p:spPr>
        <p:txBody>
          <a:bodyPr wrap="square" rtlCol="0" anchor="ctr"/>
          <a:lstStyle/>
          <a:p>
            <a:pPr marL="0" indent="0">
              <a:buNone/>
            </a:pPr>
            <a:r>
              <a:rPr lang="en-US" sz="900" dirty="0">
                <a:solidFill>
                  <a:srgbClr val="8B8F94"/>
                </a:solidFill>
                <a:latin typeface="Calibri" pitchFamily="34" charset="0"/>
                <a:ea typeface="Calibri" pitchFamily="34" charset="-122"/>
                <a:cs typeface="Calibri" pitchFamily="34" charset="-120"/>
              </a:rPr>
              <a:t>Employee Flight-Risk Signal  ·  For HR Leadership</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22960" y="502920"/>
            <a:ext cx="457200" cy="457200"/>
          </a:xfrm>
          <a:prstGeom prst="ellipse">
            <a:avLst/>
          </a:prstGeom>
          <a:solidFill>
            <a:srgbClr val="AD8A57"/>
          </a:solidFill>
        </p:spPr>
      </p:sp>
      <p:sp>
        <p:nvSpPr>
          <p:cNvPr id="3" name="Text 1"/>
          <p:cNvSpPr/>
          <p:nvPr/>
        </p:nvSpPr>
        <p:spPr>
          <a:xfrm>
            <a:off x="822960" y="502920"/>
            <a:ext cx="457200" cy="457200"/>
          </a:xfrm>
          <a:prstGeom prst="rect">
            <a:avLst/>
          </a:prstGeom>
          <a:noFill/>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04</a:t>
            </a:r>
            <a:endParaRPr lang="en-US" sz="1600" dirty="0"/>
          </a:p>
        </p:txBody>
      </p:sp>
      <p:sp>
        <p:nvSpPr>
          <p:cNvPr id="4" name="Text 2"/>
          <p:cNvSpPr/>
          <p:nvPr/>
        </p:nvSpPr>
        <p:spPr>
          <a:xfrm>
            <a:off x="1463040" y="566928"/>
            <a:ext cx="8229600" cy="274320"/>
          </a:xfrm>
          <a:prstGeom prst="rect">
            <a:avLst/>
          </a:prstGeom>
          <a:noFill/>
        </p:spPr>
        <p:txBody>
          <a:bodyPr wrap="square" rtlCol="0" anchor="ctr"/>
          <a:lstStyle/>
          <a:p>
            <a:pPr marL="0" indent="0">
              <a:buNone/>
            </a:pPr>
            <a:r>
              <a:rPr lang="en-US" sz="1100" b="1" kern="0" spc="200" dirty="0">
                <a:solidFill>
                  <a:srgbClr val="AD8A57"/>
                </a:solidFill>
                <a:latin typeface="Calibri" pitchFamily="34" charset="0"/>
                <a:ea typeface="Calibri" pitchFamily="34" charset="-122"/>
                <a:cs typeface="Calibri" pitchFamily="34" charset="-120"/>
              </a:rPr>
              <a:t>SECTION 04 · WHAT TO DO NEXT</a:t>
            </a:r>
            <a:endParaRPr lang="en-US" sz="1100" dirty="0"/>
          </a:p>
        </p:txBody>
      </p:sp>
      <p:sp>
        <p:nvSpPr>
          <p:cNvPr id="5" name="Text 3"/>
          <p:cNvSpPr/>
          <p:nvPr/>
        </p:nvSpPr>
        <p:spPr>
          <a:xfrm>
            <a:off x="822960" y="1051560"/>
            <a:ext cx="10058400" cy="548640"/>
          </a:xfrm>
          <a:prstGeom prst="rect">
            <a:avLst/>
          </a:prstGeom>
          <a:noFill/>
        </p:spPr>
        <p:txBody>
          <a:bodyPr wrap="square" rtlCol="0" anchor="ctr"/>
          <a:lstStyle/>
          <a:p>
            <a:pPr marL="0" indent="0">
              <a:buNone/>
            </a:pPr>
            <a:r>
              <a:rPr lang="en-US" sz="2700" b="1" dirty="0">
                <a:solidFill>
                  <a:srgbClr val="1A1A1A"/>
                </a:solidFill>
                <a:latin typeface="Calibri" pitchFamily="34" charset="0"/>
                <a:ea typeface="Calibri" pitchFamily="34" charset="-122"/>
                <a:cs typeface="Calibri" pitchFamily="34" charset="-120"/>
              </a:rPr>
              <a:t>Turning a Flag Into Action</a:t>
            </a:r>
            <a:endParaRPr lang="en-US" sz="2700" dirty="0"/>
          </a:p>
        </p:txBody>
      </p:sp>
      <p:sp>
        <p:nvSpPr>
          <p:cNvPr id="6" name="Text 4"/>
          <p:cNvSpPr/>
          <p:nvPr/>
        </p:nvSpPr>
        <p:spPr>
          <a:xfrm>
            <a:off x="822960" y="1627632"/>
            <a:ext cx="10332720" cy="365760"/>
          </a:xfrm>
          <a:prstGeom prst="rect">
            <a:avLst/>
          </a:prstGeom>
          <a:noFill/>
        </p:spPr>
        <p:txBody>
          <a:bodyPr wrap="square" rtlCol="0" anchor="ctr"/>
          <a:lstStyle/>
          <a:p>
            <a:pPr marL="0" indent="0">
              <a:buNone/>
            </a:pPr>
            <a:r>
              <a:rPr lang="en-US" sz="1350" dirty="0">
                <a:solidFill>
                  <a:srgbClr val="565A61"/>
                </a:solidFill>
                <a:latin typeface="Calibri" pitchFamily="34" charset="0"/>
                <a:ea typeface="Calibri" pitchFamily="34" charset="-122"/>
                <a:cs typeface="Calibri" pitchFamily="34" charset="-120"/>
              </a:rPr>
              <a:t>Not an auto-pilot — a way to route the 84 flagged employees to the right level of attention.</a:t>
            </a:r>
            <a:endParaRPr lang="en-US" sz="1350" dirty="0"/>
          </a:p>
        </p:txBody>
      </p:sp>
      <p:sp>
        <p:nvSpPr>
          <p:cNvPr id="7" name="Shape 5"/>
          <p:cNvSpPr/>
          <p:nvPr/>
        </p:nvSpPr>
        <p:spPr>
          <a:xfrm>
            <a:off x="822960" y="2286000"/>
            <a:ext cx="3291840" cy="3108960"/>
          </a:xfrm>
          <a:prstGeom prst="roundRect">
            <a:avLst>
              <a:gd name="adj" fmla="val 2941"/>
            </a:avLst>
          </a:prstGeom>
          <a:solidFill>
            <a:srgbClr val="FAFAFC"/>
          </a:solidFill>
          <a:ln w="12700">
            <a:solidFill>
              <a:srgbClr val="E3E5E8"/>
            </a:solidFill>
            <a:prstDash val="solid"/>
          </a:ln>
        </p:spPr>
      </p:sp>
      <p:sp>
        <p:nvSpPr>
          <p:cNvPr id="8" name="Shape 6"/>
          <p:cNvSpPr/>
          <p:nvPr/>
        </p:nvSpPr>
        <p:spPr>
          <a:xfrm>
            <a:off x="1097280" y="2560320"/>
            <a:ext cx="256032" cy="256032"/>
          </a:xfrm>
          <a:prstGeom prst="ellipse">
            <a:avLst/>
          </a:prstGeom>
          <a:solidFill>
            <a:srgbClr val="5B8C72"/>
          </a:solidFill>
        </p:spPr>
      </p:sp>
      <p:sp>
        <p:nvSpPr>
          <p:cNvPr id="9" name="Text 7"/>
          <p:cNvSpPr/>
          <p:nvPr/>
        </p:nvSpPr>
        <p:spPr>
          <a:xfrm>
            <a:off x="1463040" y="2487168"/>
            <a:ext cx="2377440" cy="365760"/>
          </a:xfrm>
          <a:prstGeom prst="rect">
            <a:avLst/>
          </a:prstGeom>
          <a:noFill/>
        </p:spPr>
        <p:txBody>
          <a:bodyPr wrap="square" rtlCol="0" anchor="ctr"/>
          <a:lstStyle/>
          <a:p>
            <a:pPr marL="0" indent="0">
              <a:buNone/>
            </a:pPr>
            <a:r>
              <a:rPr lang="en-US" sz="1400" b="1" dirty="0">
                <a:solidFill>
                  <a:srgbClr val="1A1A1A"/>
                </a:solidFill>
                <a:latin typeface="Calibri" pitchFamily="34" charset="0"/>
                <a:ea typeface="Calibri" pitchFamily="34" charset="-122"/>
                <a:cs typeface="Calibri" pitchFamily="34" charset="-120"/>
              </a:rPr>
              <a:t>Low Risk</a:t>
            </a:r>
            <a:endParaRPr lang="en-US" sz="1400" dirty="0"/>
          </a:p>
        </p:txBody>
      </p:sp>
      <p:sp>
        <p:nvSpPr>
          <p:cNvPr id="10" name="Text 8"/>
          <p:cNvSpPr/>
          <p:nvPr/>
        </p:nvSpPr>
        <p:spPr>
          <a:xfrm>
            <a:off x="1097280" y="2971800"/>
            <a:ext cx="2743200" cy="2194560"/>
          </a:xfrm>
          <a:prstGeom prst="rect">
            <a:avLst/>
          </a:prstGeom>
          <a:noFill/>
        </p:spPr>
        <p:txBody>
          <a:bodyPr wrap="square" rtlCol="0" anchor="ctr"/>
          <a:lstStyle/>
          <a:p>
            <a:pPr marL="0" indent="0">
              <a:buNone/>
            </a:pPr>
            <a:r>
              <a:rPr lang="en-US" sz="1150" dirty="0">
                <a:solidFill>
                  <a:srgbClr val="565A61"/>
                </a:solidFill>
                <a:latin typeface="Calibri" pitchFamily="34" charset="0"/>
                <a:ea typeface="Calibri" pitchFamily="34" charset="-122"/>
                <a:cs typeface="Calibri" pitchFamily="34" charset="-120"/>
              </a:rPr>
              <a:t>Quarterly check-in suggested — no urgency, just logged so nothing falls through the cracks.</a:t>
            </a:r>
            <a:endParaRPr lang="en-US" sz="1150" dirty="0"/>
          </a:p>
        </p:txBody>
      </p:sp>
      <p:sp>
        <p:nvSpPr>
          <p:cNvPr id="11" name="Shape 9"/>
          <p:cNvSpPr/>
          <p:nvPr/>
        </p:nvSpPr>
        <p:spPr>
          <a:xfrm>
            <a:off x="4297680" y="2286000"/>
            <a:ext cx="3291840" cy="3108960"/>
          </a:xfrm>
          <a:prstGeom prst="roundRect">
            <a:avLst>
              <a:gd name="adj" fmla="val 2941"/>
            </a:avLst>
          </a:prstGeom>
          <a:solidFill>
            <a:srgbClr val="FAFAFC"/>
          </a:solidFill>
          <a:ln w="12700">
            <a:solidFill>
              <a:srgbClr val="E3E5E8"/>
            </a:solidFill>
            <a:prstDash val="solid"/>
          </a:ln>
        </p:spPr>
      </p:sp>
      <p:sp>
        <p:nvSpPr>
          <p:cNvPr id="12" name="Shape 10"/>
          <p:cNvSpPr/>
          <p:nvPr/>
        </p:nvSpPr>
        <p:spPr>
          <a:xfrm>
            <a:off x="4572000" y="2560320"/>
            <a:ext cx="256032" cy="256032"/>
          </a:xfrm>
          <a:prstGeom prst="ellipse">
            <a:avLst/>
          </a:prstGeom>
          <a:solidFill>
            <a:srgbClr val="B98B3E"/>
          </a:solidFill>
        </p:spPr>
      </p:sp>
      <p:sp>
        <p:nvSpPr>
          <p:cNvPr id="13" name="Text 11"/>
          <p:cNvSpPr/>
          <p:nvPr/>
        </p:nvSpPr>
        <p:spPr>
          <a:xfrm>
            <a:off x="4937760" y="2487168"/>
            <a:ext cx="2377440" cy="365760"/>
          </a:xfrm>
          <a:prstGeom prst="rect">
            <a:avLst/>
          </a:prstGeom>
          <a:noFill/>
        </p:spPr>
        <p:txBody>
          <a:bodyPr wrap="square" rtlCol="0" anchor="ctr"/>
          <a:lstStyle/>
          <a:p>
            <a:pPr marL="0" indent="0">
              <a:buNone/>
            </a:pPr>
            <a:r>
              <a:rPr lang="en-US" sz="1400" b="1" dirty="0">
                <a:solidFill>
                  <a:srgbClr val="1A1A1A"/>
                </a:solidFill>
                <a:latin typeface="Calibri" pitchFamily="34" charset="0"/>
                <a:ea typeface="Calibri" pitchFamily="34" charset="-122"/>
                <a:cs typeface="Calibri" pitchFamily="34" charset="-120"/>
              </a:rPr>
              <a:t>Elevated Risk</a:t>
            </a:r>
            <a:endParaRPr lang="en-US" sz="1400" dirty="0"/>
          </a:p>
        </p:txBody>
      </p:sp>
      <p:sp>
        <p:nvSpPr>
          <p:cNvPr id="14" name="Text 12"/>
          <p:cNvSpPr/>
          <p:nvPr/>
        </p:nvSpPr>
        <p:spPr>
          <a:xfrm>
            <a:off x="4572000" y="2971800"/>
            <a:ext cx="2743200" cy="2194560"/>
          </a:xfrm>
          <a:prstGeom prst="rect">
            <a:avLst/>
          </a:prstGeom>
          <a:noFill/>
        </p:spPr>
        <p:txBody>
          <a:bodyPr wrap="square" rtlCol="0" anchor="ctr"/>
          <a:lstStyle/>
          <a:p>
            <a:pPr marL="0" indent="0">
              <a:buNone/>
            </a:pPr>
            <a:r>
              <a:rPr lang="en-US" sz="1150" dirty="0">
                <a:solidFill>
                  <a:srgbClr val="565A61"/>
                </a:solidFill>
                <a:latin typeface="Calibri" pitchFamily="34" charset="0"/>
                <a:ea typeface="Calibri" pitchFamily="34" charset="-122"/>
                <a:cs typeface="Calibri" pitchFamily="34" charset="-120"/>
              </a:rPr>
              <a:t>HRBP prompted to have a retention conversation within two weeks. A person decides what to do, not the tool.</a:t>
            </a:r>
            <a:endParaRPr lang="en-US" sz="1150" dirty="0"/>
          </a:p>
        </p:txBody>
      </p:sp>
      <p:sp>
        <p:nvSpPr>
          <p:cNvPr id="15" name="Shape 13"/>
          <p:cNvSpPr/>
          <p:nvPr/>
        </p:nvSpPr>
        <p:spPr>
          <a:xfrm>
            <a:off x="7772400" y="2286000"/>
            <a:ext cx="3291840" cy="3108960"/>
          </a:xfrm>
          <a:prstGeom prst="roundRect">
            <a:avLst>
              <a:gd name="adj" fmla="val 2941"/>
            </a:avLst>
          </a:prstGeom>
          <a:solidFill>
            <a:srgbClr val="FAFAFC"/>
          </a:solidFill>
          <a:ln w="12700">
            <a:solidFill>
              <a:srgbClr val="E3E5E8"/>
            </a:solidFill>
            <a:prstDash val="solid"/>
          </a:ln>
        </p:spPr>
      </p:sp>
      <p:sp>
        <p:nvSpPr>
          <p:cNvPr id="16" name="Shape 14"/>
          <p:cNvSpPr/>
          <p:nvPr/>
        </p:nvSpPr>
        <p:spPr>
          <a:xfrm>
            <a:off x="8046720" y="2560320"/>
            <a:ext cx="256032" cy="256032"/>
          </a:xfrm>
          <a:prstGeom prst="ellipse">
            <a:avLst/>
          </a:prstGeom>
          <a:solidFill>
            <a:srgbClr val="A44A42"/>
          </a:solidFill>
        </p:spPr>
      </p:sp>
      <p:sp>
        <p:nvSpPr>
          <p:cNvPr id="17" name="Text 15"/>
          <p:cNvSpPr/>
          <p:nvPr/>
        </p:nvSpPr>
        <p:spPr>
          <a:xfrm>
            <a:off x="8412480" y="2487168"/>
            <a:ext cx="2377440" cy="365760"/>
          </a:xfrm>
          <a:prstGeom prst="rect">
            <a:avLst/>
          </a:prstGeom>
          <a:noFill/>
        </p:spPr>
        <p:txBody>
          <a:bodyPr wrap="square" rtlCol="0" anchor="ctr"/>
          <a:lstStyle/>
          <a:p>
            <a:pPr marL="0" indent="0">
              <a:buNone/>
            </a:pPr>
            <a:r>
              <a:rPr lang="en-US" sz="1400" b="1" dirty="0">
                <a:solidFill>
                  <a:srgbClr val="1A1A1A"/>
                </a:solidFill>
                <a:latin typeface="Calibri" pitchFamily="34" charset="0"/>
                <a:ea typeface="Calibri" pitchFamily="34" charset="-122"/>
                <a:cs typeface="Calibri" pitchFamily="34" charset="-120"/>
              </a:rPr>
              <a:t>High Risk + High Value</a:t>
            </a:r>
            <a:endParaRPr lang="en-US" sz="1400" dirty="0"/>
          </a:p>
        </p:txBody>
      </p:sp>
      <p:sp>
        <p:nvSpPr>
          <p:cNvPr id="18" name="Text 16"/>
          <p:cNvSpPr/>
          <p:nvPr/>
        </p:nvSpPr>
        <p:spPr>
          <a:xfrm>
            <a:off x="8046720" y="2971800"/>
            <a:ext cx="2743200" cy="2194560"/>
          </a:xfrm>
          <a:prstGeom prst="rect">
            <a:avLst/>
          </a:prstGeom>
          <a:noFill/>
        </p:spPr>
        <p:txBody>
          <a:bodyPr wrap="square" rtlCol="0" anchor="ctr"/>
          <a:lstStyle/>
          <a:p>
            <a:pPr marL="0" indent="0">
              <a:buNone/>
            </a:pPr>
            <a:r>
              <a:rPr lang="en-US" sz="1150" dirty="0">
                <a:solidFill>
                  <a:srgbClr val="565A61"/>
                </a:solidFill>
                <a:latin typeface="Calibri" pitchFamily="34" charset="0"/>
                <a:ea typeface="Calibri" pitchFamily="34" charset="-122"/>
                <a:cs typeface="Calibri" pitchFamily="34" charset="-120"/>
              </a:rPr>
              <a:t>Escalated directly to the manager and HRBP together — this is the costliest kind of miss to allow.</a:t>
            </a:r>
            <a:endParaRPr lang="en-US" sz="1150" dirty="0"/>
          </a:p>
        </p:txBody>
      </p:sp>
      <p:sp>
        <p:nvSpPr>
          <p:cNvPr id="19" name="Text 17"/>
          <p:cNvSpPr/>
          <p:nvPr/>
        </p:nvSpPr>
        <p:spPr>
          <a:xfrm>
            <a:off x="822960" y="5577840"/>
            <a:ext cx="10332720" cy="548640"/>
          </a:xfrm>
          <a:prstGeom prst="rect">
            <a:avLst/>
          </a:prstGeom>
          <a:noFill/>
        </p:spPr>
        <p:txBody>
          <a:bodyPr wrap="square" rtlCol="0" anchor="ctr"/>
          <a:lstStyle/>
          <a:p>
            <a:pPr marL="0" indent="0">
              <a:buNone/>
            </a:pPr>
            <a:r>
              <a:rPr lang="en-US" sz="1200" i="1" dirty="0">
                <a:solidFill>
                  <a:srgbClr val="8B8F94"/>
                </a:solidFill>
                <a:latin typeface="Calibri" pitchFamily="34" charset="0"/>
                <a:ea typeface="Calibri" pitchFamily="34" charset="-122"/>
                <a:cs typeface="Calibri" pitchFamily="34" charset="-120"/>
              </a:rPr>
              <a:t>Why a person stays in the loop: the signal gets it right sometimes and misses sometimes — it suggests, it never decides.</a:t>
            </a:r>
            <a:endParaRPr lang="en-US" sz="1200" dirty="0"/>
          </a:p>
        </p:txBody>
      </p:sp>
      <p:sp>
        <p:nvSpPr>
          <p:cNvPr id="20" name="Text 18"/>
          <p:cNvSpPr/>
          <p:nvPr/>
        </p:nvSpPr>
        <p:spPr>
          <a:xfrm>
            <a:off x="457200" y="6473952"/>
            <a:ext cx="7315200" cy="274320"/>
          </a:xfrm>
          <a:prstGeom prst="rect">
            <a:avLst/>
          </a:prstGeom>
          <a:noFill/>
        </p:spPr>
        <p:txBody>
          <a:bodyPr wrap="square" rtlCol="0" anchor="ctr"/>
          <a:lstStyle/>
          <a:p>
            <a:pPr marL="0" indent="0">
              <a:buNone/>
            </a:pPr>
            <a:r>
              <a:rPr lang="en-US" sz="900" dirty="0">
                <a:solidFill>
                  <a:srgbClr val="8B8F94"/>
                </a:solidFill>
                <a:latin typeface="Calibri" pitchFamily="34" charset="0"/>
                <a:ea typeface="Calibri" pitchFamily="34" charset="-122"/>
                <a:cs typeface="Calibri" pitchFamily="34" charset="-120"/>
              </a:rPr>
              <a:t>Employee Flight-Risk Signal  ·  For HR Leadership</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22960" y="548640"/>
            <a:ext cx="8229600" cy="274320"/>
          </a:xfrm>
          <a:prstGeom prst="rect">
            <a:avLst/>
          </a:prstGeom>
          <a:noFill/>
        </p:spPr>
        <p:txBody>
          <a:bodyPr wrap="square" rtlCol="0" anchor="ctr"/>
          <a:lstStyle/>
          <a:p>
            <a:pPr marL="0" indent="0">
              <a:buNone/>
            </a:pPr>
            <a:r>
              <a:rPr lang="en-US" sz="1100" b="1" kern="0" spc="200" dirty="0">
                <a:solidFill>
                  <a:srgbClr val="AD8A57"/>
                </a:solidFill>
                <a:latin typeface="Calibri" pitchFamily="34" charset="0"/>
                <a:ea typeface="Calibri" pitchFamily="34" charset="-122"/>
                <a:cs typeface="Calibri" pitchFamily="34" charset="-120"/>
              </a:rPr>
              <a:t>SECTION 04 · WHAT TO DO NEXT</a:t>
            </a:r>
            <a:endParaRPr lang="en-US" sz="1100" dirty="0"/>
          </a:p>
        </p:txBody>
      </p:sp>
      <p:sp>
        <p:nvSpPr>
          <p:cNvPr id="3" name="Text 1"/>
          <p:cNvSpPr/>
          <p:nvPr/>
        </p:nvSpPr>
        <p:spPr>
          <a:xfrm>
            <a:off x="822960" y="868680"/>
            <a:ext cx="10332720" cy="548640"/>
          </a:xfrm>
          <a:prstGeom prst="rect">
            <a:avLst/>
          </a:prstGeom>
          <a:noFill/>
        </p:spPr>
        <p:txBody>
          <a:bodyPr wrap="square" rtlCol="0" anchor="ctr"/>
          <a:lstStyle/>
          <a:p>
            <a:pPr marL="0" indent="0">
              <a:buNone/>
            </a:pPr>
            <a:r>
              <a:rPr lang="en-US" sz="2200" b="1" dirty="0">
                <a:solidFill>
                  <a:srgbClr val="1A1A1A"/>
                </a:solidFill>
                <a:latin typeface="Calibri" pitchFamily="34" charset="0"/>
                <a:ea typeface="Calibri" pitchFamily="34" charset="-122"/>
                <a:cs typeface="Calibri" pitchFamily="34" charset="-120"/>
              </a:rPr>
              <a:t>What Could This Be Worth? Here's the Model, Not Just a Number</a:t>
            </a:r>
            <a:endParaRPr lang="en-US" sz="2200" dirty="0"/>
          </a:p>
        </p:txBody>
      </p:sp>
      <p:sp>
        <p:nvSpPr>
          <p:cNvPr id="4" name="Text 2"/>
          <p:cNvSpPr/>
          <p:nvPr/>
        </p:nvSpPr>
        <p:spPr>
          <a:xfrm>
            <a:off x="822960" y="1463040"/>
            <a:ext cx="10332720" cy="411480"/>
          </a:xfrm>
          <a:prstGeom prst="rect">
            <a:avLst/>
          </a:prstGeom>
          <a:noFill/>
        </p:spPr>
        <p:txBody>
          <a:bodyPr wrap="square" rtlCol="0" anchor="ctr"/>
          <a:lstStyle/>
          <a:p>
            <a:pPr marL="0" indent="0">
              <a:buNone/>
            </a:pPr>
            <a:r>
              <a:rPr lang="en-US" sz="1250" dirty="0">
                <a:solidFill>
                  <a:srgbClr val="565A61"/>
                </a:solidFill>
                <a:latin typeface="Calibri" pitchFamily="34" charset="0"/>
                <a:ea typeface="Calibri" pitchFamily="34" charset="-122"/>
                <a:cs typeface="Calibri" pitchFamily="34" charset="-120"/>
              </a:rPr>
              <a:t>We haven't run real interventions yet, so this can't be a promise — it's a transparent, three-step model anyone in this room can check.</a:t>
            </a:r>
            <a:endParaRPr lang="en-US" sz="1250" dirty="0"/>
          </a:p>
        </p:txBody>
      </p:sp>
      <p:sp>
        <p:nvSpPr>
          <p:cNvPr id="5" name="Shape 3"/>
          <p:cNvSpPr/>
          <p:nvPr/>
        </p:nvSpPr>
        <p:spPr>
          <a:xfrm>
            <a:off x="822960" y="2148840"/>
            <a:ext cx="3291840" cy="2788920"/>
          </a:xfrm>
          <a:prstGeom prst="roundRect">
            <a:avLst>
              <a:gd name="adj" fmla="val 3279"/>
            </a:avLst>
          </a:prstGeom>
          <a:solidFill>
            <a:srgbClr val="FAFAFC"/>
          </a:solidFill>
          <a:ln w="12700">
            <a:solidFill>
              <a:srgbClr val="E3E5E8"/>
            </a:solidFill>
            <a:prstDash val="solid"/>
          </a:ln>
        </p:spPr>
      </p:sp>
      <p:sp>
        <p:nvSpPr>
          <p:cNvPr id="6" name="Shape 4"/>
          <p:cNvSpPr/>
          <p:nvPr/>
        </p:nvSpPr>
        <p:spPr>
          <a:xfrm>
            <a:off x="1097280" y="2423160"/>
            <a:ext cx="457200" cy="457200"/>
          </a:xfrm>
          <a:prstGeom prst="ellipse">
            <a:avLst/>
          </a:prstGeom>
          <a:solidFill>
            <a:srgbClr val="3E6B8A"/>
          </a:solidFill>
        </p:spPr>
      </p:sp>
      <p:sp>
        <p:nvSpPr>
          <p:cNvPr id="7" name="Text 5"/>
          <p:cNvSpPr/>
          <p:nvPr/>
        </p:nvSpPr>
        <p:spPr>
          <a:xfrm>
            <a:off x="1097280" y="2423160"/>
            <a:ext cx="457200" cy="457200"/>
          </a:xfrm>
          <a:prstGeom prst="rect">
            <a:avLst/>
          </a:prstGeom>
          <a:noFill/>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8" name="Text 6"/>
          <p:cNvSpPr/>
          <p:nvPr/>
        </p:nvSpPr>
        <p:spPr>
          <a:xfrm>
            <a:off x="1097280" y="3017520"/>
            <a:ext cx="2743200" cy="502920"/>
          </a:xfrm>
          <a:prstGeom prst="rect">
            <a:avLst/>
          </a:prstGeom>
          <a:noFill/>
        </p:spPr>
        <p:txBody>
          <a:bodyPr wrap="square" rtlCol="0" anchor="ctr"/>
          <a:lstStyle/>
          <a:p>
            <a:pPr marL="0" indent="0">
              <a:buNone/>
            </a:pPr>
            <a:r>
              <a:rPr lang="en-US" sz="1450" b="1" dirty="0">
                <a:solidFill>
                  <a:srgbClr val="1A1A1A"/>
                </a:solidFill>
                <a:latin typeface="Calibri" pitchFamily="34" charset="0"/>
                <a:ea typeface="Calibri" pitchFamily="34" charset="-122"/>
                <a:cs typeface="Calibri" pitchFamily="34" charset="-120"/>
              </a:rPr>
              <a:t>237 people leave</a:t>
            </a:r>
            <a:endParaRPr lang="en-US" sz="1450" dirty="0"/>
          </a:p>
        </p:txBody>
      </p:sp>
      <p:sp>
        <p:nvSpPr>
          <p:cNvPr id="9" name="Text 7"/>
          <p:cNvSpPr/>
          <p:nvPr/>
        </p:nvSpPr>
        <p:spPr>
          <a:xfrm>
            <a:off x="1097280" y="3547872"/>
            <a:ext cx="2743200" cy="1280160"/>
          </a:xfrm>
          <a:prstGeom prst="rect">
            <a:avLst/>
          </a:prstGeom>
          <a:noFill/>
        </p:spPr>
        <p:txBody>
          <a:bodyPr wrap="square" rtlCol="0" anchor="ctr"/>
          <a:lstStyle/>
          <a:p>
            <a:pPr marL="0" indent="0">
              <a:buNone/>
            </a:pPr>
            <a:r>
              <a:rPr lang="en-US" sz="1100" dirty="0">
                <a:solidFill>
                  <a:srgbClr val="565A61"/>
                </a:solidFill>
                <a:latin typeface="Calibri" pitchFamily="34" charset="0"/>
                <a:ea typeface="Calibri" pitchFamily="34" charset="-122"/>
                <a:cs typeface="Calibri" pitchFamily="34" charset="-120"/>
              </a:rPr>
              <a:t>Company-wide, that's the real baseline in this dataset — 16.1% attrition, 1,470 employees.</a:t>
            </a:r>
            <a:endParaRPr lang="en-US" sz="1100" dirty="0"/>
          </a:p>
        </p:txBody>
      </p:sp>
      <p:sp>
        <p:nvSpPr>
          <p:cNvPr id="10" name="Shape 8"/>
          <p:cNvSpPr/>
          <p:nvPr/>
        </p:nvSpPr>
        <p:spPr>
          <a:xfrm rot="5400000">
            <a:off x="4096512" y="3429000"/>
            <a:ext cx="219456" cy="182880"/>
          </a:xfrm>
          <a:prstGeom prst="triangle">
            <a:avLst/>
          </a:prstGeom>
          <a:solidFill>
            <a:srgbClr val="AEB4BB"/>
          </a:solidFill>
        </p:spPr>
      </p:sp>
      <p:sp>
        <p:nvSpPr>
          <p:cNvPr id="11" name="Shape 9"/>
          <p:cNvSpPr/>
          <p:nvPr/>
        </p:nvSpPr>
        <p:spPr>
          <a:xfrm>
            <a:off x="4297680" y="2148840"/>
            <a:ext cx="3291840" cy="2788920"/>
          </a:xfrm>
          <a:prstGeom prst="roundRect">
            <a:avLst>
              <a:gd name="adj" fmla="val 3279"/>
            </a:avLst>
          </a:prstGeom>
          <a:solidFill>
            <a:srgbClr val="FAFAFC"/>
          </a:solidFill>
          <a:ln w="12700">
            <a:solidFill>
              <a:srgbClr val="E3E5E8"/>
            </a:solidFill>
            <a:prstDash val="solid"/>
          </a:ln>
        </p:spPr>
      </p:sp>
      <p:sp>
        <p:nvSpPr>
          <p:cNvPr id="12" name="Shape 10"/>
          <p:cNvSpPr/>
          <p:nvPr/>
        </p:nvSpPr>
        <p:spPr>
          <a:xfrm>
            <a:off x="4572000" y="2423160"/>
            <a:ext cx="457200" cy="457200"/>
          </a:xfrm>
          <a:prstGeom prst="ellipse">
            <a:avLst/>
          </a:prstGeom>
          <a:solidFill>
            <a:srgbClr val="3E6B8A"/>
          </a:solidFill>
        </p:spPr>
      </p:sp>
      <p:sp>
        <p:nvSpPr>
          <p:cNvPr id="13" name="Text 11"/>
          <p:cNvSpPr/>
          <p:nvPr/>
        </p:nvSpPr>
        <p:spPr>
          <a:xfrm>
            <a:off x="4572000" y="2423160"/>
            <a:ext cx="457200" cy="457200"/>
          </a:xfrm>
          <a:prstGeom prst="rect">
            <a:avLst/>
          </a:prstGeom>
          <a:noFill/>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4" name="Text 12"/>
          <p:cNvSpPr/>
          <p:nvPr/>
        </p:nvSpPr>
        <p:spPr>
          <a:xfrm>
            <a:off x="4572000" y="3017520"/>
            <a:ext cx="2743200" cy="502920"/>
          </a:xfrm>
          <a:prstGeom prst="rect">
            <a:avLst/>
          </a:prstGeom>
          <a:noFill/>
        </p:spPr>
        <p:txBody>
          <a:bodyPr wrap="square" rtlCol="0" anchor="ctr"/>
          <a:lstStyle/>
          <a:p>
            <a:pPr marL="0" indent="0">
              <a:buNone/>
            </a:pPr>
            <a:r>
              <a:rPr lang="en-US" sz="1450" b="1" dirty="0">
                <a:solidFill>
                  <a:srgbClr val="1A1A1A"/>
                </a:solidFill>
                <a:latin typeface="Calibri" pitchFamily="34" charset="0"/>
                <a:ea typeface="Calibri" pitchFamily="34" charset="-122"/>
                <a:cs typeface="Calibri" pitchFamily="34" charset="-120"/>
              </a:rPr>
              <a:t>~141 we'd catch in advance</a:t>
            </a:r>
            <a:endParaRPr lang="en-US" sz="1450" dirty="0"/>
          </a:p>
        </p:txBody>
      </p:sp>
      <p:sp>
        <p:nvSpPr>
          <p:cNvPr id="15" name="Text 13"/>
          <p:cNvSpPr/>
          <p:nvPr/>
        </p:nvSpPr>
        <p:spPr>
          <a:xfrm>
            <a:off x="4572000" y="3547872"/>
            <a:ext cx="2743200" cy="1280160"/>
          </a:xfrm>
          <a:prstGeom prst="rect">
            <a:avLst/>
          </a:prstGeom>
          <a:noFill/>
        </p:spPr>
        <p:txBody>
          <a:bodyPr wrap="square" rtlCol="0" anchor="ctr"/>
          <a:lstStyle/>
          <a:p>
            <a:pPr marL="0" indent="0">
              <a:buNone/>
            </a:pPr>
            <a:r>
              <a:rPr lang="en-US" sz="1100" dirty="0">
                <a:solidFill>
                  <a:srgbClr val="565A61"/>
                </a:solidFill>
                <a:latin typeface="Calibri" pitchFamily="34" charset="0"/>
                <a:ea typeface="Calibri" pitchFamily="34" charset="-122"/>
                <a:cs typeface="Calibri" pitchFamily="34" charset="-120"/>
              </a:rPr>
              <a:t>Our signal correctly flags about 6 in 10 (59.6%) of them before they leave — the “Caught in Time” group, scaled company-wide.</a:t>
            </a:r>
            <a:endParaRPr lang="en-US" sz="1100" dirty="0"/>
          </a:p>
        </p:txBody>
      </p:sp>
      <p:sp>
        <p:nvSpPr>
          <p:cNvPr id="16" name="Shape 14"/>
          <p:cNvSpPr/>
          <p:nvPr/>
        </p:nvSpPr>
        <p:spPr>
          <a:xfrm rot="5400000">
            <a:off x="7571232" y="3429000"/>
            <a:ext cx="219456" cy="182880"/>
          </a:xfrm>
          <a:prstGeom prst="triangle">
            <a:avLst/>
          </a:prstGeom>
          <a:solidFill>
            <a:srgbClr val="AEB4BB"/>
          </a:solidFill>
        </p:spPr>
      </p:sp>
      <p:sp>
        <p:nvSpPr>
          <p:cNvPr id="17" name="Shape 15"/>
          <p:cNvSpPr/>
          <p:nvPr/>
        </p:nvSpPr>
        <p:spPr>
          <a:xfrm>
            <a:off x="7772400" y="2148840"/>
            <a:ext cx="3291840" cy="2788920"/>
          </a:xfrm>
          <a:prstGeom prst="roundRect">
            <a:avLst>
              <a:gd name="adj" fmla="val 3279"/>
            </a:avLst>
          </a:prstGeom>
          <a:solidFill>
            <a:srgbClr val="FAFAFC"/>
          </a:solidFill>
          <a:ln w="12700">
            <a:solidFill>
              <a:srgbClr val="E3E5E8"/>
            </a:solidFill>
            <a:prstDash val="solid"/>
          </a:ln>
        </p:spPr>
      </p:sp>
      <p:sp>
        <p:nvSpPr>
          <p:cNvPr id="18" name="Shape 16"/>
          <p:cNvSpPr/>
          <p:nvPr/>
        </p:nvSpPr>
        <p:spPr>
          <a:xfrm>
            <a:off x="8046720" y="2423160"/>
            <a:ext cx="457200" cy="457200"/>
          </a:xfrm>
          <a:prstGeom prst="ellipse">
            <a:avLst/>
          </a:prstGeom>
          <a:solidFill>
            <a:srgbClr val="3E6B8A"/>
          </a:solidFill>
        </p:spPr>
      </p:sp>
      <p:sp>
        <p:nvSpPr>
          <p:cNvPr id="19" name="Text 17"/>
          <p:cNvSpPr/>
          <p:nvPr/>
        </p:nvSpPr>
        <p:spPr>
          <a:xfrm>
            <a:off x="8046720" y="2423160"/>
            <a:ext cx="457200" cy="457200"/>
          </a:xfrm>
          <a:prstGeom prst="rect">
            <a:avLst/>
          </a:prstGeom>
          <a:noFill/>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0" name="Text 18"/>
          <p:cNvSpPr/>
          <p:nvPr/>
        </p:nvSpPr>
        <p:spPr>
          <a:xfrm>
            <a:off x="8046720" y="3017520"/>
            <a:ext cx="2743200" cy="502920"/>
          </a:xfrm>
          <a:prstGeom prst="rect">
            <a:avLst/>
          </a:prstGeom>
          <a:noFill/>
        </p:spPr>
        <p:txBody>
          <a:bodyPr wrap="square" rtlCol="0" anchor="ctr"/>
          <a:lstStyle/>
          <a:p>
            <a:pPr marL="0" indent="0">
              <a:buNone/>
            </a:pPr>
            <a:r>
              <a:rPr lang="en-US" sz="1450" b="1" dirty="0">
                <a:solidFill>
                  <a:srgbClr val="1A1A1A"/>
                </a:solidFill>
                <a:latin typeface="Calibri" pitchFamily="34" charset="0"/>
                <a:ea typeface="Calibri" pitchFamily="34" charset="-122"/>
                <a:cs typeface="Calibri" pitchFamily="34" charset="-120"/>
              </a:rPr>
              <a:t>Some fraction we could keep</a:t>
            </a:r>
            <a:endParaRPr lang="en-US" sz="1450" dirty="0"/>
          </a:p>
        </p:txBody>
      </p:sp>
      <p:sp>
        <p:nvSpPr>
          <p:cNvPr id="21" name="Text 19"/>
          <p:cNvSpPr/>
          <p:nvPr/>
        </p:nvSpPr>
        <p:spPr>
          <a:xfrm>
            <a:off x="8046720" y="3547872"/>
            <a:ext cx="2743200" cy="1280160"/>
          </a:xfrm>
          <a:prstGeom prst="rect">
            <a:avLst/>
          </a:prstGeom>
          <a:noFill/>
        </p:spPr>
        <p:txBody>
          <a:bodyPr wrap="square" rtlCol="0" anchor="ctr"/>
          <a:lstStyle/>
          <a:p>
            <a:pPr marL="0" indent="0">
              <a:buNone/>
            </a:pPr>
            <a:r>
              <a:rPr lang="en-US" sz="1100" dirty="0">
                <a:solidFill>
                  <a:srgbClr val="565A61"/>
                </a:solidFill>
                <a:latin typeface="Calibri" pitchFamily="34" charset="0"/>
                <a:ea typeface="Calibri" pitchFamily="34" charset="-122"/>
                <a:cs typeface="Calibri" pitchFamily="34" charset="-120"/>
              </a:rPr>
              <a:t>The one number nobody can measure yet: how many of those 141 an actual intervention would save. We don't guess at a single figure — we use a range.</a:t>
            </a:r>
            <a:endParaRPr lang="en-US" sz="1100" dirty="0"/>
          </a:p>
        </p:txBody>
      </p:sp>
      <p:sp>
        <p:nvSpPr>
          <p:cNvPr id="22" name="Shape 20"/>
          <p:cNvSpPr/>
          <p:nvPr/>
        </p:nvSpPr>
        <p:spPr>
          <a:xfrm>
            <a:off x="822960" y="5166360"/>
            <a:ext cx="10332720" cy="1051560"/>
          </a:xfrm>
          <a:prstGeom prst="roundRect">
            <a:avLst>
              <a:gd name="adj" fmla="val 6957"/>
            </a:avLst>
          </a:prstGeom>
          <a:solidFill>
            <a:srgbClr val="E7EDF1"/>
          </a:solidFill>
          <a:ln w="12700">
            <a:solidFill>
              <a:srgbClr val="3E6B8A"/>
            </a:solidFill>
            <a:prstDash val="solid"/>
          </a:ln>
        </p:spPr>
      </p:sp>
      <p:sp>
        <p:nvSpPr>
          <p:cNvPr id="23" name="Text 21"/>
          <p:cNvSpPr/>
          <p:nvPr/>
        </p:nvSpPr>
        <p:spPr>
          <a:xfrm>
            <a:off x="1097280" y="5321808"/>
            <a:ext cx="9784080" cy="777240"/>
          </a:xfrm>
          <a:prstGeom prst="rect">
            <a:avLst/>
          </a:prstGeom>
          <a:noFill/>
        </p:spPr>
        <p:txBody>
          <a:bodyPr wrap="square" rtlCol="0" anchor="t"/>
          <a:lstStyle/>
          <a:p>
            <a:pPr marL="0" indent="0">
              <a:buNone/>
            </a:pPr>
            <a:r>
              <a:rPr lang="en-US" sz="1100" b="1" dirty="0">
                <a:solidFill>
                  <a:srgbClr val="3E6B8A"/>
                </a:solidFill>
                <a:latin typeface="Calibri" pitchFamily="34" charset="0"/>
                <a:ea typeface="Calibri" pitchFamily="34" charset="-122"/>
                <a:cs typeface="Calibri" pitchFamily="34" charset="-120"/>
              </a:rPr>
              <a:t>Why 15–33%, not a single number:  </a:t>
            </a:r>
            <a:r>
              <a:rPr lang="en-US" sz="1100" dirty="0">
                <a:solidFill>
                  <a:srgbClr val="565A61"/>
                </a:solidFill>
                <a:latin typeface="Calibri" pitchFamily="34" charset="0"/>
                <a:ea typeface="Calibri" pitchFamily="34" charset="-122"/>
                <a:cs typeface="Calibri" pitchFamily="34" charset="-120"/>
              </a:rPr>
              <a:t>33% (1 in 3) is the same conservative assumption already used for the dollar estimate on the headcount slide; 15% is a more cautious floor. The next slide turns that range into an attrition number and a dollar figure — and into a concrete ask.</a:t>
            </a:r>
            <a:endParaRPr lang="en-US" sz="1100" dirty="0"/>
          </a:p>
        </p:txBody>
      </p:sp>
      <p:sp>
        <p:nvSpPr>
          <p:cNvPr id="24" name="Text 22"/>
          <p:cNvSpPr/>
          <p:nvPr/>
        </p:nvSpPr>
        <p:spPr>
          <a:xfrm>
            <a:off x="457200" y="6473952"/>
            <a:ext cx="7315200" cy="274320"/>
          </a:xfrm>
          <a:prstGeom prst="rect">
            <a:avLst/>
          </a:prstGeom>
          <a:noFill/>
        </p:spPr>
        <p:txBody>
          <a:bodyPr wrap="square" rtlCol="0" anchor="ctr"/>
          <a:lstStyle/>
          <a:p>
            <a:pPr marL="0" indent="0">
              <a:buNone/>
            </a:pPr>
            <a:r>
              <a:rPr lang="en-US" sz="900" dirty="0">
                <a:solidFill>
                  <a:srgbClr val="8B8F94"/>
                </a:solidFill>
                <a:latin typeface="Calibri" pitchFamily="34" charset="0"/>
                <a:ea typeface="Calibri" pitchFamily="34" charset="-122"/>
                <a:cs typeface="Calibri" pitchFamily="34" charset="-120"/>
              </a:rPr>
              <a:t>Employee Flight-Risk Signal  ·  For HR Leadership</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22960" y="548640"/>
            <a:ext cx="8229600" cy="274320"/>
          </a:xfrm>
          <a:prstGeom prst="rect">
            <a:avLst/>
          </a:prstGeom>
          <a:noFill/>
        </p:spPr>
        <p:txBody>
          <a:bodyPr wrap="square" rtlCol="0" anchor="ctr"/>
          <a:lstStyle/>
          <a:p>
            <a:pPr marL="0" indent="0">
              <a:buNone/>
            </a:pPr>
            <a:r>
              <a:rPr lang="en-US" sz="1100" b="1" kern="0" spc="200" dirty="0">
                <a:solidFill>
                  <a:srgbClr val="AD8A57"/>
                </a:solidFill>
                <a:latin typeface="Calibri" pitchFamily="34" charset="0"/>
                <a:ea typeface="Calibri" pitchFamily="34" charset="-122"/>
                <a:cs typeface="Calibri" pitchFamily="34" charset="-120"/>
              </a:rPr>
              <a:t>SECTION 04 · WHAT TO DO NEXT</a:t>
            </a:r>
            <a:endParaRPr lang="en-US" sz="1100" dirty="0"/>
          </a:p>
        </p:txBody>
      </p:sp>
      <p:sp>
        <p:nvSpPr>
          <p:cNvPr id="3" name="Text 1"/>
          <p:cNvSpPr/>
          <p:nvPr/>
        </p:nvSpPr>
        <p:spPr>
          <a:xfrm>
            <a:off x="822960" y="868680"/>
            <a:ext cx="10332720" cy="548640"/>
          </a:xfrm>
          <a:prstGeom prst="rect">
            <a:avLst/>
          </a:prstGeom>
          <a:noFill/>
        </p:spPr>
        <p:txBody>
          <a:bodyPr wrap="square" rtlCol="0" anchor="ctr"/>
          <a:lstStyle/>
          <a:p>
            <a:pPr marL="0" indent="0">
              <a:buNone/>
            </a:pPr>
            <a:r>
              <a:rPr lang="en-US" sz="2400" b="1" dirty="0">
                <a:solidFill>
                  <a:srgbClr val="1A1A1A"/>
                </a:solidFill>
                <a:latin typeface="Calibri" pitchFamily="34" charset="0"/>
                <a:ea typeface="Calibri" pitchFamily="34" charset="-122"/>
                <a:cs typeface="Calibri" pitchFamily="34" charset="-120"/>
              </a:rPr>
              <a:t>The Business Case, and the Ask</a:t>
            </a:r>
            <a:endParaRPr lang="en-US" sz="2400" dirty="0"/>
          </a:p>
        </p:txBody>
      </p:sp>
      <p:sp>
        <p:nvSpPr>
          <p:cNvPr id="4" name="Text 2"/>
          <p:cNvSpPr/>
          <p:nvPr/>
        </p:nvSpPr>
        <p:spPr>
          <a:xfrm>
            <a:off x="822960" y="1417320"/>
            <a:ext cx="10332720" cy="365760"/>
          </a:xfrm>
          <a:prstGeom prst="rect">
            <a:avLst/>
          </a:prstGeom>
          <a:noFill/>
        </p:spPr>
        <p:txBody>
          <a:bodyPr wrap="square" rtlCol="0" anchor="ctr"/>
          <a:lstStyle/>
          <a:p>
            <a:pPr marL="0" indent="0">
              <a:buNone/>
            </a:pPr>
            <a:r>
              <a:rPr lang="en-US" sz="1250" dirty="0">
                <a:solidFill>
                  <a:srgbClr val="565A61"/>
                </a:solidFill>
                <a:latin typeface="Calibri" pitchFamily="34" charset="0"/>
                <a:ea typeface="Calibri" pitchFamily="34" charset="-122"/>
                <a:cs typeface="Calibri" pitchFamily="34" charset="-120"/>
              </a:rPr>
              <a:t>Same model, three scenarios — how far attrition could realistically move, and what that's worth.</a:t>
            </a:r>
            <a:endParaRPr lang="en-US" sz="1250" dirty="0"/>
          </a:p>
        </p:txBody>
      </p:sp>
      <p:graphicFrame>
        <p:nvGraphicFramePr>
          <p:cNvPr id="12" name="Table 0"/>
          <p:cNvGraphicFramePr>
            <a:graphicFrameLocks noGrp="1"/>
          </p:cNvGraphicFramePr>
          <p:nvPr/>
        </p:nvGraphicFramePr>
        <p:xfrm>
          <a:off x="822960" y="1965960"/>
          <a:ext cx="10332720" cy="1755648"/>
        </p:xfrm>
        <a:graphic>
          <a:graphicData uri="http://schemas.openxmlformats.org/drawingml/2006/table">
            <a:tbl>
              <a:tblPr/>
              <a:tblGrid>
                <a:gridCol w="2788920"/>
                <a:gridCol w="1234440"/>
                <a:gridCol w="1828800"/>
                <a:gridCol w="2651760"/>
                <a:gridCol w="1828800"/>
              </a:tblGrid>
              <a:tr h="438912">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Scenario</a:t>
                      </a:r>
                      <a:endParaRPr lang="en-US" sz="1100" dirty="0">
                        <a:latin typeface="Calibri" pitchFamily="34" charset="0"/>
                        <a:ea typeface="Calibri" pitchFamily="34" charset="0"/>
                        <a:cs typeface="Calibri" pitchFamily="34" charset="0"/>
                      </a:endParaRPr>
                    </a:p>
                  </a:txBody>
                  <a:tcPr anchor="ctr">
                    <a:lnL w="12700" cap="flat" cmpd="sng" algn="ctr">
                      <a:solidFill>
                        <a:srgbClr val="E3E5E8"/>
                      </a:solidFill>
                      <a:prstDash val="solid"/>
                      <a:round/>
                      <a:headEnd type="none" w="med" len="med"/>
                      <a:tailEnd type="none" w="med" len="med"/>
                    </a:lnL>
                    <a:lnR w="12700" cap="flat" cmpd="sng" algn="ctr">
                      <a:solidFill>
                        <a:srgbClr val="E3E5E8"/>
                      </a:solidFill>
                      <a:prstDash val="solid"/>
                      <a:round/>
                      <a:headEnd type="none" w="med" len="med"/>
                      <a:tailEnd type="none" w="med" len="med"/>
                    </a:lnR>
                    <a:lnT w="12700" cap="flat" cmpd="sng" algn="ctr">
                      <a:solidFill>
                        <a:srgbClr val="E3E5E8"/>
                      </a:solidFill>
                      <a:prstDash val="solid"/>
                      <a:round/>
                      <a:headEnd type="none" w="med" len="med"/>
                      <a:tailEnd type="none" w="med" len="med"/>
                    </a:lnT>
                    <a:lnB w="12700" cap="flat" cmpd="sng" algn="ctr">
                      <a:solidFill>
                        <a:srgbClr val="E3E5E8"/>
                      </a:solidFill>
                      <a:prstDash val="solid"/>
                      <a:round/>
                      <a:headEnd type="none" w="med" len="med"/>
                      <a:tailEnd type="none" w="med" len="med"/>
                    </a:lnB>
                    <a:solidFill>
                      <a:srgbClr val="1C222E"/>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Save Rate</a:t>
                      </a:r>
                      <a:endParaRPr lang="en-US" sz="1100" dirty="0">
                        <a:latin typeface="Calibri" pitchFamily="34" charset="0"/>
                        <a:ea typeface="Calibri" pitchFamily="34" charset="0"/>
                        <a:cs typeface="Calibri" pitchFamily="34" charset="0"/>
                      </a:endParaRPr>
                    </a:p>
                  </a:txBody>
                  <a:tcPr anchor="ctr">
                    <a:lnL w="12700" cap="flat" cmpd="sng" algn="ctr">
                      <a:solidFill>
                        <a:srgbClr val="E3E5E8"/>
                      </a:solidFill>
                      <a:prstDash val="solid"/>
                      <a:round/>
                      <a:headEnd type="none" w="med" len="med"/>
                      <a:tailEnd type="none" w="med" len="med"/>
                    </a:lnL>
                    <a:lnR w="12700" cap="flat" cmpd="sng" algn="ctr">
                      <a:solidFill>
                        <a:srgbClr val="E3E5E8"/>
                      </a:solidFill>
                      <a:prstDash val="solid"/>
                      <a:round/>
                      <a:headEnd type="none" w="med" len="med"/>
                      <a:tailEnd type="none" w="med" len="med"/>
                    </a:lnR>
                    <a:lnT w="12700" cap="flat" cmpd="sng" algn="ctr">
                      <a:solidFill>
                        <a:srgbClr val="E3E5E8"/>
                      </a:solidFill>
                      <a:prstDash val="solid"/>
                      <a:round/>
                      <a:headEnd type="none" w="med" len="med"/>
                      <a:tailEnd type="none" w="med" len="med"/>
                    </a:lnT>
                    <a:lnB w="12700" cap="flat" cmpd="sng" algn="ctr">
                      <a:solidFill>
                        <a:srgbClr val="E3E5E8"/>
                      </a:solidFill>
                      <a:prstDash val="solid"/>
                      <a:round/>
                      <a:headEnd type="none" w="med" len="med"/>
                      <a:tailEnd type="none" w="med" len="med"/>
                    </a:lnB>
                    <a:solidFill>
                      <a:srgbClr val="1C222E"/>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People Retained</a:t>
                      </a:r>
                      <a:endParaRPr lang="en-US" sz="1100" dirty="0">
                        <a:latin typeface="Calibri" pitchFamily="34" charset="0"/>
                        <a:ea typeface="Calibri" pitchFamily="34" charset="0"/>
                        <a:cs typeface="Calibri" pitchFamily="34" charset="0"/>
                      </a:endParaRPr>
                    </a:p>
                  </a:txBody>
                  <a:tcPr anchor="ctr">
                    <a:lnL w="12700" cap="flat" cmpd="sng" algn="ctr">
                      <a:solidFill>
                        <a:srgbClr val="E3E5E8"/>
                      </a:solidFill>
                      <a:prstDash val="solid"/>
                      <a:round/>
                      <a:headEnd type="none" w="med" len="med"/>
                      <a:tailEnd type="none" w="med" len="med"/>
                    </a:lnL>
                    <a:lnR w="12700" cap="flat" cmpd="sng" algn="ctr">
                      <a:solidFill>
                        <a:srgbClr val="E3E5E8"/>
                      </a:solidFill>
                      <a:prstDash val="solid"/>
                      <a:round/>
                      <a:headEnd type="none" w="med" len="med"/>
                      <a:tailEnd type="none" w="med" len="med"/>
                    </a:lnR>
                    <a:lnT w="12700" cap="flat" cmpd="sng" algn="ctr">
                      <a:solidFill>
                        <a:srgbClr val="E3E5E8"/>
                      </a:solidFill>
                      <a:prstDash val="solid"/>
                      <a:round/>
                      <a:headEnd type="none" w="med" len="med"/>
                      <a:tailEnd type="none" w="med" len="med"/>
                    </a:lnT>
                    <a:lnB w="12700" cap="flat" cmpd="sng" algn="ctr">
                      <a:solidFill>
                        <a:srgbClr val="E3E5E8"/>
                      </a:solidFill>
                      <a:prstDash val="solid"/>
                      <a:round/>
                      <a:headEnd type="none" w="med" len="med"/>
                      <a:tailEnd type="none" w="med" len="med"/>
                    </a:lnB>
                    <a:solidFill>
                      <a:srgbClr val="1C222E"/>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Attrition</a:t>
                      </a:r>
                      <a:endParaRPr lang="en-US" sz="1100" dirty="0">
                        <a:latin typeface="Calibri" pitchFamily="34" charset="0"/>
                        <a:ea typeface="Calibri" pitchFamily="34" charset="0"/>
                        <a:cs typeface="Calibri" pitchFamily="34" charset="0"/>
                      </a:endParaRPr>
                    </a:p>
                  </a:txBody>
                  <a:tcPr anchor="ctr">
                    <a:lnL w="12700" cap="flat" cmpd="sng" algn="ctr">
                      <a:solidFill>
                        <a:srgbClr val="E3E5E8"/>
                      </a:solidFill>
                      <a:prstDash val="solid"/>
                      <a:round/>
                      <a:headEnd type="none" w="med" len="med"/>
                      <a:tailEnd type="none" w="med" len="med"/>
                    </a:lnL>
                    <a:lnR w="12700" cap="flat" cmpd="sng" algn="ctr">
                      <a:solidFill>
                        <a:srgbClr val="E3E5E8"/>
                      </a:solidFill>
                      <a:prstDash val="solid"/>
                      <a:round/>
                      <a:headEnd type="none" w="med" len="med"/>
                      <a:tailEnd type="none" w="med" len="med"/>
                    </a:lnR>
                    <a:lnT w="12700" cap="flat" cmpd="sng" algn="ctr">
                      <a:solidFill>
                        <a:srgbClr val="E3E5E8"/>
                      </a:solidFill>
                      <a:prstDash val="solid"/>
                      <a:round/>
                      <a:headEnd type="none" w="med" len="med"/>
                      <a:tailEnd type="none" w="med" len="med"/>
                    </a:lnT>
                    <a:lnB w="12700" cap="flat" cmpd="sng" algn="ctr">
                      <a:solidFill>
                        <a:srgbClr val="E3E5E8"/>
                      </a:solidFill>
                      <a:prstDash val="solid"/>
                      <a:round/>
                      <a:headEnd type="none" w="med" len="med"/>
                      <a:tailEnd type="none" w="med" len="med"/>
                    </a:lnB>
                    <a:solidFill>
                      <a:srgbClr val="1C222E"/>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Avoided Cost</a:t>
                      </a:r>
                      <a:endParaRPr lang="en-US" sz="1100" dirty="0">
                        <a:latin typeface="Calibri" pitchFamily="34" charset="0"/>
                        <a:ea typeface="Calibri" pitchFamily="34" charset="0"/>
                        <a:cs typeface="Calibri" pitchFamily="34" charset="0"/>
                      </a:endParaRPr>
                    </a:p>
                  </a:txBody>
                  <a:tcPr anchor="ctr">
                    <a:lnL w="12700" cap="flat" cmpd="sng" algn="ctr">
                      <a:solidFill>
                        <a:srgbClr val="E3E5E8"/>
                      </a:solidFill>
                      <a:prstDash val="solid"/>
                      <a:round/>
                      <a:headEnd type="none" w="med" len="med"/>
                      <a:tailEnd type="none" w="med" len="med"/>
                    </a:lnL>
                    <a:lnR w="12700" cap="flat" cmpd="sng" algn="ctr">
                      <a:solidFill>
                        <a:srgbClr val="E3E5E8"/>
                      </a:solidFill>
                      <a:prstDash val="solid"/>
                      <a:round/>
                      <a:headEnd type="none" w="med" len="med"/>
                      <a:tailEnd type="none" w="med" len="med"/>
                    </a:lnR>
                    <a:lnT w="12700" cap="flat" cmpd="sng" algn="ctr">
                      <a:solidFill>
                        <a:srgbClr val="E3E5E8"/>
                      </a:solidFill>
                      <a:prstDash val="solid"/>
                      <a:round/>
                      <a:headEnd type="none" w="med" len="med"/>
                      <a:tailEnd type="none" w="med" len="med"/>
                    </a:lnT>
                    <a:lnB w="12700" cap="flat" cmpd="sng" algn="ctr">
                      <a:solidFill>
                        <a:srgbClr val="E3E5E8"/>
                      </a:solidFill>
                      <a:prstDash val="solid"/>
                      <a:round/>
                      <a:headEnd type="none" w="med" len="med"/>
                      <a:tailEnd type="none" w="med" len="med"/>
                    </a:lnB>
                    <a:solidFill>
                      <a:srgbClr val="1C222E"/>
                    </a:solidFill>
                  </a:tcPr>
                </a:tc>
              </a:tr>
              <a:tr h="438912">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Conservative</a:t>
                      </a:r>
                      <a:endParaRPr lang="en-US" sz="1100" dirty="0">
                        <a:latin typeface="Calibri" pitchFamily="34" charset="0"/>
                        <a:ea typeface="Calibri" pitchFamily="34" charset="0"/>
                        <a:cs typeface="Calibri" pitchFamily="34" charset="0"/>
                      </a:endParaRPr>
                    </a:p>
                  </a:txBody>
                  <a:tcPr anchor="ctr">
                    <a:lnL w="12700" cap="flat" cmpd="sng" algn="ctr">
                      <a:solidFill>
                        <a:srgbClr val="E3E5E8"/>
                      </a:solidFill>
                      <a:prstDash val="solid"/>
                      <a:round/>
                      <a:headEnd type="none" w="med" len="med"/>
                      <a:tailEnd type="none" w="med" len="med"/>
                    </a:lnL>
                    <a:lnR w="12700" cap="flat" cmpd="sng" algn="ctr">
                      <a:solidFill>
                        <a:srgbClr val="E3E5E8"/>
                      </a:solidFill>
                      <a:prstDash val="solid"/>
                      <a:round/>
                      <a:headEnd type="none" w="med" len="med"/>
                      <a:tailEnd type="none" w="med" len="med"/>
                    </a:lnR>
                    <a:lnT w="12700" cap="flat" cmpd="sng" algn="ctr">
                      <a:solidFill>
                        <a:srgbClr val="E3E5E8"/>
                      </a:solidFill>
                      <a:prstDash val="solid"/>
                      <a:round/>
                      <a:headEnd type="none" w="med" len="med"/>
                      <a:tailEnd type="none" w="med" len="med"/>
                    </a:lnT>
                    <a:lnB w="12700" cap="flat" cmpd="sng" algn="ctr">
                      <a:solidFill>
                        <a:srgbClr val="E3E5E8"/>
                      </a:solidFill>
                      <a:prstDash val="solid"/>
                      <a:round/>
                      <a:headEnd type="none" w="med" len="med"/>
                      <a:tailEnd type="none" w="med" len="med"/>
                    </a:lnB>
                    <a:solidFill>
                      <a:srgbClr val="FAFAFC"/>
                    </a:solidFill>
                  </a:tcPr>
                </a:tc>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15%</a:t>
                      </a:r>
                      <a:endParaRPr lang="en-US" sz="1100" dirty="0">
                        <a:latin typeface="Calibri" pitchFamily="34" charset="0"/>
                        <a:ea typeface="Calibri" pitchFamily="34" charset="0"/>
                        <a:cs typeface="Calibri" pitchFamily="34" charset="0"/>
                      </a:endParaRPr>
                    </a:p>
                  </a:txBody>
                  <a:tcPr anchor="ctr">
                    <a:lnL w="12700" cap="flat" cmpd="sng" algn="ctr">
                      <a:solidFill>
                        <a:srgbClr val="E3E5E8"/>
                      </a:solidFill>
                      <a:prstDash val="solid"/>
                      <a:round/>
                      <a:headEnd type="none" w="med" len="med"/>
                      <a:tailEnd type="none" w="med" len="med"/>
                    </a:lnL>
                    <a:lnR w="12700" cap="flat" cmpd="sng" algn="ctr">
                      <a:solidFill>
                        <a:srgbClr val="E3E5E8"/>
                      </a:solidFill>
                      <a:prstDash val="solid"/>
                      <a:round/>
                      <a:headEnd type="none" w="med" len="med"/>
                      <a:tailEnd type="none" w="med" len="med"/>
                    </a:lnR>
                    <a:lnT w="12700" cap="flat" cmpd="sng" algn="ctr">
                      <a:solidFill>
                        <a:srgbClr val="E3E5E8"/>
                      </a:solidFill>
                      <a:prstDash val="solid"/>
                      <a:round/>
                      <a:headEnd type="none" w="med" len="med"/>
                      <a:tailEnd type="none" w="med" len="med"/>
                    </a:lnT>
                    <a:lnB w="12700" cap="flat" cmpd="sng" algn="ctr">
                      <a:solidFill>
                        <a:srgbClr val="E3E5E8"/>
                      </a:solidFill>
                      <a:prstDash val="solid"/>
                      <a:round/>
                      <a:headEnd type="none" w="med" len="med"/>
                      <a:tailEnd type="none" w="med" len="med"/>
                    </a:lnB>
                    <a:solidFill>
                      <a:srgbClr val="FAFAFC"/>
                    </a:solidFill>
                  </a:tcPr>
                </a:tc>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~21</a:t>
                      </a:r>
                      <a:endParaRPr lang="en-US" sz="1100" dirty="0">
                        <a:latin typeface="Calibri" pitchFamily="34" charset="0"/>
                        <a:ea typeface="Calibri" pitchFamily="34" charset="0"/>
                        <a:cs typeface="Calibri" pitchFamily="34" charset="0"/>
                      </a:endParaRPr>
                    </a:p>
                  </a:txBody>
                  <a:tcPr anchor="ctr">
                    <a:lnL w="12700" cap="flat" cmpd="sng" algn="ctr">
                      <a:solidFill>
                        <a:srgbClr val="E3E5E8"/>
                      </a:solidFill>
                      <a:prstDash val="solid"/>
                      <a:round/>
                      <a:headEnd type="none" w="med" len="med"/>
                      <a:tailEnd type="none" w="med" len="med"/>
                    </a:lnL>
                    <a:lnR w="12700" cap="flat" cmpd="sng" algn="ctr">
                      <a:solidFill>
                        <a:srgbClr val="E3E5E8"/>
                      </a:solidFill>
                      <a:prstDash val="solid"/>
                      <a:round/>
                      <a:headEnd type="none" w="med" len="med"/>
                      <a:tailEnd type="none" w="med" len="med"/>
                    </a:lnR>
                    <a:lnT w="12700" cap="flat" cmpd="sng" algn="ctr">
                      <a:solidFill>
                        <a:srgbClr val="E3E5E8"/>
                      </a:solidFill>
                      <a:prstDash val="solid"/>
                      <a:round/>
                      <a:headEnd type="none" w="med" len="med"/>
                      <a:tailEnd type="none" w="med" len="med"/>
                    </a:lnT>
                    <a:lnB w="12700" cap="flat" cmpd="sng" algn="ctr">
                      <a:solidFill>
                        <a:srgbClr val="E3E5E8"/>
                      </a:solidFill>
                      <a:prstDash val="solid"/>
                      <a:round/>
                      <a:headEnd type="none" w="med" len="med"/>
                      <a:tailEnd type="none" w="med" len="med"/>
                    </a:lnB>
                    <a:solidFill>
                      <a:srgbClr val="FAFAFC"/>
                    </a:solidFill>
                  </a:tcPr>
                </a:tc>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16.1% → 14.7%  (–1.4 pts)</a:t>
                      </a:r>
                      <a:endParaRPr lang="en-US" sz="1100" dirty="0">
                        <a:latin typeface="Calibri" pitchFamily="34" charset="0"/>
                        <a:ea typeface="Calibri" pitchFamily="34" charset="0"/>
                        <a:cs typeface="Calibri" pitchFamily="34" charset="0"/>
                      </a:endParaRPr>
                    </a:p>
                  </a:txBody>
                  <a:tcPr anchor="ctr">
                    <a:lnL w="12700" cap="flat" cmpd="sng" algn="ctr">
                      <a:solidFill>
                        <a:srgbClr val="E3E5E8"/>
                      </a:solidFill>
                      <a:prstDash val="solid"/>
                      <a:round/>
                      <a:headEnd type="none" w="med" len="med"/>
                      <a:tailEnd type="none" w="med" len="med"/>
                    </a:lnL>
                    <a:lnR w="12700" cap="flat" cmpd="sng" algn="ctr">
                      <a:solidFill>
                        <a:srgbClr val="E3E5E8"/>
                      </a:solidFill>
                      <a:prstDash val="solid"/>
                      <a:round/>
                      <a:headEnd type="none" w="med" len="med"/>
                      <a:tailEnd type="none" w="med" len="med"/>
                    </a:lnR>
                    <a:lnT w="12700" cap="flat" cmpd="sng" algn="ctr">
                      <a:solidFill>
                        <a:srgbClr val="E3E5E8"/>
                      </a:solidFill>
                      <a:prstDash val="solid"/>
                      <a:round/>
                      <a:headEnd type="none" w="med" len="med"/>
                      <a:tailEnd type="none" w="med" len="med"/>
                    </a:lnT>
                    <a:lnB w="12700" cap="flat" cmpd="sng" algn="ctr">
                      <a:solidFill>
                        <a:srgbClr val="E3E5E8"/>
                      </a:solidFill>
                      <a:prstDash val="solid"/>
                      <a:round/>
                      <a:headEnd type="none" w="med" len="med"/>
                      <a:tailEnd type="none" w="med" len="med"/>
                    </a:lnB>
                    <a:solidFill>
                      <a:srgbClr val="FAFAFC"/>
                    </a:solidFill>
                  </a:tcPr>
                </a:tc>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$0.6M–$2.4M</a:t>
                      </a:r>
                      <a:endParaRPr lang="en-US" sz="1100" dirty="0">
                        <a:latin typeface="Calibri" pitchFamily="34" charset="0"/>
                        <a:ea typeface="Calibri" pitchFamily="34" charset="0"/>
                        <a:cs typeface="Calibri" pitchFamily="34" charset="0"/>
                      </a:endParaRPr>
                    </a:p>
                  </a:txBody>
                  <a:tcPr anchor="ctr">
                    <a:lnL w="12700" cap="flat" cmpd="sng" algn="ctr">
                      <a:solidFill>
                        <a:srgbClr val="E3E5E8"/>
                      </a:solidFill>
                      <a:prstDash val="solid"/>
                      <a:round/>
                      <a:headEnd type="none" w="med" len="med"/>
                      <a:tailEnd type="none" w="med" len="med"/>
                    </a:lnL>
                    <a:lnR w="12700" cap="flat" cmpd="sng" algn="ctr">
                      <a:solidFill>
                        <a:srgbClr val="E3E5E8"/>
                      </a:solidFill>
                      <a:prstDash val="solid"/>
                      <a:round/>
                      <a:headEnd type="none" w="med" len="med"/>
                      <a:tailEnd type="none" w="med" len="med"/>
                    </a:lnR>
                    <a:lnT w="12700" cap="flat" cmpd="sng" algn="ctr">
                      <a:solidFill>
                        <a:srgbClr val="E3E5E8"/>
                      </a:solidFill>
                      <a:prstDash val="solid"/>
                      <a:round/>
                      <a:headEnd type="none" w="med" len="med"/>
                      <a:tailEnd type="none" w="med" len="med"/>
                    </a:lnT>
                    <a:lnB w="12700" cap="flat" cmpd="sng" algn="ctr">
                      <a:solidFill>
                        <a:srgbClr val="E3E5E8"/>
                      </a:solidFill>
                      <a:prstDash val="solid"/>
                      <a:round/>
                      <a:headEnd type="none" w="med" len="med"/>
                      <a:tailEnd type="none" w="med" len="med"/>
                    </a:lnB>
                    <a:solidFill>
                      <a:srgbClr val="FAFAFC"/>
                    </a:solidFill>
                  </a:tcPr>
                </a:tc>
              </a:tr>
              <a:tr h="438912">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Likely</a:t>
                      </a:r>
                      <a:endParaRPr lang="en-US" sz="1100" dirty="0">
                        <a:latin typeface="Calibri" pitchFamily="34" charset="0"/>
                        <a:ea typeface="Calibri" pitchFamily="34" charset="0"/>
                        <a:cs typeface="Calibri" pitchFamily="34" charset="0"/>
                      </a:endParaRPr>
                    </a:p>
                  </a:txBody>
                  <a:tcPr anchor="ctr">
                    <a:lnL w="12700" cap="flat" cmpd="sng" algn="ctr">
                      <a:solidFill>
                        <a:srgbClr val="E3E5E8"/>
                      </a:solidFill>
                      <a:prstDash val="solid"/>
                      <a:round/>
                      <a:headEnd type="none" w="med" len="med"/>
                      <a:tailEnd type="none" w="med" len="med"/>
                    </a:lnL>
                    <a:lnR w="12700" cap="flat" cmpd="sng" algn="ctr">
                      <a:solidFill>
                        <a:srgbClr val="E3E5E8"/>
                      </a:solidFill>
                      <a:prstDash val="solid"/>
                      <a:round/>
                      <a:headEnd type="none" w="med" len="med"/>
                      <a:tailEnd type="none" w="med" len="med"/>
                    </a:lnR>
                    <a:lnT w="12700" cap="flat" cmpd="sng" algn="ctr">
                      <a:solidFill>
                        <a:srgbClr val="E3E5E8"/>
                      </a:solidFill>
                      <a:prstDash val="solid"/>
                      <a:round/>
                      <a:headEnd type="none" w="med" len="med"/>
                      <a:tailEnd type="none" w="med" len="med"/>
                    </a:lnT>
                    <a:lnB w="12700" cap="flat" cmpd="sng" algn="ctr">
                      <a:solidFill>
                        <a:srgbClr val="E3E5E8"/>
                      </a:solidFill>
                      <a:prstDash val="solid"/>
                      <a:round/>
                      <a:headEnd type="none" w="med" len="med"/>
                      <a:tailEnd type="none" w="med" len="med"/>
                    </a:lnB>
                    <a:solidFill>
                      <a:srgbClr val="FFFFFF"/>
                    </a:solidFill>
                  </a:tcPr>
                </a:tc>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25%</a:t>
                      </a:r>
                      <a:endParaRPr lang="en-US" sz="1100" dirty="0">
                        <a:latin typeface="Calibri" pitchFamily="34" charset="0"/>
                        <a:ea typeface="Calibri" pitchFamily="34" charset="0"/>
                        <a:cs typeface="Calibri" pitchFamily="34" charset="0"/>
                      </a:endParaRPr>
                    </a:p>
                  </a:txBody>
                  <a:tcPr anchor="ctr">
                    <a:lnL w="12700" cap="flat" cmpd="sng" algn="ctr">
                      <a:solidFill>
                        <a:srgbClr val="E3E5E8"/>
                      </a:solidFill>
                      <a:prstDash val="solid"/>
                      <a:round/>
                      <a:headEnd type="none" w="med" len="med"/>
                      <a:tailEnd type="none" w="med" len="med"/>
                    </a:lnL>
                    <a:lnR w="12700" cap="flat" cmpd="sng" algn="ctr">
                      <a:solidFill>
                        <a:srgbClr val="E3E5E8"/>
                      </a:solidFill>
                      <a:prstDash val="solid"/>
                      <a:round/>
                      <a:headEnd type="none" w="med" len="med"/>
                      <a:tailEnd type="none" w="med" len="med"/>
                    </a:lnR>
                    <a:lnT w="12700" cap="flat" cmpd="sng" algn="ctr">
                      <a:solidFill>
                        <a:srgbClr val="E3E5E8"/>
                      </a:solidFill>
                      <a:prstDash val="solid"/>
                      <a:round/>
                      <a:headEnd type="none" w="med" len="med"/>
                      <a:tailEnd type="none" w="med" len="med"/>
                    </a:lnT>
                    <a:lnB w="12700" cap="flat" cmpd="sng" algn="ctr">
                      <a:solidFill>
                        <a:srgbClr val="E3E5E8"/>
                      </a:solidFill>
                      <a:prstDash val="solid"/>
                      <a:round/>
                      <a:headEnd type="none" w="med" len="med"/>
                      <a:tailEnd type="none" w="med" len="med"/>
                    </a:lnB>
                    <a:solidFill>
                      <a:srgbClr val="FFFFFF"/>
                    </a:solidFill>
                  </a:tcPr>
                </a:tc>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~35</a:t>
                      </a:r>
                      <a:endParaRPr lang="en-US" sz="1100" dirty="0">
                        <a:latin typeface="Calibri" pitchFamily="34" charset="0"/>
                        <a:ea typeface="Calibri" pitchFamily="34" charset="0"/>
                        <a:cs typeface="Calibri" pitchFamily="34" charset="0"/>
                      </a:endParaRPr>
                    </a:p>
                  </a:txBody>
                  <a:tcPr anchor="ctr">
                    <a:lnL w="12700" cap="flat" cmpd="sng" algn="ctr">
                      <a:solidFill>
                        <a:srgbClr val="E3E5E8"/>
                      </a:solidFill>
                      <a:prstDash val="solid"/>
                      <a:round/>
                      <a:headEnd type="none" w="med" len="med"/>
                      <a:tailEnd type="none" w="med" len="med"/>
                    </a:lnL>
                    <a:lnR w="12700" cap="flat" cmpd="sng" algn="ctr">
                      <a:solidFill>
                        <a:srgbClr val="E3E5E8"/>
                      </a:solidFill>
                      <a:prstDash val="solid"/>
                      <a:round/>
                      <a:headEnd type="none" w="med" len="med"/>
                      <a:tailEnd type="none" w="med" len="med"/>
                    </a:lnR>
                    <a:lnT w="12700" cap="flat" cmpd="sng" algn="ctr">
                      <a:solidFill>
                        <a:srgbClr val="E3E5E8"/>
                      </a:solidFill>
                      <a:prstDash val="solid"/>
                      <a:round/>
                      <a:headEnd type="none" w="med" len="med"/>
                      <a:tailEnd type="none" w="med" len="med"/>
                    </a:lnT>
                    <a:lnB w="12700" cap="flat" cmpd="sng" algn="ctr">
                      <a:solidFill>
                        <a:srgbClr val="E3E5E8"/>
                      </a:solidFill>
                      <a:prstDash val="solid"/>
                      <a:round/>
                      <a:headEnd type="none" w="med" len="med"/>
                      <a:tailEnd type="none" w="med" len="med"/>
                    </a:lnB>
                    <a:solidFill>
                      <a:srgbClr val="FFFFFF"/>
                    </a:solidFill>
                  </a:tcPr>
                </a:tc>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16.1% → 13.7%  (–2.4 pts)</a:t>
                      </a:r>
                      <a:endParaRPr lang="en-US" sz="1100" dirty="0">
                        <a:latin typeface="Calibri" pitchFamily="34" charset="0"/>
                        <a:ea typeface="Calibri" pitchFamily="34" charset="0"/>
                        <a:cs typeface="Calibri" pitchFamily="34" charset="0"/>
                      </a:endParaRPr>
                    </a:p>
                  </a:txBody>
                  <a:tcPr anchor="ctr">
                    <a:lnL w="12700" cap="flat" cmpd="sng" algn="ctr">
                      <a:solidFill>
                        <a:srgbClr val="E3E5E8"/>
                      </a:solidFill>
                      <a:prstDash val="solid"/>
                      <a:round/>
                      <a:headEnd type="none" w="med" len="med"/>
                      <a:tailEnd type="none" w="med" len="med"/>
                    </a:lnL>
                    <a:lnR w="12700" cap="flat" cmpd="sng" algn="ctr">
                      <a:solidFill>
                        <a:srgbClr val="E3E5E8"/>
                      </a:solidFill>
                      <a:prstDash val="solid"/>
                      <a:round/>
                      <a:headEnd type="none" w="med" len="med"/>
                      <a:tailEnd type="none" w="med" len="med"/>
                    </a:lnR>
                    <a:lnT w="12700" cap="flat" cmpd="sng" algn="ctr">
                      <a:solidFill>
                        <a:srgbClr val="E3E5E8"/>
                      </a:solidFill>
                      <a:prstDash val="solid"/>
                      <a:round/>
                      <a:headEnd type="none" w="med" len="med"/>
                      <a:tailEnd type="none" w="med" len="med"/>
                    </a:lnT>
                    <a:lnB w="12700" cap="flat" cmpd="sng" algn="ctr">
                      <a:solidFill>
                        <a:srgbClr val="E3E5E8"/>
                      </a:solidFill>
                      <a:prstDash val="solid"/>
                      <a:round/>
                      <a:headEnd type="none" w="med" len="med"/>
                      <a:tailEnd type="none" w="med" len="med"/>
                    </a:lnB>
                    <a:solidFill>
                      <a:srgbClr val="FFFFFF"/>
                    </a:solidFill>
                  </a:tcPr>
                </a:tc>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$1.0M–$4.0M</a:t>
                      </a:r>
                      <a:endParaRPr lang="en-US" sz="1100" dirty="0">
                        <a:latin typeface="Calibri" pitchFamily="34" charset="0"/>
                        <a:ea typeface="Calibri" pitchFamily="34" charset="0"/>
                        <a:cs typeface="Calibri" pitchFamily="34" charset="0"/>
                      </a:endParaRPr>
                    </a:p>
                  </a:txBody>
                  <a:tcPr anchor="ctr">
                    <a:lnL w="12700" cap="flat" cmpd="sng" algn="ctr">
                      <a:solidFill>
                        <a:srgbClr val="E3E5E8"/>
                      </a:solidFill>
                      <a:prstDash val="solid"/>
                      <a:round/>
                      <a:headEnd type="none" w="med" len="med"/>
                      <a:tailEnd type="none" w="med" len="med"/>
                    </a:lnL>
                    <a:lnR w="12700" cap="flat" cmpd="sng" algn="ctr">
                      <a:solidFill>
                        <a:srgbClr val="E3E5E8"/>
                      </a:solidFill>
                      <a:prstDash val="solid"/>
                      <a:round/>
                      <a:headEnd type="none" w="med" len="med"/>
                      <a:tailEnd type="none" w="med" len="med"/>
                    </a:lnR>
                    <a:lnT w="12700" cap="flat" cmpd="sng" algn="ctr">
                      <a:solidFill>
                        <a:srgbClr val="E3E5E8"/>
                      </a:solidFill>
                      <a:prstDash val="solid"/>
                      <a:round/>
                      <a:headEnd type="none" w="med" len="med"/>
                      <a:tailEnd type="none" w="med" len="med"/>
                    </a:lnT>
                    <a:lnB w="12700" cap="flat" cmpd="sng" algn="ctr">
                      <a:solidFill>
                        <a:srgbClr val="E3E5E8"/>
                      </a:solidFill>
                      <a:prstDash val="solid"/>
                      <a:round/>
                      <a:headEnd type="none" w="med" len="med"/>
                      <a:tailEnd type="none" w="med" len="med"/>
                    </a:lnB>
                    <a:solidFill>
                      <a:srgbClr val="FFFFFF"/>
                    </a:solidFill>
                  </a:tcPr>
                </a:tc>
              </a:tr>
              <a:tr h="438912">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Matches headcount-slide assumption</a:t>
                      </a:r>
                      <a:endParaRPr lang="en-US" sz="1100" dirty="0">
                        <a:latin typeface="Calibri" pitchFamily="34" charset="0"/>
                        <a:ea typeface="Calibri" pitchFamily="34" charset="0"/>
                        <a:cs typeface="Calibri" pitchFamily="34" charset="0"/>
                      </a:endParaRPr>
                    </a:p>
                  </a:txBody>
                  <a:tcPr anchor="ctr">
                    <a:lnL w="12700" cap="flat" cmpd="sng" algn="ctr">
                      <a:solidFill>
                        <a:srgbClr val="E3E5E8"/>
                      </a:solidFill>
                      <a:prstDash val="solid"/>
                      <a:round/>
                      <a:headEnd type="none" w="med" len="med"/>
                      <a:tailEnd type="none" w="med" len="med"/>
                    </a:lnL>
                    <a:lnR w="12700" cap="flat" cmpd="sng" algn="ctr">
                      <a:solidFill>
                        <a:srgbClr val="E3E5E8"/>
                      </a:solidFill>
                      <a:prstDash val="solid"/>
                      <a:round/>
                      <a:headEnd type="none" w="med" len="med"/>
                      <a:tailEnd type="none" w="med" len="med"/>
                    </a:lnR>
                    <a:lnT w="12700" cap="flat" cmpd="sng" algn="ctr">
                      <a:solidFill>
                        <a:srgbClr val="E3E5E8"/>
                      </a:solidFill>
                      <a:prstDash val="solid"/>
                      <a:round/>
                      <a:headEnd type="none" w="med" len="med"/>
                      <a:tailEnd type="none" w="med" len="med"/>
                    </a:lnT>
                    <a:lnB w="12700" cap="flat" cmpd="sng" algn="ctr">
                      <a:solidFill>
                        <a:srgbClr val="E3E5E8"/>
                      </a:solidFill>
                      <a:prstDash val="solid"/>
                      <a:round/>
                      <a:headEnd type="none" w="med" len="med"/>
                      <a:tailEnd type="none" w="med" len="med"/>
                    </a:lnB>
                    <a:solidFill>
                      <a:srgbClr val="FAFAFC"/>
                    </a:solidFill>
                  </a:tcPr>
                </a:tc>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33%</a:t>
                      </a:r>
                      <a:endParaRPr lang="en-US" sz="1100" dirty="0">
                        <a:latin typeface="Calibri" pitchFamily="34" charset="0"/>
                        <a:ea typeface="Calibri" pitchFamily="34" charset="0"/>
                        <a:cs typeface="Calibri" pitchFamily="34" charset="0"/>
                      </a:endParaRPr>
                    </a:p>
                  </a:txBody>
                  <a:tcPr anchor="ctr">
                    <a:lnL w="12700" cap="flat" cmpd="sng" algn="ctr">
                      <a:solidFill>
                        <a:srgbClr val="E3E5E8"/>
                      </a:solidFill>
                      <a:prstDash val="solid"/>
                      <a:round/>
                      <a:headEnd type="none" w="med" len="med"/>
                      <a:tailEnd type="none" w="med" len="med"/>
                    </a:lnL>
                    <a:lnR w="12700" cap="flat" cmpd="sng" algn="ctr">
                      <a:solidFill>
                        <a:srgbClr val="E3E5E8"/>
                      </a:solidFill>
                      <a:prstDash val="solid"/>
                      <a:round/>
                      <a:headEnd type="none" w="med" len="med"/>
                      <a:tailEnd type="none" w="med" len="med"/>
                    </a:lnR>
                    <a:lnT w="12700" cap="flat" cmpd="sng" algn="ctr">
                      <a:solidFill>
                        <a:srgbClr val="E3E5E8"/>
                      </a:solidFill>
                      <a:prstDash val="solid"/>
                      <a:round/>
                      <a:headEnd type="none" w="med" len="med"/>
                      <a:tailEnd type="none" w="med" len="med"/>
                    </a:lnT>
                    <a:lnB w="12700" cap="flat" cmpd="sng" algn="ctr">
                      <a:solidFill>
                        <a:srgbClr val="E3E5E8"/>
                      </a:solidFill>
                      <a:prstDash val="solid"/>
                      <a:round/>
                      <a:headEnd type="none" w="med" len="med"/>
                      <a:tailEnd type="none" w="med" len="med"/>
                    </a:lnB>
                    <a:solidFill>
                      <a:srgbClr val="FAFAFC"/>
                    </a:solidFill>
                  </a:tcPr>
                </a:tc>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~47</a:t>
                      </a:r>
                      <a:endParaRPr lang="en-US" sz="1100" dirty="0">
                        <a:latin typeface="Calibri" pitchFamily="34" charset="0"/>
                        <a:ea typeface="Calibri" pitchFamily="34" charset="0"/>
                        <a:cs typeface="Calibri" pitchFamily="34" charset="0"/>
                      </a:endParaRPr>
                    </a:p>
                  </a:txBody>
                  <a:tcPr anchor="ctr">
                    <a:lnL w="12700" cap="flat" cmpd="sng" algn="ctr">
                      <a:solidFill>
                        <a:srgbClr val="E3E5E8"/>
                      </a:solidFill>
                      <a:prstDash val="solid"/>
                      <a:round/>
                      <a:headEnd type="none" w="med" len="med"/>
                      <a:tailEnd type="none" w="med" len="med"/>
                    </a:lnL>
                    <a:lnR w="12700" cap="flat" cmpd="sng" algn="ctr">
                      <a:solidFill>
                        <a:srgbClr val="E3E5E8"/>
                      </a:solidFill>
                      <a:prstDash val="solid"/>
                      <a:round/>
                      <a:headEnd type="none" w="med" len="med"/>
                      <a:tailEnd type="none" w="med" len="med"/>
                    </a:lnR>
                    <a:lnT w="12700" cap="flat" cmpd="sng" algn="ctr">
                      <a:solidFill>
                        <a:srgbClr val="E3E5E8"/>
                      </a:solidFill>
                      <a:prstDash val="solid"/>
                      <a:round/>
                      <a:headEnd type="none" w="med" len="med"/>
                      <a:tailEnd type="none" w="med" len="med"/>
                    </a:lnT>
                    <a:lnB w="12700" cap="flat" cmpd="sng" algn="ctr">
                      <a:solidFill>
                        <a:srgbClr val="E3E5E8"/>
                      </a:solidFill>
                      <a:prstDash val="solid"/>
                      <a:round/>
                      <a:headEnd type="none" w="med" len="med"/>
                      <a:tailEnd type="none" w="med" len="med"/>
                    </a:lnB>
                    <a:solidFill>
                      <a:srgbClr val="FAFAFC"/>
                    </a:solidFill>
                  </a:tcPr>
                </a:tc>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16.1% → 13.0%  (–3.2 pts)</a:t>
                      </a:r>
                      <a:endParaRPr lang="en-US" sz="1100" dirty="0">
                        <a:latin typeface="Calibri" pitchFamily="34" charset="0"/>
                        <a:ea typeface="Calibri" pitchFamily="34" charset="0"/>
                        <a:cs typeface="Calibri" pitchFamily="34" charset="0"/>
                      </a:endParaRPr>
                    </a:p>
                  </a:txBody>
                  <a:tcPr anchor="ctr">
                    <a:lnL w="12700" cap="flat" cmpd="sng" algn="ctr">
                      <a:solidFill>
                        <a:srgbClr val="E3E5E8"/>
                      </a:solidFill>
                      <a:prstDash val="solid"/>
                      <a:round/>
                      <a:headEnd type="none" w="med" len="med"/>
                      <a:tailEnd type="none" w="med" len="med"/>
                    </a:lnL>
                    <a:lnR w="12700" cap="flat" cmpd="sng" algn="ctr">
                      <a:solidFill>
                        <a:srgbClr val="E3E5E8"/>
                      </a:solidFill>
                      <a:prstDash val="solid"/>
                      <a:round/>
                      <a:headEnd type="none" w="med" len="med"/>
                      <a:tailEnd type="none" w="med" len="med"/>
                    </a:lnR>
                    <a:lnT w="12700" cap="flat" cmpd="sng" algn="ctr">
                      <a:solidFill>
                        <a:srgbClr val="E3E5E8"/>
                      </a:solidFill>
                      <a:prstDash val="solid"/>
                      <a:round/>
                      <a:headEnd type="none" w="med" len="med"/>
                      <a:tailEnd type="none" w="med" len="med"/>
                    </a:lnT>
                    <a:lnB w="12700" cap="flat" cmpd="sng" algn="ctr">
                      <a:solidFill>
                        <a:srgbClr val="E3E5E8"/>
                      </a:solidFill>
                      <a:prstDash val="solid"/>
                      <a:round/>
                      <a:headEnd type="none" w="med" len="med"/>
                      <a:tailEnd type="none" w="med" len="med"/>
                    </a:lnB>
                    <a:solidFill>
                      <a:srgbClr val="FAFAFC"/>
                    </a:solidFill>
                  </a:tcPr>
                </a:tc>
                <a:tc>
                  <a:txBody>
                    <a:bodyPr/>
                    <a:lstStyle/>
                    <a:p>
                      <a:pPr marL="0" indent="0">
                        <a:buNone/>
                      </a:pPr>
                      <a:r>
                        <a:rPr lang="en-US" sz="1100" dirty="0">
                          <a:solidFill>
                            <a:srgbClr val="1A1A1A"/>
                          </a:solidFill>
                          <a:latin typeface="Calibri" pitchFamily="34" charset="0"/>
                          <a:ea typeface="Calibri" pitchFamily="34" charset="-122"/>
                          <a:cs typeface="Calibri" pitchFamily="34" charset="-120"/>
                        </a:rPr>
                        <a:t>$1.3M–$5.3M</a:t>
                      </a:r>
                      <a:endParaRPr lang="en-US" sz="1100" dirty="0">
                        <a:latin typeface="Calibri" pitchFamily="34" charset="0"/>
                        <a:ea typeface="Calibri" pitchFamily="34" charset="0"/>
                        <a:cs typeface="Calibri" pitchFamily="34" charset="0"/>
                      </a:endParaRPr>
                    </a:p>
                  </a:txBody>
                  <a:tcPr anchor="ctr">
                    <a:lnL w="12700" cap="flat" cmpd="sng" algn="ctr">
                      <a:solidFill>
                        <a:srgbClr val="E3E5E8"/>
                      </a:solidFill>
                      <a:prstDash val="solid"/>
                      <a:round/>
                      <a:headEnd type="none" w="med" len="med"/>
                      <a:tailEnd type="none" w="med" len="med"/>
                    </a:lnL>
                    <a:lnR w="12700" cap="flat" cmpd="sng" algn="ctr">
                      <a:solidFill>
                        <a:srgbClr val="E3E5E8"/>
                      </a:solidFill>
                      <a:prstDash val="solid"/>
                      <a:round/>
                      <a:headEnd type="none" w="med" len="med"/>
                      <a:tailEnd type="none" w="med" len="med"/>
                    </a:lnR>
                    <a:lnT w="12700" cap="flat" cmpd="sng" algn="ctr">
                      <a:solidFill>
                        <a:srgbClr val="E3E5E8"/>
                      </a:solidFill>
                      <a:prstDash val="solid"/>
                      <a:round/>
                      <a:headEnd type="none" w="med" len="med"/>
                      <a:tailEnd type="none" w="med" len="med"/>
                    </a:lnT>
                    <a:lnB w="12700" cap="flat" cmpd="sng" algn="ctr">
                      <a:solidFill>
                        <a:srgbClr val="E3E5E8"/>
                      </a:solidFill>
                      <a:prstDash val="solid"/>
                      <a:round/>
                      <a:headEnd type="none" w="med" len="med"/>
                      <a:tailEnd type="none" w="med" len="med"/>
                    </a:lnB>
                    <a:solidFill>
                      <a:srgbClr val="FAFAFC"/>
                    </a:solidFill>
                  </a:tcPr>
                </a:tc>
              </a:tr>
            </a:tbl>
          </a:graphicData>
        </a:graphic>
      </p:graphicFrame>
      <p:sp>
        <p:nvSpPr>
          <p:cNvPr id="6" name="Shape 3"/>
          <p:cNvSpPr/>
          <p:nvPr/>
        </p:nvSpPr>
        <p:spPr>
          <a:xfrm>
            <a:off x="822960" y="3977640"/>
            <a:ext cx="10332720" cy="1051560"/>
          </a:xfrm>
          <a:prstGeom prst="roundRect">
            <a:avLst>
              <a:gd name="adj" fmla="val 6957"/>
            </a:avLst>
          </a:prstGeom>
          <a:solidFill>
            <a:srgbClr val="F2ECE0"/>
          </a:solidFill>
          <a:ln w="19050">
            <a:solidFill>
              <a:srgbClr val="AD8A57"/>
            </a:solidFill>
            <a:prstDash val="solid"/>
          </a:ln>
        </p:spPr>
      </p:sp>
      <p:sp>
        <p:nvSpPr>
          <p:cNvPr id="7" name="Text 4"/>
          <p:cNvSpPr/>
          <p:nvPr/>
        </p:nvSpPr>
        <p:spPr>
          <a:xfrm>
            <a:off x="1097280" y="4133088"/>
            <a:ext cx="9784080" cy="777240"/>
          </a:xfrm>
          <a:prstGeom prst="rect">
            <a:avLst/>
          </a:prstGeom>
          <a:noFill/>
        </p:spPr>
        <p:txBody>
          <a:bodyPr wrap="square" rtlCol="0" anchor="t"/>
          <a:lstStyle/>
          <a:p>
            <a:pPr marL="0" indent="0">
              <a:buNone/>
            </a:pPr>
            <a:r>
              <a:rPr lang="en-US" sz="1150" b="1" dirty="0">
                <a:solidFill>
                  <a:srgbClr val="AD8A57"/>
                </a:solidFill>
                <a:latin typeface="Calibri" pitchFamily="34" charset="0"/>
                <a:ea typeface="Calibri" pitchFamily="34" charset="-122"/>
                <a:cs typeface="Calibri" pitchFamily="34" charset="-120"/>
              </a:rPr>
              <a:t>The Ask:  </a:t>
            </a:r>
            <a:r>
              <a:rPr lang="en-US" sz="1150" dirty="0">
                <a:solidFill>
                  <a:srgbClr val="565A61"/>
                </a:solidFill>
                <a:latin typeface="Calibri" pitchFamily="34" charset="0"/>
                <a:ea typeface="Calibri" pitchFamily="34" charset="-122"/>
                <a:cs typeface="Calibri" pitchFamily="34" charset="-120"/>
              </a:rPr>
              <a:t>Fund a one-quarter pilot on the flagged high-risk group. Measure the real stay rate against a comparable prior-period cohort, and replace this assumption with a measured number — a stronger case than a static projection alone.</a:t>
            </a:r>
            <a:endParaRPr lang="en-US" sz="1150" dirty="0"/>
          </a:p>
        </p:txBody>
      </p:sp>
      <p:sp>
        <p:nvSpPr>
          <p:cNvPr id="8" name="Text 5"/>
          <p:cNvSpPr/>
          <p:nvPr/>
        </p:nvSpPr>
        <p:spPr>
          <a:xfrm>
            <a:off x="822960" y="5166360"/>
            <a:ext cx="10332720" cy="685800"/>
          </a:xfrm>
          <a:prstGeom prst="rect">
            <a:avLst/>
          </a:prstGeom>
          <a:noFill/>
        </p:spPr>
        <p:txBody>
          <a:bodyPr wrap="square" rtlCol="0" anchor="t"/>
          <a:lstStyle/>
          <a:p>
            <a:pPr marL="0" indent="0">
              <a:buNone/>
            </a:pPr>
            <a:r>
              <a:rPr lang="en-US" sz="950" i="1" dirty="0">
                <a:solidFill>
                  <a:srgbClr val="8B8F94"/>
                </a:solidFill>
                <a:latin typeface="Calibri" pitchFamily="34" charset="0"/>
                <a:ea typeface="Calibri" pitchFamily="34" charset="-122"/>
                <a:cs typeface="Calibri" pitchFamily="34" charset="-120"/>
              </a:rPr>
              <a:t>Company-wide figures scale this dataset's real test-set performance (59.6% recall) across all 1,470 employees. Avoided cost uses SHRM's 50–200% of average salary ($57K) replacement-cost benchmark — the same source used on the headcount slide. These are modeled scenarios, not guarantees.</a:t>
            </a:r>
            <a:endParaRPr lang="en-US" sz="950" dirty="0"/>
          </a:p>
        </p:txBody>
      </p:sp>
      <p:sp>
        <p:nvSpPr>
          <p:cNvPr id="9" name="Text 6"/>
          <p:cNvSpPr/>
          <p:nvPr/>
        </p:nvSpPr>
        <p:spPr>
          <a:xfrm>
            <a:off x="457200" y="6473952"/>
            <a:ext cx="7315200" cy="274320"/>
          </a:xfrm>
          <a:prstGeom prst="rect">
            <a:avLst/>
          </a:prstGeom>
          <a:noFill/>
        </p:spPr>
        <p:txBody>
          <a:bodyPr wrap="square" rtlCol="0" anchor="ctr"/>
          <a:lstStyle/>
          <a:p>
            <a:pPr marL="0" indent="0">
              <a:buNone/>
            </a:pPr>
            <a:r>
              <a:rPr lang="en-US" sz="900" dirty="0">
                <a:solidFill>
                  <a:srgbClr val="8B8F94"/>
                </a:solidFill>
                <a:latin typeface="Calibri" pitchFamily="34" charset="0"/>
                <a:ea typeface="Calibri" pitchFamily="34" charset="-122"/>
                <a:cs typeface="Calibri" pitchFamily="34" charset="-120"/>
              </a:rPr>
              <a:t>Employee Flight-Risk Signal  ·  For HR Leadership</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22960" y="548640"/>
            <a:ext cx="8229600" cy="274320"/>
          </a:xfrm>
          <a:prstGeom prst="rect">
            <a:avLst/>
          </a:prstGeom>
          <a:noFill/>
        </p:spPr>
        <p:txBody>
          <a:bodyPr wrap="square" rtlCol="0" anchor="ctr"/>
          <a:lstStyle/>
          <a:p>
            <a:pPr marL="0" indent="0">
              <a:buNone/>
            </a:pPr>
            <a:r>
              <a:rPr lang="en-US" sz="1100" b="1" kern="0" spc="200" dirty="0">
                <a:solidFill>
                  <a:srgbClr val="AD8A57"/>
                </a:solidFill>
                <a:latin typeface="Calibri" pitchFamily="34" charset="0"/>
                <a:ea typeface="Calibri" pitchFamily="34" charset="-122"/>
                <a:cs typeface="Calibri" pitchFamily="34" charset="-120"/>
              </a:rPr>
              <a:t>SECTION 04 · WHAT TO DO NEXT</a:t>
            </a:r>
            <a:endParaRPr lang="en-US" sz="1100" dirty="0"/>
          </a:p>
        </p:txBody>
      </p:sp>
      <p:sp>
        <p:nvSpPr>
          <p:cNvPr id="3" name="Text 1"/>
          <p:cNvSpPr/>
          <p:nvPr/>
        </p:nvSpPr>
        <p:spPr>
          <a:xfrm>
            <a:off x="822960" y="868680"/>
            <a:ext cx="10058400" cy="548640"/>
          </a:xfrm>
          <a:prstGeom prst="rect">
            <a:avLst/>
          </a:prstGeom>
          <a:noFill/>
        </p:spPr>
        <p:txBody>
          <a:bodyPr wrap="square" rtlCol="0" anchor="ctr"/>
          <a:lstStyle/>
          <a:p>
            <a:pPr marL="0" indent="0">
              <a:buNone/>
            </a:pPr>
            <a:r>
              <a:rPr lang="en-US" sz="2700" b="1" dirty="0">
                <a:solidFill>
                  <a:srgbClr val="1A1A1A"/>
                </a:solidFill>
                <a:latin typeface="Calibri" pitchFamily="34" charset="0"/>
                <a:ea typeface="Calibri" pitchFamily="34" charset="-122"/>
                <a:cs typeface="Calibri" pitchFamily="34" charset="-120"/>
              </a:rPr>
              <a:t>What This Isn't — Said Plainly</a:t>
            </a:r>
            <a:endParaRPr lang="en-US" sz="2700" dirty="0"/>
          </a:p>
        </p:txBody>
      </p:sp>
      <p:sp>
        <p:nvSpPr>
          <p:cNvPr id="4" name="Text 2"/>
          <p:cNvSpPr/>
          <p:nvPr/>
        </p:nvSpPr>
        <p:spPr>
          <a:xfrm>
            <a:off x="822960" y="1463040"/>
            <a:ext cx="10332720" cy="365760"/>
          </a:xfrm>
          <a:prstGeom prst="rect">
            <a:avLst/>
          </a:prstGeom>
          <a:noFill/>
        </p:spPr>
        <p:txBody>
          <a:bodyPr wrap="square" rtlCol="0" anchor="ctr"/>
          <a:lstStyle/>
          <a:p>
            <a:pPr marL="0" indent="0">
              <a:buNone/>
            </a:pPr>
            <a:r>
              <a:rPr lang="en-US" sz="1350" dirty="0">
                <a:solidFill>
                  <a:srgbClr val="565A61"/>
                </a:solidFill>
                <a:latin typeface="Calibri" pitchFamily="34" charset="0"/>
                <a:ea typeface="Calibri" pitchFamily="34" charset="-122"/>
                <a:cs typeface="Calibri" pitchFamily="34" charset="-120"/>
              </a:rPr>
              <a:t>Worth being upfront about before anyone treats this as more than it is.</a:t>
            </a:r>
            <a:endParaRPr lang="en-US" sz="1350" dirty="0"/>
          </a:p>
        </p:txBody>
      </p:sp>
      <p:sp>
        <p:nvSpPr>
          <p:cNvPr id="5" name="Shape 3"/>
          <p:cNvSpPr/>
          <p:nvPr/>
        </p:nvSpPr>
        <p:spPr>
          <a:xfrm>
            <a:off x="822960" y="2148840"/>
            <a:ext cx="5074920" cy="1691640"/>
          </a:xfrm>
          <a:prstGeom prst="roundRect">
            <a:avLst>
              <a:gd name="adj" fmla="val 5405"/>
            </a:avLst>
          </a:prstGeom>
          <a:solidFill>
            <a:srgbClr val="FAFAFC"/>
          </a:solidFill>
          <a:ln w="12700">
            <a:solidFill>
              <a:srgbClr val="E3E5E8"/>
            </a:solidFill>
            <a:prstDash val="solid"/>
          </a:ln>
        </p:spPr>
      </p:sp>
      <p:sp>
        <p:nvSpPr>
          <p:cNvPr id="6" name="Shape 4"/>
          <p:cNvSpPr/>
          <p:nvPr/>
        </p:nvSpPr>
        <p:spPr>
          <a:xfrm>
            <a:off x="1097280" y="2404872"/>
            <a:ext cx="201168" cy="201168"/>
          </a:xfrm>
          <a:prstGeom prst="ellipse">
            <a:avLst/>
          </a:prstGeom>
          <a:solidFill>
            <a:srgbClr val="3E6B8A"/>
          </a:solidFill>
        </p:spPr>
      </p:sp>
      <p:sp>
        <p:nvSpPr>
          <p:cNvPr id="7" name="Text 5"/>
          <p:cNvSpPr/>
          <p:nvPr/>
        </p:nvSpPr>
        <p:spPr>
          <a:xfrm>
            <a:off x="1417320" y="2331720"/>
            <a:ext cx="4206240" cy="365760"/>
          </a:xfrm>
          <a:prstGeom prst="rect">
            <a:avLst/>
          </a:prstGeom>
          <a:noFill/>
        </p:spPr>
        <p:txBody>
          <a:bodyPr wrap="square" rtlCol="0" anchor="ctr"/>
          <a:lstStyle/>
          <a:p>
            <a:pPr marL="0" indent="0">
              <a:buNone/>
            </a:pPr>
            <a:r>
              <a:rPr lang="en-US" sz="1500" b="1" dirty="0">
                <a:solidFill>
                  <a:srgbClr val="1A1A1A"/>
                </a:solidFill>
                <a:latin typeface="Calibri" pitchFamily="34" charset="0"/>
                <a:ea typeface="Calibri" pitchFamily="34" charset="-122"/>
                <a:cs typeface="Calibri" pitchFamily="34" charset="-120"/>
              </a:rPr>
              <a:t>Not a certainty</a:t>
            </a:r>
            <a:endParaRPr lang="en-US" sz="1500" dirty="0"/>
          </a:p>
        </p:txBody>
      </p:sp>
      <p:sp>
        <p:nvSpPr>
          <p:cNvPr id="8" name="Text 6"/>
          <p:cNvSpPr/>
          <p:nvPr/>
        </p:nvSpPr>
        <p:spPr>
          <a:xfrm>
            <a:off x="1097280" y="2743200"/>
            <a:ext cx="4526280" cy="960120"/>
          </a:xfrm>
          <a:prstGeom prst="rect">
            <a:avLst/>
          </a:prstGeom>
          <a:noFill/>
        </p:spPr>
        <p:txBody>
          <a:bodyPr wrap="square" rtlCol="0" anchor="ctr"/>
          <a:lstStyle/>
          <a:p>
            <a:pPr marL="0" indent="0">
              <a:buNone/>
            </a:pPr>
            <a:r>
              <a:rPr lang="en-US" sz="1150" dirty="0">
                <a:solidFill>
                  <a:srgbClr val="565A61"/>
                </a:solidFill>
                <a:latin typeface="Calibri" pitchFamily="34" charset="0"/>
                <a:ea typeface="Calibri" pitchFamily="34" charset="-122"/>
                <a:cs typeface="Calibri" pitchFamily="34" charset="-120"/>
              </a:rPr>
              <a:t>It's a helpful early signal, not a guarantee. Always talk to the person — never rely on the flag alone.</a:t>
            </a:r>
            <a:endParaRPr lang="en-US" sz="1150" dirty="0"/>
          </a:p>
        </p:txBody>
      </p:sp>
      <p:sp>
        <p:nvSpPr>
          <p:cNvPr id="9" name="Shape 7"/>
          <p:cNvSpPr/>
          <p:nvPr/>
        </p:nvSpPr>
        <p:spPr>
          <a:xfrm>
            <a:off x="6263640" y="2148840"/>
            <a:ext cx="5074920" cy="1691640"/>
          </a:xfrm>
          <a:prstGeom prst="roundRect">
            <a:avLst>
              <a:gd name="adj" fmla="val 5405"/>
            </a:avLst>
          </a:prstGeom>
          <a:solidFill>
            <a:srgbClr val="FAFAFC"/>
          </a:solidFill>
          <a:ln w="12700">
            <a:solidFill>
              <a:srgbClr val="E3E5E8"/>
            </a:solidFill>
            <a:prstDash val="solid"/>
          </a:ln>
        </p:spPr>
      </p:sp>
      <p:sp>
        <p:nvSpPr>
          <p:cNvPr id="10" name="Shape 8"/>
          <p:cNvSpPr/>
          <p:nvPr/>
        </p:nvSpPr>
        <p:spPr>
          <a:xfrm>
            <a:off x="6537960" y="2404872"/>
            <a:ext cx="201168" cy="201168"/>
          </a:xfrm>
          <a:prstGeom prst="ellipse">
            <a:avLst/>
          </a:prstGeom>
          <a:solidFill>
            <a:srgbClr val="AD8A57"/>
          </a:solidFill>
        </p:spPr>
      </p:sp>
      <p:sp>
        <p:nvSpPr>
          <p:cNvPr id="11" name="Text 9"/>
          <p:cNvSpPr/>
          <p:nvPr/>
        </p:nvSpPr>
        <p:spPr>
          <a:xfrm>
            <a:off x="6858000" y="2331720"/>
            <a:ext cx="4206240" cy="365760"/>
          </a:xfrm>
          <a:prstGeom prst="rect">
            <a:avLst/>
          </a:prstGeom>
          <a:noFill/>
        </p:spPr>
        <p:txBody>
          <a:bodyPr wrap="square" rtlCol="0" anchor="ctr"/>
          <a:lstStyle/>
          <a:p>
            <a:pPr marL="0" indent="0">
              <a:buNone/>
            </a:pPr>
            <a:r>
              <a:rPr lang="en-US" sz="1500" b="1" dirty="0">
                <a:solidFill>
                  <a:srgbClr val="1A1A1A"/>
                </a:solidFill>
                <a:latin typeface="Calibri" pitchFamily="34" charset="0"/>
                <a:ea typeface="Calibri" pitchFamily="34" charset="-122"/>
                <a:cs typeface="Calibri" pitchFamily="34" charset="-120"/>
              </a:rPr>
              <a:t>Not tested on our own data yet</a:t>
            </a:r>
            <a:endParaRPr lang="en-US" sz="1500" dirty="0"/>
          </a:p>
        </p:txBody>
      </p:sp>
      <p:sp>
        <p:nvSpPr>
          <p:cNvPr id="12" name="Text 10"/>
          <p:cNvSpPr/>
          <p:nvPr/>
        </p:nvSpPr>
        <p:spPr>
          <a:xfrm>
            <a:off x="6537960" y="2743200"/>
            <a:ext cx="4526280" cy="960120"/>
          </a:xfrm>
          <a:prstGeom prst="rect">
            <a:avLst/>
          </a:prstGeom>
          <a:noFill/>
        </p:spPr>
        <p:txBody>
          <a:bodyPr wrap="square" rtlCol="0" anchor="ctr"/>
          <a:lstStyle/>
          <a:p>
            <a:pPr marL="0" indent="0">
              <a:buNone/>
            </a:pPr>
            <a:r>
              <a:rPr lang="en-US" sz="1150" dirty="0">
                <a:solidFill>
                  <a:srgbClr val="565A61"/>
                </a:solidFill>
                <a:latin typeface="Calibri" pitchFamily="34" charset="0"/>
                <a:ea typeface="Calibri" pitchFamily="34" charset="-122"/>
                <a:cs typeface="Calibri" pitchFamily="34" charset="-120"/>
              </a:rPr>
              <a:t>This proof of concept used a public research dataset. Before real use, we'd retrain it on our own employee records.</a:t>
            </a:r>
            <a:endParaRPr lang="en-US" sz="1150" dirty="0"/>
          </a:p>
        </p:txBody>
      </p:sp>
      <p:sp>
        <p:nvSpPr>
          <p:cNvPr id="13" name="Shape 11"/>
          <p:cNvSpPr/>
          <p:nvPr/>
        </p:nvSpPr>
        <p:spPr>
          <a:xfrm>
            <a:off x="822960" y="4114800"/>
            <a:ext cx="5074920" cy="1691640"/>
          </a:xfrm>
          <a:prstGeom prst="roundRect">
            <a:avLst>
              <a:gd name="adj" fmla="val 5405"/>
            </a:avLst>
          </a:prstGeom>
          <a:solidFill>
            <a:srgbClr val="FAFAFC"/>
          </a:solidFill>
          <a:ln w="12700">
            <a:solidFill>
              <a:srgbClr val="E3E5E8"/>
            </a:solidFill>
            <a:prstDash val="solid"/>
          </a:ln>
        </p:spPr>
      </p:sp>
      <p:sp>
        <p:nvSpPr>
          <p:cNvPr id="14" name="Shape 12"/>
          <p:cNvSpPr/>
          <p:nvPr/>
        </p:nvSpPr>
        <p:spPr>
          <a:xfrm>
            <a:off x="1097280" y="4370832"/>
            <a:ext cx="201168" cy="201168"/>
          </a:xfrm>
          <a:prstGeom prst="ellipse">
            <a:avLst/>
          </a:prstGeom>
          <a:solidFill>
            <a:srgbClr val="A44A42"/>
          </a:solidFill>
        </p:spPr>
      </p:sp>
      <p:sp>
        <p:nvSpPr>
          <p:cNvPr id="15" name="Text 13"/>
          <p:cNvSpPr/>
          <p:nvPr/>
        </p:nvSpPr>
        <p:spPr>
          <a:xfrm>
            <a:off x="1417320" y="4297680"/>
            <a:ext cx="4206240" cy="365760"/>
          </a:xfrm>
          <a:prstGeom prst="rect">
            <a:avLst/>
          </a:prstGeom>
          <a:noFill/>
        </p:spPr>
        <p:txBody>
          <a:bodyPr wrap="square" rtlCol="0" anchor="ctr"/>
          <a:lstStyle/>
          <a:p>
            <a:pPr marL="0" indent="0">
              <a:buNone/>
            </a:pPr>
            <a:r>
              <a:rPr lang="en-US" sz="1500" b="1" dirty="0">
                <a:solidFill>
                  <a:srgbClr val="1A1A1A"/>
                </a:solidFill>
                <a:latin typeface="Calibri" pitchFamily="34" charset="0"/>
                <a:ea typeface="Calibri" pitchFamily="34" charset="-122"/>
                <a:cs typeface="Calibri" pitchFamily="34" charset="-120"/>
              </a:rPr>
              <a:t>Not yet checked for fairness</a:t>
            </a:r>
            <a:endParaRPr lang="en-US" sz="1500" dirty="0"/>
          </a:p>
        </p:txBody>
      </p:sp>
      <p:sp>
        <p:nvSpPr>
          <p:cNvPr id="16" name="Text 14"/>
          <p:cNvSpPr/>
          <p:nvPr/>
        </p:nvSpPr>
        <p:spPr>
          <a:xfrm>
            <a:off x="1097280" y="4709160"/>
            <a:ext cx="4526280" cy="960120"/>
          </a:xfrm>
          <a:prstGeom prst="rect">
            <a:avLst/>
          </a:prstGeom>
          <a:noFill/>
        </p:spPr>
        <p:txBody>
          <a:bodyPr wrap="square" rtlCol="0" anchor="ctr"/>
          <a:lstStyle/>
          <a:p>
            <a:pPr marL="0" indent="0">
              <a:buNone/>
            </a:pPr>
            <a:r>
              <a:rPr lang="en-US" sz="1150" dirty="0">
                <a:solidFill>
                  <a:srgbClr val="565A61"/>
                </a:solidFill>
                <a:latin typeface="Calibri" pitchFamily="34" charset="0"/>
                <a:ea typeface="Calibri" pitchFamily="34" charset="-122"/>
                <a:cs typeface="Calibri" pitchFamily="34" charset="-120"/>
              </a:rPr>
              <a:t>We would check it flags people fairly across age, gender, and tenure groups before any real rollout.</a:t>
            </a:r>
            <a:endParaRPr lang="en-US" sz="1150" dirty="0"/>
          </a:p>
        </p:txBody>
      </p:sp>
      <p:sp>
        <p:nvSpPr>
          <p:cNvPr id="17" name="Shape 15"/>
          <p:cNvSpPr/>
          <p:nvPr/>
        </p:nvSpPr>
        <p:spPr>
          <a:xfrm>
            <a:off x="6263640" y="4114800"/>
            <a:ext cx="5074920" cy="1691640"/>
          </a:xfrm>
          <a:prstGeom prst="roundRect">
            <a:avLst>
              <a:gd name="adj" fmla="val 5405"/>
            </a:avLst>
          </a:prstGeom>
          <a:solidFill>
            <a:srgbClr val="FAFAFC"/>
          </a:solidFill>
          <a:ln w="12700">
            <a:solidFill>
              <a:srgbClr val="E3E5E8"/>
            </a:solidFill>
            <a:prstDash val="solid"/>
          </a:ln>
        </p:spPr>
      </p:sp>
      <p:sp>
        <p:nvSpPr>
          <p:cNvPr id="18" name="Shape 16"/>
          <p:cNvSpPr/>
          <p:nvPr/>
        </p:nvSpPr>
        <p:spPr>
          <a:xfrm>
            <a:off x="6537960" y="4370832"/>
            <a:ext cx="201168" cy="201168"/>
          </a:xfrm>
          <a:prstGeom prst="ellipse">
            <a:avLst/>
          </a:prstGeom>
          <a:solidFill>
            <a:srgbClr val="5B8C72"/>
          </a:solidFill>
        </p:spPr>
      </p:sp>
      <p:sp>
        <p:nvSpPr>
          <p:cNvPr id="19" name="Text 17"/>
          <p:cNvSpPr/>
          <p:nvPr/>
        </p:nvSpPr>
        <p:spPr>
          <a:xfrm>
            <a:off x="6858000" y="4297680"/>
            <a:ext cx="4206240" cy="365760"/>
          </a:xfrm>
          <a:prstGeom prst="rect">
            <a:avLst/>
          </a:prstGeom>
          <a:noFill/>
        </p:spPr>
        <p:txBody>
          <a:bodyPr wrap="square" rtlCol="0" anchor="ctr"/>
          <a:lstStyle/>
          <a:p>
            <a:pPr marL="0" indent="0">
              <a:buNone/>
            </a:pPr>
            <a:r>
              <a:rPr lang="en-US" sz="1500" b="1" dirty="0">
                <a:solidFill>
                  <a:srgbClr val="1A1A1A"/>
                </a:solidFill>
                <a:latin typeface="Calibri" pitchFamily="34" charset="0"/>
                <a:ea typeface="Calibri" pitchFamily="34" charset="-122"/>
                <a:cs typeface="Calibri" pitchFamily="34" charset="-120"/>
              </a:rPr>
              <a:t>Not a decision-maker</a:t>
            </a:r>
            <a:endParaRPr lang="en-US" sz="1500" dirty="0"/>
          </a:p>
        </p:txBody>
      </p:sp>
      <p:sp>
        <p:nvSpPr>
          <p:cNvPr id="20" name="Text 18"/>
          <p:cNvSpPr/>
          <p:nvPr/>
        </p:nvSpPr>
        <p:spPr>
          <a:xfrm>
            <a:off x="6537960" y="4709160"/>
            <a:ext cx="4526280" cy="960120"/>
          </a:xfrm>
          <a:prstGeom prst="rect">
            <a:avLst/>
          </a:prstGeom>
          <a:noFill/>
        </p:spPr>
        <p:txBody>
          <a:bodyPr wrap="square" rtlCol="0" anchor="ctr"/>
          <a:lstStyle/>
          <a:p>
            <a:pPr marL="0" indent="0">
              <a:buNone/>
            </a:pPr>
            <a:r>
              <a:rPr lang="en-US" sz="1150" dirty="0">
                <a:solidFill>
                  <a:srgbClr val="565A61"/>
                </a:solidFill>
                <a:latin typeface="Calibri" pitchFamily="34" charset="0"/>
                <a:ea typeface="Calibri" pitchFamily="34" charset="-122"/>
                <a:cs typeface="Calibri" pitchFamily="34" charset="-120"/>
              </a:rPr>
              <a:t>It suggests who might need attention. A person always makes the final call — the tool never does.</a:t>
            </a:r>
            <a:endParaRPr lang="en-US" sz="1150" dirty="0"/>
          </a:p>
        </p:txBody>
      </p:sp>
      <p:sp>
        <p:nvSpPr>
          <p:cNvPr id="21" name="Text 19"/>
          <p:cNvSpPr/>
          <p:nvPr/>
        </p:nvSpPr>
        <p:spPr>
          <a:xfrm>
            <a:off x="457200" y="6473952"/>
            <a:ext cx="7315200" cy="274320"/>
          </a:xfrm>
          <a:prstGeom prst="rect">
            <a:avLst/>
          </a:prstGeom>
          <a:noFill/>
        </p:spPr>
        <p:txBody>
          <a:bodyPr wrap="square" rtlCol="0" anchor="ctr"/>
          <a:lstStyle/>
          <a:p>
            <a:pPr marL="0" indent="0">
              <a:buNone/>
            </a:pPr>
            <a:r>
              <a:rPr lang="en-US" sz="900" dirty="0">
                <a:solidFill>
                  <a:srgbClr val="8B8F94"/>
                </a:solidFill>
                <a:latin typeface="Calibri" pitchFamily="34" charset="0"/>
                <a:ea typeface="Calibri" pitchFamily="34" charset="-122"/>
                <a:cs typeface="Calibri" pitchFamily="34" charset="-120"/>
              </a:rPr>
              <a:t>Employee Flight-Risk Signal  ·  For HR Leadership</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22960" y="548640"/>
            <a:ext cx="8229600" cy="274320"/>
          </a:xfrm>
          <a:prstGeom prst="rect">
            <a:avLst/>
          </a:prstGeom>
          <a:noFill/>
        </p:spPr>
        <p:txBody>
          <a:bodyPr wrap="square" rtlCol="0" anchor="ctr"/>
          <a:lstStyle/>
          <a:p>
            <a:pPr marL="0" indent="0">
              <a:buNone/>
            </a:pPr>
            <a:r>
              <a:rPr lang="en-US" sz="1100" b="1" kern="0" spc="200" dirty="0">
                <a:solidFill>
                  <a:srgbClr val="AD8A57"/>
                </a:solidFill>
                <a:latin typeface="Calibri" pitchFamily="34" charset="0"/>
                <a:ea typeface="Calibri" pitchFamily="34" charset="-122"/>
                <a:cs typeface="Calibri" pitchFamily="34" charset="-120"/>
              </a:rPr>
              <a:t>SECTION 04 · WHAT TO DO NEXT</a:t>
            </a:r>
            <a:endParaRPr lang="en-US" sz="1100" dirty="0"/>
          </a:p>
        </p:txBody>
      </p:sp>
      <p:sp>
        <p:nvSpPr>
          <p:cNvPr id="3" name="Text 1"/>
          <p:cNvSpPr/>
          <p:nvPr/>
        </p:nvSpPr>
        <p:spPr>
          <a:xfrm>
            <a:off x="822960" y="868680"/>
            <a:ext cx="10058400" cy="548640"/>
          </a:xfrm>
          <a:prstGeom prst="rect">
            <a:avLst/>
          </a:prstGeom>
          <a:noFill/>
        </p:spPr>
        <p:txBody>
          <a:bodyPr wrap="square" rtlCol="0" anchor="ctr"/>
          <a:lstStyle/>
          <a:p>
            <a:pPr marL="0" indent="0">
              <a:buNone/>
            </a:pPr>
            <a:r>
              <a:rPr lang="en-US" sz="2700" b="1" dirty="0">
                <a:solidFill>
                  <a:srgbClr val="1A1A1A"/>
                </a:solidFill>
                <a:latin typeface="Calibri" pitchFamily="34" charset="0"/>
                <a:ea typeface="Calibri" pitchFamily="34" charset="-122"/>
                <a:cs typeface="Calibri" pitchFamily="34" charset="-120"/>
              </a:rPr>
              <a:t>If We Wanted to Move Forward</a:t>
            </a:r>
            <a:endParaRPr lang="en-US" sz="2700" dirty="0"/>
          </a:p>
        </p:txBody>
      </p:sp>
      <p:sp>
        <p:nvSpPr>
          <p:cNvPr id="4" name="Shape 2"/>
          <p:cNvSpPr/>
          <p:nvPr/>
        </p:nvSpPr>
        <p:spPr>
          <a:xfrm>
            <a:off x="1554480" y="2359152"/>
            <a:ext cx="8549640" cy="0"/>
          </a:xfrm>
          <a:prstGeom prst="line">
            <a:avLst/>
          </a:prstGeom>
          <a:noFill/>
          <a:ln w="25400">
            <a:solidFill>
              <a:srgbClr val="E3E5E8"/>
            </a:solidFill>
            <a:prstDash val="solid"/>
          </a:ln>
        </p:spPr>
      </p:sp>
      <p:sp>
        <p:nvSpPr>
          <p:cNvPr id="5" name="Shape 3"/>
          <p:cNvSpPr/>
          <p:nvPr/>
        </p:nvSpPr>
        <p:spPr>
          <a:xfrm>
            <a:off x="1554480" y="2103120"/>
            <a:ext cx="457200" cy="457200"/>
          </a:xfrm>
          <a:prstGeom prst="ellipse">
            <a:avLst/>
          </a:prstGeom>
          <a:solidFill>
            <a:srgbClr val="3E6B8A"/>
          </a:solidFill>
        </p:spPr>
      </p:sp>
      <p:sp>
        <p:nvSpPr>
          <p:cNvPr id="6" name="Text 4"/>
          <p:cNvSpPr/>
          <p:nvPr/>
        </p:nvSpPr>
        <p:spPr>
          <a:xfrm>
            <a:off x="1554480" y="2103120"/>
            <a:ext cx="457200" cy="457200"/>
          </a:xfrm>
          <a:prstGeom prst="rect">
            <a:avLst/>
          </a:prstGeom>
          <a:noFill/>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5"/>
          <p:cNvSpPr/>
          <p:nvPr/>
        </p:nvSpPr>
        <p:spPr>
          <a:xfrm>
            <a:off x="502920" y="2697480"/>
            <a:ext cx="2560320" cy="320040"/>
          </a:xfrm>
          <a:prstGeom prst="rect">
            <a:avLst/>
          </a:prstGeom>
          <a:noFill/>
        </p:spPr>
        <p:txBody>
          <a:bodyPr wrap="square" rtlCol="0" anchor="ctr"/>
          <a:lstStyle/>
          <a:p>
            <a:pPr marL="0" indent="0" algn="ctr">
              <a:buNone/>
            </a:pPr>
            <a:r>
              <a:rPr lang="en-US" sz="1400" b="1" dirty="0">
                <a:solidFill>
                  <a:srgbClr val="1A1A1A"/>
                </a:solidFill>
                <a:latin typeface="Calibri" pitchFamily="34" charset="0"/>
                <a:ea typeface="Calibri" pitchFamily="34" charset="-122"/>
                <a:cs typeface="Calibri" pitchFamily="34" charset="-120"/>
              </a:rPr>
              <a:t>Pilot Quietly</a:t>
            </a:r>
            <a:endParaRPr lang="en-US" sz="1400" dirty="0"/>
          </a:p>
        </p:txBody>
      </p:sp>
      <p:sp>
        <p:nvSpPr>
          <p:cNvPr id="8" name="Text 6"/>
          <p:cNvSpPr/>
          <p:nvPr/>
        </p:nvSpPr>
        <p:spPr>
          <a:xfrm>
            <a:off x="502920" y="3063240"/>
            <a:ext cx="2560320" cy="1463040"/>
          </a:xfrm>
          <a:prstGeom prst="rect">
            <a:avLst/>
          </a:prstGeom>
          <a:noFill/>
        </p:spPr>
        <p:txBody>
          <a:bodyPr wrap="square" rtlCol="0" anchor="ctr"/>
          <a:lstStyle/>
          <a:p>
            <a:pPr marL="0" indent="0" algn="ctr">
              <a:buNone/>
            </a:pPr>
            <a:r>
              <a:rPr lang="en-US" sz="1050" dirty="0">
                <a:solidFill>
                  <a:srgbClr val="565A61"/>
                </a:solidFill>
                <a:latin typeface="Calibri" pitchFamily="34" charset="0"/>
                <a:ea typeface="Calibri" pitchFamily="34" charset="-122"/>
                <a:cs typeface="Calibri" pitchFamily="34" charset="-120"/>
              </a:rPr>
              <a:t>Run it alongside one HR team for a quarter — compare its flags to what actually happens before anyone acts on them.</a:t>
            </a:r>
            <a:endParaRPr lang="en-US" sz="1050" dirty="0"/>
          </a:p>
        </p:txBody>
      </p:sp>
      <p:sp>
        <p:nvSpPr>
          <p:cNvPr id="9" name="Shape 7"/>
          <p:cNvSpPr/>
          <p:nvPr/>
        </p:nvSpPr>
        <p:spPr>
          <a:xfrm>
            <a:off x="4325112" y="2103120"/>
            <a:ext cx="457200" cy="457200"/>
          </a:xfrm>
          <a:prstGeom prst="ellipse">
            <a:avLst/>
          </a:prstGeom>
          <a:solidFill>
            <a:srgbClr val="3E6B8A"/>
          </a:solidFill>
        </p:spPr>
      </p:sp>
      <p:sp>
        <p:nvSpPr>
          <p:cNvPr id="10" name="Text 8"/>
          <p:cNvSpPr/>
          <p:nvPr/>
        </p:nvSpPr>
        <p:spPr>
          <a:xfrm>
            <a:off x="4325112" y="2103120"/>
            <a:ext cx="457200" cy="457200"/>
          </a:xfrm>
          <a:prstGeom prst="rect">
            <a:avLst/>
          </a:prstGeom>
          <a:noFill/>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1" name="Text 9"/>
          <p:cNvSpPr/>
          <p:nvPr/>
        </p:nvSpPr>
        <p:spPr>
          <a:xfrm>
            <a:off x="3273552" y="2697480"/>
            <a:ext cx="2560320" cy="320040"/>
          </a:xfrm>
          <a:prstGeom prst="rect">
            <a:avLst/>
          </a:prstGeom>
          <a:noFill/>
        </p:spPr>
        <p:txBody>
          <a:bodyPr wrap="square" rtlCol="0" anchor="ctr"/>
          <a:lstStyle/>
          <a:p>
            <a:pPr marL="0" indent="0" algn="ctr">
              <a:buNone/>
            </a:pPr>
            <a:r>
              <a:rPr lang="en-US" sz="1400" b="1" dirty="0">
                <a:solidFill>
                  <a:srgbClr val="1A1A1A"/>
                </a:solidFill>
                <a:latin typeface="Calibri" pitchFamily="34" charset="0"/>
                <a:ea typeface="Calibri" pitchFamily="34" charset="-122"/>
                <a:cs typeface="Calibri" pitchFamily="34" charset="-120"/>
              </a:rPr>
              <a:t>Check Fairness</a:t>
            </a:r>
            <a:endParaRPr lang="en-US" sz="1400" dirty="0"/>
          </a:p>
        </p:txBody>
      </p:sp>
      <p:sp>
        <p:nvSpPr>
          <p:cNvPr id="12" name="Text 10"/>
          <p:cNvSpPr/>
          <p:nvPr/>
        </p:nvSpPr>
        <p:spPr>
          <a:xfrm>
            <a:off x="3273552" y="3063240"/>
            <a:ext cx="2560320" cy="1463040"/>
          </a:xfrm>
          <a:prstGeom prst="rect">
            <a:avLst/>
          </a:prstGeom>
          <a:noFill/>
        </p:spPr>
        <p:txBody>
          <a:bodyPr wrap="square" rtlCol="0" anchor="ctr"/>
          <a:lstStyle/>
          <a:p>
            <a:pPr marL="0" indent="0" algn="ctr">
              <a:buNone/>
            </a:pPr>
            <a:r>
              <a:rPr lang="en-US" sz="1050" dirty="0">
                <a:solidFill>
                  <a:srgbClr val="565A61"/>
                </a:solidFill>
                <a:latin typeface="Calibri" pitchFamily="34" charset="0"/>
                <a:ea typeface="Calibri" pitchFamily="34" charset="-122"/>
                <a:cs typeface="Calibri" pitchFamily="34" charset="-120"/>
              </a:rPr>
              <a:t>Confirm it flags people fairly across age, gender, tenure, and department before any live use.</a:t>
            </a:r>
            <a:endParaRPr lang="en-US" sz="1050" dirty="0"/>
          </a:p>
        </p:txBody>
      </p:sp>
      <p:sp>
        <p:nvSpPr>
          <p:cNvPr id="13" name="Shape 11"/>
          <p:cNvSpPr/>
          <p:nvPr/>
        </p:nvSpPr>
        <p:spPr>
          <a:xfrm>
            <a:off x="7104888" y="2103120"/>
            <a:ext cx="457200" cy="457200"/>
          </a:xfrm>
          <a:prstGeom prst="ellipse">
            <a:avLst/>
          </a:prstGeom>
          <a:solidFill>
            <a:srgbClr val="3E6B8A"/>
          </a:solidFill>
        </p:spPr>
      </p:sp>
      <p:sp>
        <p:nvSpPr>
          <p:cNvPr id="14" name="Text 12"/>
          <p:cNvSpPr/>
          <p:nvPr/>
        </p:nvSpPr>
        <p:spPr>
          <a:xfrm>
            <a:off x="7104888" y="2103120"/>
            <a:ext cx="457200" cy="457200"/>
          </a:xfrm>
          <a:prstGeom prst="rect">
            <a:avLst/>
          </a:prstGeom>
          <a:noFill/>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5" name="Text 13"/>
          <p:cNvSpPr/>
          <p:nvPr/>
        </p:nvSpPr>
        <p:spPr>
          <a:xfrm>
            <a:off x="6053328" y="2697480"/>
            <a:ext cx="2560320" cy="320040"/>
          </a:xfrm>
          <a:prstGeom prst="rect">
            <a:avLst/>
          </a:prstGeom>
          <a:noFill/>
        </p:spPr>
        <p:txBody>
          <a:bodyPr wrap="square" rtlCol="0" anchor="ctr"/>
          <a:lstStyle/>
          <a:p>
            <a:pPr marL="0" indent="0" algn="ctr">
              <a:buNone/>
            </a:pPr>
            <a:r>
              <a:rPr lang="en-US" sz="1400" b="1" dirty="0">
                <a:solidFill>
                  <a:srgbClr val="1A1A1A"/>
                </a:solidFill>
                <a:latin typeface="Calibri" pitchFamily="34" charset="0"/>
                <a:ea typeface="Calibri" pitchFamily="34" charset="-122"/>
                <a:cs typeface="Calibri" pitchFamily="34" charset="-120"/>
              </a:rPr>
              <a:t>Set Sensitivity</a:t>
            </a:r>
            <a:endParaRPr lang="en-US" sz="1400" dirty="0"/>
          </a:p>
        </p:txBody>
      </p:sp>
      <p:sp>
        <p:nvSpPr>
          <p:cNvPr id="16" name="Text 14"/>
          <p:cNvSpPr/>
          <p:nvPr/>
        </p:nvSpPr>
        <p:spPr>
          <a:xfrm>
            <a:off x="6053328" y="3063240"/>
            <a:ext cx="2560320" cy="1463040"/>
          </a:xfrm>
          <a:prstGeom prst="rect">
            <a:avLst/>
          </a:prstGeom>
          <a:noFill/>
        </p:spPr>
        <p:txBody>
          <a:bodyPr wrap="square" rtlCol="0" anchor="ctr"/>
          <a:lstStyle/>
          <a:p>
            <a:pPr marL="0" indent="0" algn="ctr">
              <a:buNone/>
            </a:pPr>
            <a:r>
              <a:rPr lang="en-US" sz="1050" dirty="0">
                <a:solidFill>
                  <a:srgbClr val="565A61"/>
                </a:solidFill>
                <a:latin typeface="Calibri" pitchFamily="34" charset="0"/>
                <a:ea typeface="Calibri" pitchFamily="34" charset="-122"/>
                <a:cs typeface="Calibri" pitchFamily="34" charset="-120"/>
              </a:rPr>
              <a:t>Decide with HR leadership how cautious or aggressive the flagging should be.</a:t>
            </a:r>
            <a:endParaRPr lang="en-US" sz="1050" dirty="0"/>
          </a:p>
        </p:txBody>
      </p:sp>
      <p:sp>
        <p:nvSpPr>
          <p:cNvPr id="17" name="Shape 15"/>
          <p:cNvSpPr/>
          <p:nvPr/>
        </p:nvSpPr>
        <p:spPr>
          <a:xfrm>
            <a:off x="9875520" y="2103120"/>
            <a:ext cx="457200" cy="457200"/>
          </a:xfrm>
          <a:prstGeom prst="ellipse">
            <a:avLst/>
          </a:prstGeom>
          <a:solidFill>
            <a:srgbClr val="3E6B8A"/>
          </a:solidFill>
        </p:spPr>
      </p:sp>
      <p:sp>
        <p:nvSpPr>
          <p:cNvPr id="18" name="Text 16"/>
          <p:cNvSpPr/>
          <p:nvPr/>
        </p:nvSpPr>
        <p:spPr>
          <a:xfrm>
            <a:off x="9875520" y="2103120"/>
            <a:ext cx="457200" cy="457200"/>
          </a:xfrm>
          <a:prstGeom prst="rect">
            <a:avLst/>
          </a:prstGeom>
          <a:noFill/>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9" name="Text 17"/>
          <p:cNvSpPr/>
          <p:nvPr/>
        </p:nvSpPr>
        <p:spPr>
          <a:xfrm>
            <a:off x="8823960" y="2697480"/>
            <a:ext cx="2560320" cy="320040"/>
          </a:xfrm>
          <a:prstGeom prst="rect">
            <a:avLst/>
          </a:prstGeom>
          <a:noFill/>
        </p:spPr>
        <p:txBody>
          <a:bodyPr wrap="square" rtlCol="0" anchor="ctr"/>
          <a:lstStyle/>
          <a:p>
            <a:pPr marL="0" indent="0" algn="ctr">
              <a:buNone/>
            </a:pPr>
            <a:r>
              <a:rPr lang="en-US" sz="1400" b="1" dirty="0">
                <a:solidFill>
                  <a:srgbClr val="1A1A1A"/>
                </a:solidFill>
                <a:latin typeface="Calibri" pitchFamily="34" charset="0"/>
                <a:ea typeface="Calibri" pitchFamily="34" charset="-122"/>
                <a:cs typeface="Calibri" pitchFamily="34" charset="-120"/>
              </a:rPr>
              <a:t>Keep It Fresh</a:t>
            </a:r>
            <a:endParaRPr lang="en-US" sz="1400" dirty="0"/>
          </a:p>
        </p:txBody>
      </p:sp>
      <p:sp>
        <p:nvSpPr>
          <p:cNvPr id="20" name="Text 18"/>
          <p:cNvSpPr/>
          <p:nvPr/>
        </p:nvSpPr>
        <p:spPr>
          <a:xfrm>
            <a:off x="8823960" y="3063240"/>
            <a:ext cx="2560320" cy="1463040"/>
          </a:xfrm>
          <a:prstGeom prst="rect">
            <a:avLst/>
          </a:prstGeom>
          <a:noFill/>
        </p:spPr>
        <p:txBody>
          <a:bodyPr wrap="square" rtlCol="0" anchor="ctr"/>
          <a:lstStyle/>
          <a:p>
            <a:pPr marL="0" indent="0" algn="ctr">
              <a:buNone/>
            </a:pPr>
            <a:r>
              <a:rPr lang="en-US" sz="1050" dirty="0">
                <a:solidFill>
                  <a:srgbClr val="565A61"/>
                </a:solidFill>
                <a:latin typeface="Calibri" pitchFamily="34" charset="0"/>
                <a:ea typeface="Calibri" pitchFamily="34" charset="-122"/>
                <a:cs typeface="Calibri" pitchFamily="34" charset="-120"/>
              </a:rPr>
              <a:t>Refresh it regularly as new data comes in, and keep checking it still makes sense.</a:t>
            </a:r>
            <a:endParaRPr lang="en-US" sz="1050" dirty="0"/>
          </a:p>
        </p:txBody>
      </p:sp>
      <p:sp>
        <p:nvSpPr>
          <p:cNvPr id="21" name="Text 19"/>
          <p:cNvSpPr/>
          <p:nvPr/>
        </p:nvSpPr>
        <p:spPr>
          <a:xfrm>
            <a:off x="822960" y="5394960"/>
            <a:ext cx="10332720" cy="457200"/>
          </a:xfrm>
          <a:prstGeom prst="rect">
            <a:avLst/>
          </a:prstGeom>
          <a:noFill/>
        </p:spPr>
        <p:txBody>
          <a:bodyPr wrap="square" rtlCol="0" anchor="ctr"/>
          <a:lstStyle/>
          <a:p>
            <a:pPr marL="0" indent="0">
              <a:buNone/>
            </a:pPr>
            <a:r>
              <a:rPr lang="en-US" sz="1250" i="1" dirty="0">
                <a:solidFill>
                  <a:srgbClr val="8B8F94"/>
                </a:solidFill>
                <a:latin typeface="Calibri" pitchFamily="34" charset="0"/>
                <a:ea typeface="Calibri" pitchFamily="34" charset="-122"/>
                <a:cs typeface="Calibri" pitchFamily="34" charset="-120"/>
              </a:rPr>
              <a:t>None of this needs new data collection — everything used here already lives inside the systems HR runs today.</a:t>
            </a:r>
            <a:endParaRPr lang="en-US" sz="1250" dirty="0"/>
          </a:p>
        </p:txBody>
      </p:sp>
      <p:sp>
        <p:nvSpPr>
          <p:cNvPr id="22" name="Text 20"/>
          <p:cNvSpPr/>
          <p:nvPr/>
        </p:nvSpPr>
        <p:spPr>
          <a:xfrm>
            <a:off x="457200" y="6473952"/>
            <a:ext cx="7315200" cy="274320"/>
          </a:xfrm>
          <a:prstGeom prst="rect">
            <a:avLst/>
          </a:prstGeom>
          <a:noFill/>
        </p:spPr>
        <p:txBody>
          <a:bodyPr wrap="square" rtlCol="0" anchor="ctr"/>
          <a:lstStyle/>
          <a:p>
            <a:pPr marL="0" indent="0">
              <a:buNone/>
            </a:pPr>
            <a:r>
              <a:rPr lang="en-US" sz="900" dirty="0">
                <a:solidFill>
                  <a:srgbClr val="8B8F94"/>
                </a:solidFill>
                <a:latin typeface="Calibri" pitchFamily="34" charset="0"/>
                <a:ea typeface="Calibri" pitchFamily="34" charset="-122"/>
                <a:cs typeface="Calibri" pitchFamily="34" charset="-120"/>
              </a:rPr>
              <a:t>Employee Flight-Risk Signal  ·  For HR Leadership</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C222E"/>
        </a:solidFill>
        <a:effectLst/>
      </p:bgPr>
    </p:bg>
    <p:spTree>
      <p:nvGrpSpPr>
        <p:cNvPr id="1" name=""/>
        <p:cNvGrpSpPr/>
        <p:nvPr/>
      </p:nvGrpSpPr>
      <p:grpSpPr>
        <a:xfrm>
          <a:off x="0" y="0"/>
          <a:ext cx="0" cy="0"/>
          <a:chOff x="0" y="0"/>
          <a:chExt cx="0" cy="0"/>
        </a:xfrm>
      </p:grpSpPr>
      <p:sp>
        <p:nvSpPr>
          <p:cNvPr id="2" name="Shape 0"/>
          <p:cNvSpPr/>
          <p:nvPr/>
        </p:nvSpPr>
        <p:spPr>
          <a:xfrm>
            <a:off x="-1645920" y="-1645920"/>
            <a:ext cx="4114800" cy="4114800"/>
          </a:xfrm>
          <a:prstGeom prst="ellipse">
            <a:avLst/>
          </a:prstGeom>
          <a:solidFill>
            <a:srgbClr val="242B38">
              <a:alpha val="55000"/>
            </a:srgbClr>
          </a:solidFill>
        </p:spPr>
      </p:sp>
      <p:sp>
        <p:nvSpPr>
          <p:cNvPr id="3" name="Text 1"/>
          <p:cNvSpPr/>
          <p:nvPr/>
        </p:nvSpPr>
        <p:spPr>
          <a:xfrm>
            <a:off x="822960" y="640080"/>
            <a:ext cx="8229600" cy="274320"/>
          </a:xfrm>
          <a:prstGeom prst="rect">
            <a:avLst/>
          </a:prstGeom>
          <a:noFill/>
        </p:spPr>
        <p:txBody>
          <a:bodyPr wrap="square" rtlCol="0" anchor="ctr"/>
          <a:lstStyle/>
          <a:p>
            <a:pPr marL="0" indent="0">
              <a:buNone/>
            </a:pPr>
            <a:r>
              <a:rPr lang="en-US" sz="1100" b="1" kern="0" spc="200" dirty="0">
                <a:solidFill>
                  <a:srgbClr val="A9B7C4"/>
                </a:solidFill>
                <a:latin typeface="Calibri" pitchFamily="34" charset="0"/>
                <a:ea typeface="Calibri" pitchFamily="34" charset="-122"/>
                <a:cs typeface="Calibri" pitchFamily="34" charset="-120"/>
              </a:rPr>
              <a:t>CLOSE</a:t>
            </a:r>
            <a:endParaRPr lang="en-US" sz="1100" dirty="0"/>
          </a:p>
        </p:txBody>
      </p:sp>
      <p:sp>
        <p:nvSpPr>
          <p:cNvPr id="4" name="Text 2"/>
          <p:cNvSpPr/>
          <p:nvPr/>
        </p:nvSpPr>
        <p:spPr>
          <a:xfrm>
            <a:off x="822960" y="914400"/>
            <a:ext cx="9601200" cy="640080"/>
          </a:xfrm>
          <a:prstGeom prst="rect">
            <a:avLst/>
          </a:prstGeom>
          <a:noFill/>
        </p:spPr>
        <p:txBody>
          <a:bodyPr wrap="square"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Questions &amp; Discussion</a:t>
            </a:r>
            <a:endParaRPr lang="en-US" sz="3000" dirty="0"/>
          </a:p>
        </p:txBody>
      </p:sp>
      <p:sp>
        <p:nvSpPr>
          <p:cNvPr id="5" name="Text 3"/>
          <p:cNvSpPr/>
          <p:nvPr/>
        </p:nvSpPr>
        <p:spPr>
          <a:xfrm>
            <a:off x="822960" y="1783080"/>
            <a:ext cx="9875520" cy="2560320"/>
          </a:xfrm>
          <a:prstGeom prst="rect">
            <a:avLst/>
          </a:prstGeom>
          <a:noFill/>
        </p:spPr>
        <p:txBody>
          <a:bodyPr wrap="square" rtlCol="0" anchor="ctr"/>
          <a:lstStyle/>
          <a:p>
            <a:pPr marL="342900" indent="-342900">
              <a:spcAft>
                <a:spcPts val="1400"/>
              </a:spcAft>
              <a:buSzPct val="100000"/>
              <a:buChar char="•"/>
            </a:pPr>
            <a:r>
              <a:rPr lang="en-US" sz="1500" dirty="0">
                <a:solidFill>
                  <a:srgbClr val="D7DEE4"/>
                </a:solidFill>
                <a:latin typeface="Calibri" pitchFamily="34" charset="0"/>
                <a:ea typeface="Calibri" pitchFamily="34" charset="-122"/>
                <a:cs typeface="Calibri" pitchFamily="34" charset="-120"/>
              </a:rPr>
              <a:t>Catches roughly 6 in 10 employees who actually leave, before they leave</a:t>
            </a:r>
            <a:endParaRPr lang="en-US" sz="1500" dirty="0"/>
          </a:p>
          <a:p>
            <a:pPr marL="342900" indent="-342900">
              <a:spcAft>
                <a:spcPts val="1400"/>
              </a:spcAft>
              <a:buSzPct val="100000"/>
              <a:buChar char="•"/>
            </a:pPr>
            <a:r>
              <a:rPr lang="en-US" sz="1500" dirty="0">
                <a:solidFill>
                  <a:srgbClr val="D7DEE4"/>
                </a:solidFill>
                <a:latin typeface="Calibri" pitchFamily="34" charset="0"/>
                <a:ea typeface="Calibri" pitchFamily="34" charset="-122"/>
                <a:cs typeface="Calibri" pitchFamily="34" charset="-120"/>
              </a:rPr>
              <a:t>Dataset: 1,470 employees, 237 who left / 1,233 who stayed (16.1% attrition) — IBM HR Analytics Employee Attrition dataset (Kaggle), 294 held out for testing</a:t>
            </a:r>
            <a:endParaRPr lang="en-US" sz="1500" dirty="0"/>
          </a:p>
          <a:p>
            <a:pPr marL="342900" indent="-342900">
              <a:spcAft>
                <a:spcPts val="1400"/>
              </a:spcAft>
              <a:buSzPct val="100000"/>
              <a:buChar char="•"/>
            </a:pPr>
            <a:r>
              <a:rPr lang="en-US" sz="1500" dirty="0">
                <a:solidFill>
                  <a:srgbClr val="D7DEE4"/>
                </a:solidFill>
                <a:latin typeface="Calibri" pitchFamily="34" charset="0"/>
                <a:ea typeface="Calibri" pitchFamily="34" charset="-122"/>
                <a:cs typeface="Calibri" pitchFamily="34" charset="-120"/>
              </a:rPr>
              <a:t>Modeled with a measured pilot: attrition could move from 16.1% toward roughly 13–15%, avoiding an estimated $0.6M–$5.3M in replacement cost</a:t>
            </a:r>
            <a:endParaRPr lang="en-US" sz="1500" dirty="0"/>
          </a:p>
          <a:p>
            <a:pPr marL="342900" indent="-342900">
              <a:spcAft>
                <a:spcPts val="1400"/>
              </a:spcAft>
              <a:buSzPct val="100000"/>
              <a:buChar char="•"/>
            </a:pPr>
            <a:r>
              <a:rPr lang="en-US" sz="1500" dirty="0">
                <a:solidFill>
                  <a:srgbClr val="D7DEE4"/>
                </a:solidFill>
                <a:latin typeface="Calibri" pitchFamily="34" charset="0"/>
                <a:ea typeface="Calibri" pitchFamily="34" charset="-122"/>
                <a:cs typeface="Calibri" pitchFamily="34" charset="-120"/>
              </a:rPr>
              <a:t>A person always makes the final call — this is a signal, not a verdict</a:t>
            </a:r>
            <a:endParaRPr lang="en-US" sz="1500" dirty="0"/>
          </a:p>
          <a:p>
            <a:pPr marL="342900" indent="-342900">
              <a:buSzPct val="100000"/>
              <a:buChar char="•"/>
            </a:pPr>
            <a:r>
              <a:rPr lang="en-US" sz="1500" dirty="0">
                <a:solidFill>
                  <a:srgbClr val="D7DEE4"/>
                </a:solidFill>
                <a:latin typeface="Calibri" pitchFamily="34" charset="0"/>
                <a:ea typeface="Calibri" pitchFamily="34" charset="-122"/>
                <a:cs typeface="Calibri" pitchFamily="34" charset="-120"/>
              </a:rPr>
              <a:t>Full technical detail available from the product &amp; analytics team on request</a:t>
            </a:r>
            <a:endParaRPr lang="en-US" sz="1500" dirty="0"/>
          </a:p>
        </p:txBody>
      </p:sp>
      <p:sp>
        <p:nvSpPr>
          <p:cNvPr id="6" name="Text 4"/>
          <p:cNvSpPr/>
          <p:nvPr/>
        </p:nvSpPr>
        <p:spPr>
          <a:xfrm>
            <a:off x="822960" y="6126480"/>
            <a:ext cx="9601200" cy="365760"/>
          </a:xfrm>
          <a:prstGeom prst="rect">
            <a:avLst/>
          </a:prstGeom>
          <a:noFill/>
        </p:spPr>
        <p:txBody>
          <a:bodyPr wrap="square" rtlCol="0" anchor="ctr"/>
          <a:lstStyle/>
          <a:p>
            <a:pPr marL="0" indent="0">
              <a:buNone/>
            </a:pPr>
            <a:r>
              <a:rPr lang="en-US" sz="1200" dirty="0">
                <a:solidFill>
                  <a:srgbClr val="7C8894"/>
                </a:solidFill>
                <a:latin typeface="Calibri" pitchFamily="34" charset="0"/>
                <a:ea typeface="Calibri" pitchFamily="34" charset="-122"/>
                <a:cs typeface="Calibri" pitchFamily="34" charset="-120"/>
              </a:rPr>
              <a:t>Uma Ramanathan  —  Product, UX &amp; Data Portfolio  ·  umaramanathan54@gmail.com</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9835</Words>
  <Application>WPS Docs</Application>
  <PresentationFormat>On-screen Show (16:9)</PresentationFormat>
  <Paragraphs>370</Paragraphs>
  <Slides>14</Slides>
  <Notes>14</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14</vt:i4>
      </vt:variant>
    </vt:vector>
  </HeadingPairs>
  <TitlesOfParts>
    <vt:vector size="27" baseType="lpstr">
      <vt:lpstr>Arial</vt:lpstr>
      <vt:lpstr>SimSun</vt:lpstr>
      <vt:lpstr>Wingdings</vt:lpstr>
      <vt:lpstr>Calibri</vt:lpstr>
      <vt:lpstr>Helvetica Neue</vt:lpstr>
      <vt:lpstr>Calibri</vt:lpstr>
      <vt:lpstr>Calibri</vt:lpstr>
      <vt:lpstr>Arial</vt:lpstr>
      <vt:lpstr>Microsoft YaHei</vt:lpstr>
      <vt:lpstr>汉仪旗黑</vt:lpstr>
      <vt:lpstr>Arial Unicode MS</vt:lpstr>
      <vt:lpstr>宋体-简</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Spotting Flight Risk Before It's Too Late</dc:title>
  <dc:creator>Uma Ramanathan</dc:creator>
  <dc:subject>PptxGenJS Presentation</dc:subject>
  <cp:lastModifiedBy>knottrail</cp:lastModifiedBy>
  <cp:revision>2</cp:revision>
  <dcterms:created xsi:type="dcterms:W3CDTF">2026-08-20T14:07:02Z</dcterms:created>
  <dcterms:modified xsi:type="dcterms:W3CDTF">2026-08-20T14:07:02Z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E142DCF7510FC7C7050A876AF6169073_42</vt:lpwstr>
  </property>
  <property fmtid="{D5CDD505-2E9C-101B-9397-08002B2CF9AE}" pid="3" name="KSOProductBuildVer">
    <vt:lpwstr>1033-12.1.26015.26015</vt:lpwstr>
  </property>
</Properties>
</file>