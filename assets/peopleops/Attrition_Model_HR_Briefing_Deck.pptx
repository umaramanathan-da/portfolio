
<file path=[Content_Types].xml><?xml version="1.0" encoding="utf-8"?>
<Types xmlns="http://schemas.openxmlformats.org/package/2006/content-types">
  <Default Extension="xlsx" ContentType="application/vnd.openxmlformats-officedocument.spreadsheetml.sheet"/>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4" r:id="rId11"/>
    <p:sldId id="265" r:id="rId12"/>
    <p:sldId id="266" r:id="rId13"/>
    <p:sldId id="267" r:id="rId14"/>
    <p:sldId id="268"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Relative Importance</c:v>
                </c:pt>
              </c:strCache>
            </c:strRef>
          </c:tx>
          <c:spPr>
            <a:solidFill>
              <a:srgbClr val="3E6B8A"/>
            </a:solidFill>
            <a:effectLst/>
          </c:spPr>
          <c:invertIfNegative val="0"/>
          <c:dLbls>
            <c:numFmt formatCode="0.0&quot;%&quot;" sourceLinked="0"/>
            <c:spPr>
              <a:noFill/>
              <a:ln>
                <a:noFill/>
              </a:ln>
              <a:effectLst/>
            </c:spPr>
            <c:txPr>
              <a:bodyPr rot="0" spcFirstLastPara="0" vertOverflow="ellipsis" vert="horz" wrap="square" lIns="38100" tIns="19050" rIns="38100" bIns="19050" anchor="ctr" anchorCtr="1"/>
              <a:lstStyle/>
              <a:p>
                <a:pPr>
                  <a:defRPr lang="en-US" sz="1000" b="0" i="0" u="none" strike="noStrike" kern="1200" baseline="0">
                    <a:solidFill>
                      <a:srgbClr val="565A61"/>
                    </a:solidFill>
                    <a:latin typeface="Arial" panose="020B0704020202020204"/>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Sheet1!$A$2:$A$10</c:f>
              <c:strCache>
                <c:ptCount val="9"/>
                <c:pt idx="0">
                  <c:v>Daily Rate</c:v>
                </c:pt>
                <c:pt idx="1">
                  <c:v>Number of Companies Worked</c:v>
                </c:pt>
                <c:pt idx="2">
                  <c:v>Stock Option Level</c:v>
                </c:pt>
                <c:pt idx="3">
                  <c:v>Years With Current Manager</c:v>
                </c:pt>
                <c:pt idx="4">
                  <c:v>Works Overtime</c:v>
                </c:pt>
                <c:pt idx="5">
                  <c:v>Years at Company</c:v>
                </c:pt>
                <c:pt idx="6">
                  <c:v>Total Working Years</c:v>
                </c:pt>
                <c:pt idx="7">
                  <c:v>Age</c:v>
                </c:pt>
                <c:pt idx="8">
                  <c:v>Monthly Income</c:v>
                </c:pt>
              </c:strCache>
            </c:strRef>
          </c:cat>
          <c:val>
            <c:numRef>
              <c:f>Sheet1!$B$2:$B$10</c:f>
              <c:numCache>
                <c:formatCode>General</c:formatCode>
                <c:ptCount val="9"/>
                <c:pt idx="0">
                  <c:v>4.4</c:v>
                </c:pt>
                <c:pt idx="1">
                  <c:v>3.8</c:v>
                </c:pt>
                <c:pt idx="2">
                  <c:v>4.5</c:v>
                </c:pt>
                <c:pt idx="3">
                  <c:v>5</c:v>
                </c:pt>
                <c:pt idx="4">
                  <c:v>6.4</c:v>
                </c:pt>
                <c:pt idx="5">
                  <c:v>6.5</c:v>
                </c:pt>
                <c:pt idx="6">
                  <c:v>6.8</c:v>
                </c:pt>
                <c:pt idx="7">
                  <c:v>6.9</c:v>
                </c:pt>
                <c:pt idx="8">
                  <c:v>8.4</c:v>
                </c:pt>
              </c:numCache>
            </c:numRef>
          </c:val>
        </c:ser>
        <c:dLbls>
          <c:showLegendKey val="0"/>
          <c:showVal val="1"/>
          <c:showCatName val="0"/>
          <c:showSerName val="0"/>
          <c:showPercent val="0"/>
          <c:showBubbleSize val="0"/>
        </c:dLbls>
        <c:gapWidth val="35"/>
        <c:overlap val="0"/>
        <c:axId val="2094734554"/>
        <c:axId val="2094734552"/>
      </c:barChart>
      <c:catAx>
        <c:axId val="2094734554"/>
        <c:scaling>
          <c:orientation val="minMax"/>
        </c:scaling>
        <c:delete val="0"/>
        <c:axPos val="l"/>
        <c:numFmt formatCode="General" sourceLinked="1"/>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en-US" sz="1050" b="0" i="0" u="none" strike="noStrike" kern="1200" baseline="0">
                <a:solidFill>
                  <a:srgbClr val="565A61"/>
                </a:solidFill>
                <a:latin typeface="Arial" panose="020B0704020202020204"/>
                <a:ea typeface="+mn-ea"/>
                <a:cs typeface="+mn-cs"/>
              </a:defRPr>
            </a:pPr>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txPr>
          <a:bodyPr rot="-60000000" spcFirstLastPara="0" vertOverflow="ellipsis" vert="horz" wrap="square" anchor="ctr" anchorCtr="1"/>
          <a:lstStyle/>
          <a:p>
            <a:pPr>
              <a:defRPr lang="en-US" sz="1200" b="0" i="0" u="none" strike="noStrike" kern="1200" baseline="0">
                <a:solidFill>
                  <a:srgbClr val="000000"/>
                </a:solidFill>
                <a:latin typeface="Arial" panose="020B0704020202020204"/>
                <a:ea typeface="+mn-ea"/>
                <a:cs typeface="+mn-cs"/>
              </a:defRPr>
            </a:pPr>
          </a:p>
        </c:txPr>
        <c:crossAx val="2094734554"/>
        <c:crosses val="autoZero"/>
        <c:crossBetween val="between"/>
      </c:valAx>
      <c:spPr>
        <a:noFill/>
        <a:ln>
          <a:noFill/>
        </a:ln>
        <a:effectLst/>
      </c:spPr>
    </c:plotArea>
    <c:plotVisOnly val="1"/>
    <c:dispBlanksAs val="span"/>
    <c:showDLblsOverMax val="0"/>
    <c:extLst>
      <c:ext uri="{0b15fc19-7d7d-44ad-8c2d-2c3a37ce22c3}">
        <chartProps xmlns="https://web.wps.cn/et/2018/main" chartId="{876fd351-1ac2-4acb-a26a-150ae3b8d9b6}"/>
      </c:ext>
    </c:extLst>
  </c:chart>
  <c:spPr>
    <a:noFill/>
    <a:ln>
      <a:noFill/>
    </a:ln>
    <a:effectLst/>
  </c:spPr>
  <c:txPr>
    <a:bodyPr/>
    <a:lstStyle/>
    <a:p>
      <a:pPr>
        <a:defRPr lang="en-US"/>
      </a:p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Frame this to the room as a real, working model — not a mockup — trained on a public HR dataset to demonstrate the approach, with results reported exactly as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Five-part story arc, headcount-first: everything after this slide is measured from a real model run, not illustrative. We lead with exactly who's at risk and what to do, then explain how we got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exists so nobody is confused about the problem, the goal, or what 'it' means before the numbers show up. Say the four lines out loud in order: the problem, the goal, what it is, how it works. Then move straight into the real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one slide that has to land. Walk the grid once, left to right, top to bottom: quietly fine, false alarm, missed entirely, caught in time. The bottom-right box is the whole business case — say the dollar range is illustrative, built from this dataset's real average pay, not a promised outcome.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the room has seen the real numbers, ground them in why this matters financially. The SHRM stat is real and citable — use it, don't invent a company-specific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slide factual and quick — it's the credibility slide, not the insight slide. The room should leave knowing exactly what was tested and why the split was stratified.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baseline comparison — 84% accuracy but 0% recall makes the case for why accuracy alone would have been a misleading headline.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correlations from the model, not proven causes — say that plainly if asked. The actionable headline is overtime: it's the one HR can actually change through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product-thinking slide — connect the measured precision/recall, and the four intervention groups from the opening slide, directly to why the design keeps a human in the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written to be pulled up if an interviewer pushes back — each box is a real, specific answer, not a generic 'limitations' disclaimer. Know all six cold.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business case loop — this is deliberately low-lift as a next step, which is the point: no new infrastructure needed to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re-stating the model in one breath — the discipline of stating the exact model, exact metric, and exact dataset from memory is itself a credibility signal in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7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7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7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chart" Target="../charts/char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C222E"/>
        </a:solidFill>
        <a:effectLst/>
      </p:bgPr>
    </p:bg>
    <p:spTree>
      <p:nvGrpSpPr>
        <p:cNvPr id="1" name=""/>
        <p:cNvGrpSpPr/>
        <p:nvPr/>
      </p:nvGrpSpPr>
      <p:grpSpPr>
        <a:xfrm>
          <a:off x="0" y="0"/>
          <a:ext cx="0" cy="0"/>
          <a:chOff x="0" y="0"/>
          <a:chExt cx="0" cy="0"/>
        </a:xfrm>
      </p:grpSpPr>
      <p:sp>
        <p:nvSpPr>
          <p:cNvPr id="2" name="Shape 0"/>
          <p:cNvSpPr/>
          <p:nvPr/>
        </p:nvSpPr>
        <p:spPr>
          <a:xfrm>
            <a:off x="9692640" y="-1463040"/>
            <a:ext cx="4572000" cy="4572000"/>
          </a:xfrm>
          <a:prstGeom prst="ellipse">
            <a:avLst/>
          </a:prstGeom>
          <a:solidFill>
            <a:srgbClr val="242B38">
              <a:alpha val="55000"/>
            </a:srgbClr>
          </a:solidFill>
        </p:spPr>
      </p:sp>
      <p:sp>
        <p:nvSpPr>
          <p:cNvPr id="3" name="Shape 1"/>
          <p:cNvSpPr/>
          <p:nvPr/>
        </p:nvSpPr>
        <p:spPr>
          <a:xfrm>
            <a:off x="-1463040" y="4754880"/>
            <a:ext cx="3657600" cy="3657600"/>
          </a:xfrm>
          <a:prstGeom prst="ellipse">
            <a:avLst/>
          </a:prstGeom>
          <a:solidFill>
            <a:srgbClr val="242B38">
              <a:alpha val="55000"/>
            </a:srgbClr>
          </a:solidFill>
        </p:spPr>
      </p:sp>
      <p:sp>
        <p:nvSpPr>
          <p:cNvPr id="4" name="Text 2"/>
          <p:cNvSpPr/>
          <p:nvPr/>
        </p:nvSpPr>
        <p:spPr>
          <a:xfrm>
            <a:off x="822960" y="1554480"/>
            <a:ext cx="8229600" cy="274320"/>
          </a:xfrm>
          <a:prstGeom prst="rect">
            <a:avLst/>
          </a:prstGeom>
          <a:noFill/>
        </p:spPr>
        <p:txBody>
          <a:bodyPr wrap="square" rtlCol="0" anchor="ctr"/>
          <a:lstStyle/>
          <a:p>
            <a:pPr marL="0" indent="0">
              <a:buNone/>
            </a:pPr>
            <a:r>
              <a:rPr lang="en-US" sz="1100" b="1" kern="0" spc="200" dirty="0">
                <a:solidFill>
                  <a:srgbClr val="A9B7C4"/>
                </a:solidFill>
                <a:latin typeface="Calibri" pitchFamily="34" charset="0"/>
                <a:ea typeface="Calibri" pitchFamily="34" charset="-122"/>
                <a:cs typeface="Calibri" pitchFamily="34" charset="-120"/>
              </a:rPr>
              <a:t>DATA &amp; ANALYTICS BRIEFING</a:t>
            </a:r>
            <a:endParaRPr lang="en-US" sz="1100" dirty="0"/>
          </a:p>
        </p:txBody>
      </p:sp>
      <p:sp>
        <p:nvSpPr>
          <p:cNvPr id="5" name="Text 3"/>
          <p:cNvSpPr/>
          <p:nvPr/>
        </p:nvSpPr>
        <p:spPr>
          <a:xfrm>
            <a:off x="822960" y="1874520"/>
            <a:ext cx="10515600" cy="1280160"/>
          </a:xfrm>
          <a:prstGeom prst="rect">
            <a:avLst/>
          </a:prstGeom>
          <a:noFill/>
        </p:spPr>
        <p:txBody>
          <a:bodyPr wrap="square"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Predicting Attrition: From Data to Action</a:t>
            </a:r>
            <a:endParaRPr lang="en-US" sz="3600" dirty="0"/>
          </a:p>
        </p:txBody>
      </p:sp>
      <p:sp>
        <p:nvSpPr>
          <p:cNvPr id="6" name="Text 4"/>
          <p:cNvSpPr/>
          <p:nvPr/>
        </p:nvSpPr>
        <p:spPr>
          <a:xfrm>
            <a:off x="822960" y="2971800"/>
            <a:ext cx="9692640" cy="640080"/>
          </a:xfrm>
          <a:prstGeom prst="rect">
            <a:avLst/>
          </a:prstGeom>
          <a:noFill/>
        </p:spPr>
        <p:txBody>
          <a:bodyPr wrap="square" rtlCol="0" anchor="ctr"/>
          <a:lstStyle/>
          <a:p>
            <a:pPr marL="0" indent="0">
              <a:buNone/>
            </a:pPr>
            <a:r>
              <a:rPr lang="en-US" sz="1700" dirty="0">
                <a:solidFill>
                  <a:srgbClr val="D7DEE4"/>
                </a:solidFill>
                <a:latin typeface="Calibri" pitchFamily="34" charset="0"/>
                <a:ea typeface="Calibri" pitchFamily="34" charset="-122"/>
                <a:cs typeface="Calibri" pitchFamily="34" charset="-120"/>
              </a:rPr>
              <a:t>A real, measured model trained and evaluated on IBM's HR Analytics employee attrition dataset.</a:t>
            </a:r>
            <a:endParaRPr lang="en-US" sz="1700" dirty="0"/>
          </a:p>
        </p:txBody>
      </p:sp>
      <p:sp>
        <p:nvSpPr>
          <p:cNvPr id="7" name="Text 5"/>
          <p:cNvSpPr/>
          <p:nvPr/>
        </p:nvSpPr>
        <p:spPr>
          <a:xfrm>
            <a:off x="822960" y="3794760"/>
            <a:ext cx="7315200" cy="365760"/>
          </a:xfrm>
          <a:prstGeom prst="rect">
            <a:avLst/>
          </a:prstGeom>
          <a:noFill/>
        </p:spPr>
        <p:txBody>
          <a:bodyPr wrap="square" rtlCol="0" anchor="ctr"/>
          <a:lstStyle/>
          <a:p>
            <a:pPr marL="0" indent="0">
              <a:buNone/>
            </a:pPr>
            <a:r>
              <a:rPr lang="en-US" sz="1300" i="1" dirty="0">
                <a:solidFill>
                  <a:srgbClr val="A9B7C4"/>
                </a:solidFill>
                <a:latin typeface="Calibri" pitchFamily="34" charset="0"/>
                <a:ea typeface="Calibri" pitchFamily="34" charset="-122"/>
                <a:cs typeface="Calibri" pitchFamily="34" charset="-120"/>
              </a:rPr>
              <a:t>Prepared for: HR Leadership Review</a:t>
            </a:r>
            <a:endParaRPr lang="en-US" sz="1300" dirty="0"/>
          </a:p>
        </p:txBody>
      </p:sp>
      <p:sp>
        <p:nvSpPr>
          <p:cNvPr id="8" name="Text 6"/>
          <p:cNvSpPr/>
          <p:nvPr/>
        </p:nvSpPr>
        <p:spPr>
          <a:xfrm>
            <a:off x="822960" y="6035040"/>
            <a:ext cx="7315200" cy="365760"/>
          </a:xfrm>
          <a:prstGeom prst="rect">
            <a:avLst/>
          </a:prstGeom>
          <a:noFill/>
        </p:spPr>
        <p:txBody>
          <a:bodyPr wrap="square" rtlCol="0" anchor="ctr"/>
          <a:lstStyle/>
          <a:p>
            <a:pPr marL="0" indent="0">
              <a:buNone/>
            </a:pPr>
            <a:r>
              <a:rPr lang="en-US" sz="1200" dirty="0">
                <a:solidFill>
                  <a:srgbClr val="7C8894"/>
                </a:solidFill>
                <a:latin typeface="Calibri" pitchFamily="34" charset="0"/>
                <a:ea typeface="Calibri" pitchFamily="34" charset="-122"/>
                <a:cs typeface="Calibri" pitchFamily="34" charset="-120"/>
              </a:rPr>
              <a:t>Uma Ramanathan  —  Product, UX &amp; Data Portfolio</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548640"/>
            <a:ext cx="8229600" cy="274320"/>
          </a:xfrm>
          <a:prstGeom prst="rect">
            <a:avLst/>
          </a:prstGeom>
          <a:noFill/>
        </p:spPr>
        <p:txBody>
          <a:bodyPr wrap="square" rtlCol="0" anchor="ctr"/>
          <a:lstStyle/>
          <a:p>
            <a:pPr marL="0" indent="0">
              <a:buNone/>
            </a:pPr>
            <a:r>
              <a:rPr lang="en-US" sz="1100" b="1" kern="0" spc="200" dirty="0">
                <a:solidFill>
                  <a:srgbClr val="3E6B8A"/>
                </a:solidFill>
                <a:latin typeface="Calibri" pitchFamily="34" charset="0"/>
                <a:ea typeface="Calibri" pitchFamily="34" charset="-122"/>
                <a:cs typeface="Calibri" pitchFamily="34" charset="-120"/>
              </a:rPr>
              <a:t>AGENDA</a:t>
            </a:r>
            <a:endParaRPr lang="en-US" sz="1100" dirty="0"/>
          </a:p>
        </p:txBody>
      </p:sp>
      <p:sp>
        <p:nvSpPr>
          <p:cNvPr id="3" name="Text 1"/>
          <p:cNvSpPr/>
          <p:nvPr/>
        </p:nvSpPr>
        <p:spPr>
          <a:xfrm>
            <a:off x="822960" y="868680"/>
            <a:ext cx="9875520" cy="548640"/>
          </a:xfrm>
          <a:prstGeom prst="rect">
            <a:avLst/>
          </a:prstGeom>
          <a:noFill/>
        </p:spPr>
        <p:txBody>
          <a:bodyPr wrap="square" rtlCol="0" anchor="ctr"/>
          <a:lstStyle/>
          <a:p>
            <a:pPr marL="0" indent="0">
              <a:buNone/>
            </a:pPr>
            <a:r>
              <a:rPr lang="en-US" sz="2700" b="1" dirty="0">
                <a:solidFill>
                  <a:srgbClr val="1A1A1A"/>
                </a:solidFill>
                <a:latin typeface="Calibri" pitchFamily="34" charset="0"/>
                <a:ea typeface="Calibri" pitchFamily="34" charset="-122"/>
                <a:cs typeface="Calibri" pitchFamily="34" charset="-120"/>
              </a:rPr>
              <a:t>From the Numbers to a Recommendation</a:t>
            </a:r>
            <a:endParaRPr lang="en-US" sz="2700" dirty="0"/>
          </a:p>
        </p:txBody>
      </p:sp>
      <p:sp>
        <p:nvSpPr>
          <p:cNvPr id="4" name="Shape 2"/>
          <p:cNvSpPr/>
          <p:nvPr/>
        </p:nvSpPr>
        <p:spPr>
          <a:xfrm>
            <a:off x="822960" y="1691640"/>
            <a:ext cx="10515600" cy="749808"/>
          </a:xfrm>
          <a:prstGeom prst="roundRect">
            <a:avLst>
              <a:gd name="adj" fmla="val 9756"/>
            </a:avLst>
          </a:prstGeom>
          <a:solidFill>
            <a:srgbClr val="FAFAFC"/>
          </a:solidFill>
          <a:ln w="12700">
            <a:solidFill>
              <a:srgbClr val="E3E5E8"/>
            </a:solidFill>
            <a:prstDash val="solid"/>
          </a:ln>
        </p:spPr>
      </p:sp>
      <p:sp>
        <p:nvSpPr>
          <p:cNvPr id="5" name="Shape 3"/>
          <p:cNvSpPr/>
          <p:nvPr/>
        </p:nvSpPr>
        <p:spPr>
          <a:xfrm>
            <a:off x="1051560" y="1837944"/>
            <a:ext cx="457200" cy="457200"/>
          </a:xfrm>
          <a:prstGeom prst="ellipse">
            <a:avLst/>
          </a:prstGeom>
          <a:solidFill>
            <a:srgbClr val="3E6B8A"/>
          </a:solidFill>
        </p:spPr>
      </p:sp>
      <p:sp>
        <p:nvSpPr>
          <p:cNvPr id="6" name="Text 4"/>
          <p:cNvSpPr/>
          <p:nvPr/>
        </p:nvSpPr>
        <p:spPr>
          <a:xfrm>
            <a:off x="1051560" y="1837944"/>
            <a:ext cx="457200" cy="457200"/>
          </a:xfrm>
          <a:prstGeom prst="rect">
            <a:avLst/>
          </a:prstGeom>
          <a:noFill/>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01</a:t>
            </a:r>
            <a:endParaRPr lang="en-US" sz="1600" dirty="0"/>
          </a:p>
        </p:txBody>
      </p:sp>
      <p:sp>
        <p:nvSpPr>
          <p:cNvPr id="7" name="Text 5"/>
          <p:cNvSpPr/>
          <p:nvPr/>
        </p:nvSpPr>
        <p:spPr>
          <a:xfrm>
            <a:off x="1737360" y="1764792"/>
            <a:ext cx="4389120" cy="320040"/>
          </a:xfrm>
          <a:prstGeom prst="rect">
            <a:avLst/>
          </a:prstGeom>
          <a:noFill/>
        </p:spPr>
        <p:txBody>
          <a:bodyPr wrap="square" rtlCol="0" anchor="ctr"/>
          <a:lstStyle/>
          <a:p>
            <a:pPr marL="0" indent="0">
              <a:buNone/>
            </a:pPr>
            <a:r>
              <a:rPr lang="en-US" sz="1500" b="1" dirty="0">
                <a:solidFill>
                  <a:srgbClr val="1A1A1A"/>
                </a:solidFill>
                <a:latin typeface="Calibri" pitchFamily="34" charset="0"/>
                <a:ea typeface="Calibri" pitchFamily="34" charset="-122"/>
                <a:cs typeface="Calibri" pitchFamily="34" charset="-120"/>
              </a:rPr>
              <a:t>Who's At Risk</a:t>
            </a:r>
            <a:endParaRPr lang="en-US" sz="1500" dirty="0"/>
          </a:p>
        </p:txBody>
      </p:sp>
      <p:sp>
        <p:nvSpPr>
          <p:cNvPr id="8" name="Text 6"/>
          <p:cNvSpPr/>
          <p:nvPr/>
        </p:nvSpPr>
        <p:spPr>
          <a:xfrm>
            <a:off x="1737360" y="2075688"/>
            <a:ext cx="8503920" cy="320040"/>
          </a:xfrm>
          <a:prstGeom prst="rect">
            <a:avLst/>
          </a:prstGeom>
          <a:noFill/>
        </p:spPr>
        <p:txBody>
          <a:bodyPr wrap="square" rtlCol="0" anchor="ctr"/>
          <a:lstStyle/>
          <a:p>
            <a:pPr marL="0" indent="0">
              <a:buNone/>
            </a:pPr>
            <a:r>
              <a:rPr lang="en-US" sz="1150" dirty="0">
                <a:solidFill>
                  <a:srgbClr val="565A61"/>
                </a:solidFill>
                <a:latin typeface="Calibri" pitchFamily="34" charset="0"/>
                <a:ea typeface="Calibri" pitchFamily="34" charset="-122"/>
                <a:cs typeface="Calibri" pitchFamily="34" charset="-120"/>
              </a:rPr>
              <a:t>The real headcount, broken into groups — who needs what, and why</a:t>
            </a:r>
            <a:endParaRPr lang="en-US" sz="1150" dirty="0"/>
          </a:p>
        </p:txBody>
      </p:sp>
      <p:sp>
        <p:nvSpPr>
          <p:cNvPr id="9" name="Shape 7"/>
          <p:cNvSpPr/>
          <p:nvPr/>
        </p:nvSpPr>
        <p:spPr>
          <a:xfrm>
            <a:off x="822960" y="2587752"/>
            <a:ext cx="10515600" cy="749808"/>
          </a:xfrm>
          <a:prstGeom prst="roundRect">
            <a:avLst>
              <a:gd name="adj" fmla="val 9756"/>
            </a:avLst>
          </a:prstGeom>
          <a:solidFill>
            <a:srgbClr val="FAFAFC"/>
          </a:solidFill>
          <a:ln w="12700">
            <a:solidFill>
              <a:srgbClr val="E3E5E8"/>
            </a:solidFill>
            <a:prstDash val="solid"/>
          </a:ln>
        </p:spPr>
      </p:sp>
      <p:sp>
        <p:nvSpPr>
          <p:cNvPr id="10" name="Shape 8"/>
          <p:cNvSpPr/>
          <p:nvPr/>
        </p:nvSpPr>
        <p:spPr>
          <a:xfrm>
            <a:off x="1051560" y="2734056"/>
            <a:ext cx="457200" cy="457200"/>
          </a:xfrm>
          <a:prstGeom prst="ellipse">
            <a:avLst/>
          </a:prstGeom>
          <a:solidFill>
            <a:srgbClr val="AD8A57"/>
          </a:solidFill>
        </p:spPr>
      </p:sp>
      <p:sp>
        <p:nvSpPr>
          <p:cNvPr id="11" name="Text 9"/>
          <p:cNvSpPr/>
          <p:nvPr/>
        </p:nvSpPr>
        <p:spPr>
          <a:xfrm>
            <a:off x="1051560" y="2734056"/>
            <a:ext cx="457200" cy="457200"/>
          </a:xfrm>
          <a:prstGeom prst="rect">
            <a:avLst/>
          </a:prstGeom>
          <a:noFill/>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02</a:t>
            </a:r>
            <a:endParaRPr lang="en-US" sz="1600" dirty="0"/>
          </a:p>
        </p:txBody>
      </p:sp>
      <p:sp>
        <p:nvSpPr>
          <p:cNvPr id="12" name="Text 10"/>
          <p:cNvSpPr/>
          <p:nvPr/>
        </p:nvSpPr>
        <p:spPr>
          <a:xfrm>
            <a:off x="1737360" y="2660904"/>
            <a:ext cx="4389120" cy="320040"/>
          </a:xfrm>
          <a:prstGeom prst="rect">
            <a:avLst/>
          </a:prstGeom>
          <a:noFill/>
        </p:spPr>
        <p:txBody>
          <a:bodyPr wrap="square" rtlCol="0" anchor="ctr"/>
          <a:lstStyle/>
          <a:p>
            <a:pPr marL="0" indent="0">
              <a:buNone/>
            </a:pPr>
            <a:r>
              <a:rPr lang="en-US" sz="1500" b="1" dirty="0">
                <a:solidFill>
                  <a:srgbClr val="1A1A1A"/>
                </a:solidFill>
                <a:latin typeface="Calibri" pitchFamily="34" charset="0"/>
                <a:ea typeface="Calibri" pitchFamily="34" charset="-122"/>
                <a:cs typeface="Calibri" pitchFamily="34" charset="-120"/>
              </a:rPr>
              <a:t>The Problem</a:t>
            </a:r>
            <a:endParaRPr lang="en-US" sz="1500" dirty="0"/>
          </a:p>
        </p:txBody>
      </p:sp>
      <p:sp>
        <p:nvSpPr>
          <p:cNvPr id="13" name="Text 11"/>
          <p:cNvSpPr/>
          <p:nvPr/>
        </p:nvSpPr>
        <p:spPr>
          <a:xfrm>
            <a:off x="1737360" y="2971800"/>
            <a:ext cx="8503920" cy="320040"/>
          </a:xfrm>
          <a:prstGeom prst="rect">
            <a:avLst/>
          </a:prstGeom>
          <a:noFill/>
        </p:spPr>
        <p:txBody>
          <a:bodyPr wrap="square" rtlCol="0" anchor="ctr"/>
          <a:lstStyle/>
          <a:p>
            <a:pPr marL="0" indent="0">
              <a:buNone/>
            </a:pPr>
            <a:r>
              <a:rPr lang="en-US" sz="1150" dirty="0">
                <a:solidFill>
                  <a:srgbClr val="565A61"/>
                </a:solidFill>
                <a:latin typeface="Calibri" pitchFamily="34" charset="0"/>
                <a:ea typeface="Calibri" pitchFamily="34" charset="-122"/>
                <a:cs typeface="Calibri" pitchFamily="34" charset="-120"/>
              </a:rPr>
              <a:t>Why reactive attrition reporting costs HR time and talent</a:t>
            </a:r>
            <a:endParaRPr lang="en-US" sz="1150" dirty="0"/>
          </a:p>
        </p:txBody>
      </p:sp>
      <p:sp>
        <p:nvSpPr>
          <p:cNvPr id="14" name="Shape 12"/>
          <p:cNvSpPr/>
          <p:nvPr/>
        </p:nvSpPr>
        <p:spPr>
          <a:xfrm>
            <a:off x="822960" y="3483864"/>
            <a:ext cx="10515600" cy="749808"/>
          </a:xfrm>
          <a:prstGeom prst="roundRect">
            <a:avLst>
              <a:gd name="adj" fmla="val 9756"/>
            </a:avLst>
          </a:prstGeom>
          <a:solidFill>
            <a:srgbClr val="FAFAFC"/>
          </a:solidFill>
          <a:ln w="12700">
            <a:solidFill>
              <a:srgbClr val="E3E5E8"/>
            </a:solidFill>
            <a:prstDash val="solid"/>
          </a:ln>
        </p:spPr>
      </p:sp>
      <p:sp>
        <p:nvSpPr>
          <p:cNvPr id="15" name="Shape 13"/>
          <p:cNvSpPr/>
          <p:nvPr/>
        </p:nvSpPr>
        <p:spPr>
          <a:xfrm>
            <a:off x="1051560" y="3630168"/>
            <a:ext cx="457200" cy="457200"/>
          </a:xfrm>
          <a:prstGeom prst="ellipse">
            <a:avLst/>
          </a:prstGeom>
          <a:solidFill>
            <a:srgbClr val="3E6B8A"/>
          </a:solidFill>
        </p:spPr>
      </p:sp>
      <p:sp>
        <p:nvSpPr>
          <p:cNvPr id="16" name="Text 14"/>
          <p:cNvSpPr/>
          <p:nvPr/>
        </p:nvSpPr>
        <p:spPr>
          <a:xfrm>
            <a:off x="1051560" y="3630168"/>
            <a:ext cx="457200" cy="457200"/>
          </a:xfrm>
          <a:prstGeom prst="rect">
            <a:avLst/>
          </a:prstGeom>
          <a:noFill/>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03</a:t>
            </a:r>
            <a:endParaRPr lang="en-US" sz="1600" dirty="0"/>
          </a:p>
        </p:txBody>
      </p:sp>
      <p:sp>
        <p:nvSpPr>
          <p:cNvPr id="17" name="Text 15"/>
          <p:cNvSpPr/>
          <p:nvPr/>
        </p:nvSpPr>
        <p:spPr>
          <a:xfrm>
            <a:off x="1737360" y="3557016"/>
            <a:ext cx="4389120" cy="320040"/>
          </a:xfrm>
          <a:prstGeom prst="rect">
            <a:avLst/>
          </a:prstGeom>
          <a:noFill/>
        </p:spPr>
        <p:txBody>
          <a:bodyPr wrap="square" rtlCol="0" anchor="ctr"/>
          <a:lstStyle/>
          <a:p>
            <a:pPr marL="0" indent="0">
              <a:buNone/>
            </a:pPr>
            <a:r>
              <a:rPr lang="en-US" sz="1500" b="1" dirty="0">
                <a:solidFill>
                  <a:srgbClr val="1A1A1A"/>
                </a:solidFill>
                <a:latin typeface="Calibri" pitchFamily="34" charset="0"/>
                <a:ea typeface="Calibri" pitchFamily="34" charset="-122"/>
                <a:cs typeface="Calibri" pitchFamily="34" charset="-120"/>
              </a:rPr>
              <a:t>The Approach</a:t>
            </a:r>
            <a:endParaRPr lang="en-US" sz="1500" dirty="0"/>
          </a:p>
        </p:txBody>
      </p:sp>
      <p:sp>
        <p:nvSpPr>
          <p:cNvPr id="18" name="Text 16"/>
          <p:cNvSpPr/>
          <p:nvPr/>
        </p:nvSpPr>
        <p:spPr>
          <a:xfrm>
            <a:off x="1737360" y="3867912"/>
            <a:ext cx="8503920" cy="320040"/>
          </a:xfrm>
          <a:prstGeom prst="rect">
            <a:avLst/>
          </a:prstGeom>
          <a:noFill/>
        </p:spPr>
        <p:txBody>
          <a:bodyPr wrap="square" rtlCol="0" anchor="ctr"/>
          <a:lstStyle/>
          <a:p>
            <a:pPr marL="0" indent="0">
              <a:buNone/>
            </a:pPr>
            <a:r>
              <a:rPr lang="en-US" sz="1150" dirty="0">
                <a:solidFill>
                  <a:srgbClr val="565A61"/>
                </a:solidFill>
                <a:latin typeface="Calibri" pitchFamily="34" charset="0"/>
                <a:ea typeface="Calibri" pitchFamily="34" charset="-122"/>
                <a:cs typeface="Calibri" pitchFamily="34" charset="-120"/>
              </a:rPr>
              <a:t>What data, what models, what we tested</a:t>
            </a:r>
            <a:endParaRPr lang="en-US" sz="1150" dirty="0"/>
          </a:p>
        </p:txBody>
      </p:sp>
      <p:sp>
        <p:nvSpPr>
          <p:cNvPr id="19" name="Shape 17"/>
          <p:cNvSpPr/>
          <p:nvPr/>
        </p:nvSpPr>
        <p:spPr>
          <a:xfrm>
            <a:off x="822960" y="4379976"/>
            <a:ext cx="10515600" cy="749808"/>
          </a:xfrm>
          <a:prstGeom prst="roundRect">
            <a:avLst>
              <a:gd name="adj" fmla="val 9756"/>
            </a:avLst>
          </a:prstGeom>
          <a:solidFill>
            <a:srgbClr val="FAFAFC"/>
          </a:solidFill>
          <a:ln w="12700">
            <a:solidFill>
              <a:srgbClr val="E3E5E8"/>
            </a:solidFill>
            <a:prstDash val="solid"/>
          </a:ln>
        </p:spPr>
      </p:sp>
      <p:sp>
        <p:nvSpPr>
          <p:cNvPr id="20" name="Shape 18"/>
          <p:cNvSpPr/>
          <p:nvPr/>
        </p:nvSpPr>
        <p:spPr>
          <a:xfrm>
            <a:off x="1051560" y="4526280"/>
            <a:ext cx="457200" cy="457200"/>
          </a:xfrm>
          <a:prstGeom prst="ellipse">
            <a:avLst/>
          </a:prstGeom>
          <a:solidFill>
            <a:srgbClr val="3E6B8A"/>
          </a:solidFill>
        </p:spPr>
      </p:sp>
      <p:sp>
        <p:nvSpPr>
          <p:cNvPr id="21" name="Text 19"/>
          <p:cNvSpPr/>
          <p:nvPr/>
        </p:nvSpPr>
        <p:spPr>
          <a:xfrm>
            <a:off x="1051560" y="4526280"/>
            <a:ext cx="457200" cy="457200"/>
          </a:xfrm>
          <a:prstGeom prst="rect">
            <a:avLst/>
          </a:prstGeom>
          <a:noFill/>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04</a:t>
            </a:r>
            <a:endParaRPr lang="en-US" sz="1600" dirty="0"/>
          </a:p>
        </p:txBody>
      </p:sp>
      <p:sp>
        <p:nvSpPr>
          <p:cNvPr id="22" name="Text 20"/>
          <p:cNvSpPr/>
          <p:nvPr/>
        </p:nvSpPr>
        <p:spPr>
          <a:xfrm>
            <a:off x="1737360" y="4453128"/>
            <a:ext cx="4389120" cy="320040"/>
          </a:xfrm>
          <a:prstGeom prst="rect">
            <a:avLst/>
          </a:prstGeom>
          <a:noFill/>
        </p:spPr>
        <p:txBody>
          <a:bodyPr wrap="square" rtlCol="0" anchor="ctr"/>
          <a:lstStyle/>
          <a:p>
            <a:pPr marL="0" indent="0">
              <a:buNone/>
            </a:pPr>
            <a:r>
              <a:rPr lang="en-US" sz="1500" b="1" dirty="0">
                <a:solidFill>
                  <a:srgbClr val="1A1A1A"/>
                </a:solidFill>
                <a:latin typeface="Calibri" pitchFamily="34" charset="0"/>
                <a:ea typeface="Calibri" pitchFamily="34" charset="-122"/>
                <a:cs typeface="Calibri" pitchFamily="34" charset="-120"/>
              </a:rPr>
              <a:t>The Results</a:t>
            </a:r>
            <a:endParaRPr lang="en-US" sz="1500" dirty="0"/>
          </a:p>
        </p:txBody>
      </p:sp>
      <p:sp>
        <p:nvSpPr>
          <p:cNvPr id="23" name="Text 21"/>
          <p:cNvSpPr/>
          <p:nvPr/>
        </p:nvSpPr>
        <p:spPr>
          <a:xfrm>
            <a:off x="1737360" y="4764024"/>
            <a:ext cx="8503920" cy="320040"/>
          </a:xfrm>
          <a:prstGeom prst="rect">
            <a:avLst/>
          </a:prstGeom>
          <a:noFill/>
        </p:spPr>
        <p:txBody>
          <a:bodyPr wrap="square" rtlCol="0" anchor="ctr"/>
          <a:lstStyle/>
          <a:p>
            <a:pPr marL="0" indent="0">
              <a:buNone/>
            </a:pPr>
            <a:r>
              <a:rPr lang="en-US" sz="1150" dirty="0">
                <a:solidFill>
                  <a:srgbClr val="565A61"/>
                </a:solidFill>
                <a:latin typeface="Calibri" pitchFamily="34" charset="0"/>
                <a:ea typeface="Calibri" pitchFamily="34" charset="-122"/>
                <a:cs typeface="Calibri" pitchFamily="34" charset="-120"/>
              </a:rPr>
              <a:t>Measured performance — AUC, recall, accuracy vs. recall, what drives it</a:t>
            </a:r>
            <a:endParaRPr lang="en-US" sz="1150" dirty="0"/>
          </a:p>
        </p:txBody>
      </p:sp>
      <p:sp>
        <p:nvSpPr>
          <p:cNvPr id="24" name="Shape 22"/>
          <p:cNvSpPr/>
          <p:nvPr/>
        </p:nvSpPr>
        <p:spPr>
          <a:xfrm>
            <a:off x="822960" y="5276088"/>
            <a:ext cx="10515600" cy="749808"/>
          </a:xfrm>
          <a:prstGeom prst="roundRect">
            <a:avLst>
              <a:gd name="adj" fmla="val 9756"/>
            </a:avLst>
          </a:prstGeom>
          <a:solidFill>
            <a:srgbClr val="FAFAFC"/>
          </a:solidFill>
          <a:ln w="12700">
            <a:solidFill>
              <a:srgbClr val="E3E5E8"/>
            </a:solidFill>
            <a:prstDash val="solid"/>
          </a:ln>
        </p:spPr>
      </p:sp>
      <p:sp>
        <p:nvSpPr>
          <p:cNvPr id="25" name="Shape 23"/>
          <p:cNvSpPr/>
          <p:nvPr/>
        </p:nvSpPr>
        <p:spPr>
          <a:xfrm>
            <a:off x="1051560" y="5422392"/>
            <a:ext cx="457200" cy="457200"/>
          </a:xfrm>
          <a:prstGeom prst="ellipse">
            <a:avLst/>
          </a:prstGeom>
          <a:solidFill>
            <a:srgbClr val="AD8A57"/>
          </a:solidFill>
        </p:spPr>
      </p:sp>
      <p:sp>
        <p:nvSpPr>
          <p:cNvPr id="26" name="Text 24"/>
          <p:cNvSpPr/>
          <p:nvPr/>
        </p:nvSpPr>
        <p:spPr>
          <a:xfrm>
            <a:off x="1051560" y="5422392"/>
            <a:ext cx="457200" cy="457200"/>
          </a:xfrm>
          <a:prstGeom prst="rect">
            <a:avLst/>
          </a:prstGeom>
          <a:noFill/>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05</a:t>
            </a:r>
            <a:endParaRPr lang="en-US" sz="1600" dirty="0"/>
          </a:p>
        </p:txBody>
      </p:sp>
      <p:sp>
        <p:nvSpPr>
          <p:cNvPr id="27" name="Text 25"/>
          <p:cNvSpPr/>
          <p:nvPr/>
        </p:nvSpPr>
        <p:spPr>
          <a:xfrm>
            <a:off x="1737360" y="5349240"/>
            <a:ext cx="4389120" cy="320040"/>
          </a:xfrm>
          <a:prstGeom prst="rect">
            <a:avLst/>
          </a:prstGeom>
          <a:noFill/>
        </p:spPr>
        <p:txBody>
          <a:bodyPr wrap="square" rtlCol="0" anchor="ctr"/>
          <a:lstStyle/>
          <a:p>
            <a:pPr marL="0" indent="0">
              <a:buNone/>
            </a:pPr>
            <a:r>
              <a:rPr lang="en-US" sz="1500" b="1" dirty="0">
                <a:solidFill>
                  <a:srgbClr val="1A1A1A"/>
                </a:solidFill>
                <a:latin typeface="Calibri" pitchFamily="34" charset="0"/>
                <a:ea typeface="Calibri" pitchFamily="34" charset="-122"/>
                <a:cs typeface="Calibri" pitchFamily="34" charset="-120"/>
              </a:rPr>
              <a:t>The Recommendation</a:t>
            </a:r>
            <a:endParaRPr lang="en-US" sz="1500" dirty="0"/>
          </a:p>
        </p:txBody>
      </p:sp>
      <p:sp>
        <p:nvSpPr>
          <p:cNvPr id="28" name="Text 26"/>
          <p:cNvSpPr/>
          <p:nvPr/>
        </p:nvSpPr>
        <p:spPr>
          <a:xfrm>
            <a:off x="1737360" y="5660136"/>
            <a:ext cx="8503920" cy="320040"/>
          </a:xfrm>
          <a:prstGeom prst="rect">
            <a:avLst/>
          </a:prstGeom>
          <a:noFill/>
        </p:spPr>
        <p:txBody>
          <a:bodyPr wrap="square" rtlCol="0" anchor="ctr"/>
          <a:lstStyle/>
          <a:p>
            <a:pPr marL="0" indent="0">
              <a:buNone/>
            </a:pPr>
            <a:r>
              <a:rPr lang="en-US" sz="1150" dirty="0">
                <a:solidFill>
                  <a:srgbClr val="565A61"/>
                </a:solidFill>
                <a:latin typeface="Calibri" pitchFamily="34" charset="0"/>
                <a:ea typeface="Calibri" pitchFamily="34" charset="-122"/>
                <a:cs typeface="Calibri" pitchFamily="34" charset="-120"/>
              </a:rPr>
              <a:t>How HR would actually use this, and what's next</a:t>
            </a:r>
            <a:endParaRPr lang="en-US" sz="1150" dirty="0"/>
          </a:p>
        </p:txBody>
      </p:sp>
      <p:sp>
        <p:nvSpPr>
          <p:cNvPr id="29" name="Text 27"/>
          <p:cNvSpPr/>
          <p:nvPr/>
        </p:nvSpPr>
        <p:spPr>
          <a:xfrm>
            <a:off x="457200" y="6473952"/>
            <a:ext cx="7315200" cy="274320"/>
          </a:xfrm>
          <a:prstGeom prst="rect">
            <a:avLst/>
          </a:prstGeom>
          <a:noFill/>
        </p:spPr>
        <p:txBody>
          <a:bodyPr wrap="square" rtlCol="0" anchor="ctr"/>
          <a:lstStyle/>
          <a:p>
            <a:pPr marL="0" indent="0">
              <a:buNone/>
            </a:pPr>
            <a:r>
              <a:rPr lang="en-US" sz="900" dirty="0">
                <a:solidFill>
                  <a:srgbClr val="8B8F94"/>
                </a:solidFill>
                <a:latin typeface="Calibri" pitchFamily="34" charset="0"/>
                <a:ea typeface="Calibri" pitchFamily="34" charset="-122"/>
                <a:cs typeface="Calibri" pitchFamily="34" charset="-120"/>
              </a:rPr>
              <a:t>Attrition Model — Measured Results  ·  Data &amp; Analytics Briefing</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22960" y="438912"/>
            <a:ext cx="457200" cy="457200"/>
          </a:xfrm>
          <a:prstGeom prst="ellipse">
            <a:avLst/>
          </a:prstGeom>
          <a:solidFill>
            <a:srgbClr val="3E6B8A"/>
          </a:solidFill>
        </p:spPr>
      </p:sp>
      <p:sp>
        <p:nvSpPr>
          <p:cNvPr id="3" name="Text 1"/>
          <p:cNvSpPr/>
          <p:nvPr/>
        </p:nvSpPr>
        <p:spPr>
          <a:xfrm>
            <a:off x="822960" y="438912"/>
            <a:ext cx="457200" cy="457200"/>
          </a:xfrm>
          <a:prstGeom prst="rect">
            <a:avLst/>
          </a:prstGeom>
          <a:noFill/>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01</a:t>
            </a:r>
            <a:endParaRPr lang="en-US" sz="1600" dirty="0"/>
          </a:p>
        </p:txBody>
      </p:sp>
      <p:sp>
        <p:nvSpPr>
          <p:cNvPr id="4" name="Text 2"/>
          <p:cNvSpPr/>
          <p:nvPr/>
        </p:nvSpPr>
        <p:spPr>
          <a:xfrm>
            <a:off x="1463040" y="502920"/>
            <a:ext cx="8229600" cy="274320"/>
          </a:xfrm>
          <a:prstGeom prst="rect">
            <a:avLst/>
          </a:prstGeom>
          <a:noFill/>
        </p:spPr>
        <p:txBody>
          <a:bodyPr wrap="square" rtlCol="0" anchor="ctr"/>
          <a:lstStyle/>
          <a:p>
            <a:pPr marL="0" indent="0">
              <a:buNone/>
            </a:pPr>
            <a:r>
              <a:rPr lang="en-US" sz="1100" b="1" kern="0" spc="200" dirty="0">
                <a:solidFill>
                  <a:srgbClr val="3E6B8A"/>
                </a:solidFill>
                <a:latin typeface="Calibri" pitchFamily="34" charset="0"/>
                <a:ea typeface="Calibri" pitchFamily="34" charset="-122"/>
                <a:cs typeface="Calibri" pitchFamily="34" charset="-120"/>
              </a:rPr>
              <a:t>SECTION 01 · WHO'S AT RISK</a:t>
            </a:r>
            <a:endParaRPr lang="en-US" sz="1100" dirty="0"/>
          </a:p>
        </p:txBody>
      </p:sp>
      <p:sp>
        <p:nvSpPr>
          <p:cNvPr id="5" name="Text 3"/>
          <p:cNvSpPr/>
          <p:nvPr/>
        </p:nvSpPr>
        <p:spPr>
          <a:xfrm>
            <a:off x="822960" y="822960"/>
            <a:ext cx="10332720" cy="548640"/>
          </a:xfrm>
          <a:prstGeom prst="rect">
            <a:avLst/>
          </a:prstGeom>
          <a:noFill/>
        </p:spPr>
        <p:txBody>
          <a:bodyPr wrap="square" rtlCol="0" anchor="ctr"/>
          <a:lstStyle/>
          <a:p>
            <a:pPr marL="0" indent="0">
              <a:buNone/>
            </a:pPr>
            <a:r>
              <a:rPr lang="en-US" sz="2200" b="1" dirty="0">
                <a:solidFill>
                  <a:srgbClr val="1A1A1A"/>
                </a:solidFill>
                <a:latin typeface="Calibri" pitchFamily="34" charset="0"/>
                <a:ea typeface="Calibri" pitchFamily="34" charset="-122"/>
                <a:cs typeface="Calibri" pitchFamily="34" charset="-120"/>
              </a:rPr>
              <a:t>What’s the problem</a:t>
            </a:r>
            <a:endParaRPr lang="en-US" sz="2200" dirty="0"/>
          </a:p>
        </p:txBody>
      </p:sp>
      <p:sp>
        <p:nvSpPr>
          <p:cNvPr id="6" name="Shape 4"/>
          <p:cNvSpPr/>
          <p:nvPr/>
        </p:nvSpPr>
        <p:spPr>
          <a:xfrm>
            <a:off x="822960" y="1371600"/>
            <a:ext cx="10332720" cy="1097280"/>
          </a:xfrm>
          <a:prstGeom prst="roundRect">
            <a:avLst>
              <a:gd name="adj" fmla="val 6667"/>
            </a:avLst>
          </a:prstGeom>
          <a:solidFill>
            <a:srgbClr val="FAFAFC"/>
          </a:solidFill>
          <a:ln w="12700">
            <a:solidFill>
              <a:srgbClr val="E3E5E8"/>
            </a:solidFill>
            <a:prstDash val="solid"/>
          </a:ln>
        </p:spPr>
      </p:sp>
      <p:sp>
        <p:nvSpPr>
          <p:cNvPr id="7" name="Text 5"/>
          <p:cNvSpPr/>
          <p:nvPr/>
        </p:nvSpPr>
        <p:spPr>
          <a:xfrm>
            <a:off x="1143000" y="1499616"/>
            <a:ext cx="9692640" cy="237744"/>
          </a:xfrm>
          <a:prstGeom prst="rect">
            <a:avLst/>
          </a:prstGeom>
          <a:noFill/>
        </p:spPr>
        <p:txBody>
          <a:bodyPr wrap="square" rtlCol="0" anchor="ctr"/>
          <a:lstStyle/>
          <a:p>
            <a:pPr marL="0" indent="0">
              <a:buNone/>
            </a:pPr>
            <a:r>
              <a:rPr lang="en-US" sz="1100" b="1" kern="0" spc="150" dirty="0">
                <a:solidFill>
                  <a:srgbClr val="AD8A57"/>
                </a:solidFill>
                <a:latin typeface="Calibri" pitchFamily="34" charset="0"/>
                <a:ea typeface="Calibri" pitchFamily="34" charset="-122"/>
                <a:cs typeface="Calibri" pitchFamily="34" charset="-120"/>
              </a:rPr>
              <a:t>THE PROBLEM</a:t>
            </a:r>
            <a:endParaRPr lang="en-US" sz="1100" dirty="0"/>
          </a:p>
        </p:txBody>
      </p:sp>
      <p:sp>
        <p:nvSpPr>
          <p:cNvPr id="8" name="Text 6"/>
          <p:cNvSpPr/>
          <p:nvPr/>
        </p:nvSpPr>
        <p:spPr>
          <a:xfrm>
            <a:off x="1143000" y="1755648"/>
            <a:ext cx="9692640" cy="658368"/>
          </a:xfrm>
          <a:prstGeom prst="rect">
            <a:avLst/>
          </a:prstGeom>
          <a:noFill/>
        </p:spPr>
        <p:txBody>
          <a:bodyPr wrap="square" rtlCol="0" anchor="t"/>
          <a:lstStyle/>
          <a:p>
            <a:pPr marL="0" indent="0">
              <a:buNone/>
            </a:pPr>
            <a:r>
              <a:rPr lang="en-US" sz="1200" dirty="0">
                <a:solidFill>
                  <a:srgbClr val="565A61"/>
                </a:solidFill>
                <a:latin typeface="Calibri" pitchFamily="34" charset="0"/>
                <a:ea typeface="Calibri" pitchFamily="34" charset="-122"/>
                <a:cs typeface="Calibri" pitchFamily="34" charset="-120"/>
              </a:rPr>
              <a:t>Employee attrition is expensive and hard to see coming. This is demonstrated on IBM's own published HR Analytics Employee Attrition dataset (Kaggle) — 1,470 employees, 237 who left and 1,233 who stayed (16.1% attrition).</a:t>
            </a:r>
            <a:endParaRPr lang="en-US" sz="1200" dirty="0"/>
          </a:p>
        </p:txBody>
      </p:sp>
      <p:sp>
        <p:nvSpPr>
          <p:cNvPr id="9" name="Shape 7"/>
          <p:cNvSpPr/>
          <p:nvPr/>
        </p:nvSpPr>
        <p:spPr>
          <a:xfrm>
            <a:off x="822960" y="2587752"/>
            <a:ext cx="10332720" cy="1097280"/>
          </a:xfrm>
          <a:prstGeom prst="roundRect">
            <a:avLst>
              <a:gd name="adj" fmla="val 6667"/>
            </a:avLst>
          </a:prstGeom>
          <a:solidFill>
            <a:srgbClr val="FAFAFC"/>
          </a:solidFill>
          <a:ln w="12700">
            <a:solidFill>
              <a:srgbClr val="E3E5E8"/>
            </a:solidFill>
            <a:prstDash val="solid"/>
          </a:ln>
        </p:spPr>
      </p:sp>
      <p:sp>
        <p:nvSpPr>
          <p:cNvPr id="10" name="Text 8"/>
          <p:cNvSpPr/>
          <p:nvPr/>
        </p:nvSpPr>
        <p:spPr>
          <a:xfrm>
            <a:off x="1143000" y="2715768"/>
            <a:ext cx="9692640" cy="237744"/>
          </a:xfrm>
          <a:prstGeom prst="rect">
            <a:avLst/>
          </a:prstGeom>
          <a:noFill/>
        </p:spPr>
        <p:txBody>
          <a:bodyPr wrap="square" rtlCol="0" anchor="ctr"/>
          <a:lstStyle/>
          <a:p>
            <a:pPr marL="0" indent="0">
              <a:buNone/>
            </a:pPr>
            <a:r>
              <a:rPr lang="en-US" sz="1100" b="1" kern="0" spc="150" dirty="0">
                <a:solidFill>
                  <a:srgbClr val="3E6B8A"/>
                </a:solidFill>
                <a:latin typeface="Calibri" pitchFamily="34" charset="0"/>
                <a:ea typeface="Calibri" pitchFamily="34" charset="-122"/>
                <a:cs typeface="Calibri" pitchFamily="34" charset="-120"/>
              </a:rPr>
              <a:t>THE GOAL</a:t>
            </a:r>
            <a:endParaRPr lang="en-US" sz="1100" dirty="0"/>
          </a:p>
        </p:txBody>
      </p:sp>
      <p:sp>
        <p:nvSpPr>
          <p:cNvPr id="11" name="Text 9"/>
          <p:cNvSpPr/>
          <p:nvPr/>
        </p:nvSpPr>
        <p:spPr>
          <a:xfrm>
            <a:off x="1143000" y="2971800"/>
            <a:ext cx="9692640" cy="658368"/>
          </a:xfrm>
          <a:prstGeom prst="rect">
            <a:avLst/>
          </a:prstGeom>
          <a:noFill/>
        </p:spPr>
        <p:txBody>
          <a:bodyPr wrap="square" rtlCol="0" anchor="t"/>
          <a:lstStyle/>
          <a:p>
            <a:pPr marL="0" indent="0">
              <a:buNone/>
            </a:pPr>
            <a:r>
              <a:rPr lang="en-US" sz="1200" dirty="0">
                <a:solidFill>
                  <a:srgbClr val="565A61"/>
                </a:solidFill>
                <a:latin typeface="Calibri" pitchFamily="34" charset="0"/>
                <a:ea typeface="Calibri" pitchFamily="34" charset="-122"/>
                <a:cs typeface="Calibri" pitchFamily="34" charset="-120"/>
              </a:rPr>
              <a:t>Catch flight risk — the probability that a given employee is likely to leave soon, based on patterns in their work history — early enough to act on it, instead of finding out in the exit interview, when it's already too late.</a:t>
            </a:r>
            <a:endParaRPr lang="en-US" sz="1200" dirty="0"/>
          </a:p>
        </p:txBody>
      </p:sp>
      <p:sp>
        <p:nvSpPr>
          <p:cNvPr id="12" name="Shape 10"/>
          <p:cNvSpPr/>
          <p:nvPr/>
        </p:nvSpPr>
        <p:spPr>
          <a:xfrm>
            <a:off x="822960" y="3803904"/>
            <a:ext cx="10332720" cy="1097280"/>
          </a:xfrm>
          <a:prstGeom prst="roundRect">
            <a:avLst>
              <a:gd name="adj" fmla="val 6667"/>
            </a:avLst>
          </a:prstGeom>
          <a:solidFill>
            <a:srgbClr val="FAFAFC"/>
          </a:solidFill>
          <a:ln w="12700">
            <a:solidFill>
              <a:srgbClr val="E3E5E8"/>
            </a:solidFill>
            <a:prstDash val="solid"/>
          </a:ln>
        </p:spPr>
      </p:sp>
      <p:sp>
        <p:nvSpPr>
          <p:cNvPr id="13" name="Text 11"/>
          <p:cNvSpPr/>
          <p:nvPr/>
        </p:nvSpPr>
        <p:spPr>
          <a:xfrm>
            <a:off x="1143000" y="3931920"/>
            <a:ext cx="9692640" cy="237744"/>
          </a:xfrm>
          <a:prstGeom prst="rect">
            <a:avLst/>
          </a:prstGeom>
          <a:noFill/>
        </p:spPr>
        <p:txBody>
          <a:bodyPr wrap="square" rtlCol="0" anchor="ctr"/>
          <a:lstStyle/>
          <a:p>
            <a:pPr marL="0" indent="0">
              <a:buNone/>
            </a:pPr>
            <a:r>
              <a:rPr lang="en-US" sz="1100" b="1" kern="0" spc="150" dirty="0">
                <a:solidFill>
                  <a:srgbClr val="AD8A57"/>
                </a:solidFill>
                <a:latin typeface="Calibri" pitchFamily="34" charset="0"/>
                <a:ea typeface="Calibri" pitchFamily="34" charset="-122"/>
                <a:cs typeface="Calibri" pitchFamily="34" charset="-120"/>
              </a:rPr>
              <a:t>WHAT ARE WE BUILDING</a:t>
            </a:r>
            <a:endParaRPr lang="en-US" sz="1100" dirty="0"/>
          </a:p>
        </p:txBody>
      </p:sp>
      <p:sp>
        <p:nvSpPr>
          <p:cNvPr id="14" name="Text 12"/>
          <p:cNvSpPr/>
          <p:nvPr/>
        </p:nvSpPr>
        <p:spPr>
          <a:xfrm>
            <a:off x="1143000" y="4187952"/>
            <a:ext cx="9692640" cy="658368"/>
          </a:xfrm>
          <a:prstGeom prst="rect">
            <a:avLst/>
          </a:prstGeom>
          <a:noFill/>
        </p:spPr>
        <p:txBody>
          <a:bodyPr wrap="square" rtlCol="0" anchor="t"/>
          <a:lstStyle/>
          <a:p>
            <a:pPr marL="0" indent="0">
              <a:buNone/>
            </a:pPr>
            <a:r>
              <a:rPr lang="en-US" sz="1200" dirty="0">
                <a:solidFill>
                  <a:srgbClr val="565A61"/>
                </a:solidFill>
                <a:latin typeface="Calibri" pitchFamily="34" charset="0"/>
                <a:ea typeface="Calibri" pitchFamily="34" charset="-122"/>
                <a:cs typeface="Calibri" pitchFamily="34" charset="-120"/>
              </a:rPr>
              <a:t>A simple early-warning model that reads patterns in past employee data. Unlike generative AI, it doesn't hallucinate — it only outputs statistical patterns measured directly from real historical records.</a:t>
            </a:r>
            <a:endParaRPr lang="en-US" sz="1200" dirty="0"/>
          </a:p>
        </p:txBody>
      </p:sp>
      <p:sp>
        <p:nvSpPr>
          <p:cNvPr id="15" name="Shape 13"/>
          <p:cNvSpPr/>
          <p:nvPr/>
        </p:nvSpPr>
        <p:spPr>
          <a:xfrm>
            <a:off x="822960" y="5020056"/>
            <a:ext cx="10332720" cy="1097280"/>
          </a:xfrm>
          <a:prstGeom prst="roundRect">
            <a:avLst>
              <a:gd name="adj" fmla="val 6667"/>
            </a:avLst>
          </a:prstGeom>
          <a:solidFill>
            <a:srgbClr val="FAFAFC"/>
          </a:solidFill>
          <a:ln w="12700">
            <a:solidFill>
              <a:srgbClr val="E3E5E8"/>
            </a:solidFill>
            <a:prstDash val="solid"/>
          </a:ln>
        </p:spPr>
      </p:sp>
      <p:sp>
        <p:nvSpPr>
          <p:cNvPr id="16" name="Text 14"/>
          <p:cNvSpPr/>
          <p:nvPr/>
        </p:nvSpPr>
        <p:spPr>
          <a:xfrm>
            <a:off x="1143000" y="5148072"/>
            <a:ext cx="9692640" cy="237744"/>
          </a:xfrm>
          <a:prstGeom prst="rect">
            <a:avLst/>
          </a:prstGeom>
          <a:noFill/>
        </p:spPr>
        <p:txBody>
          <a:bodyPr wrap="square" rtlCol="0" anchor="ctr"/>
          <a:lstStyle/>
          <a:p>
            <a:pPr marL="0" indent="0">
              <a:buNone/>
            </a:pPr>
            <a:r>
              <a:rPr lang="en-US" sz="1100" b="1" kern="0" spc="150" dirty="0">
                <a:solidFill>
                  <a:srgbClr val="3E6B8A"/>
                </a:solidFill>
                <a:latin typeface="Calibri" pitchFamily="34" charset="0"/>
                <a:ea typeface="Calibri" pitchFamily="34" charset="-122"/>
                <a:cs typeface="Calibri" pitchFamily="34" charset="-120"/>
              </a:rPr>
              <a:t>HOW IT WORKS</a:t>
            </a:r>
            <a:endParaRPr lang="en-US" sz="1100" dirty="0"/>
          </a:p>
        </p:txBody>
      </p:sp>
      <p:sp>
        <p:nvSpPr>
          <p:cNvPr id="17" name="Text 15"/>
          <p:cNvSpPr/>
          <p:nvPr/>
        </p:nvSpPr>
        <p:spPr>
          <a:xfrm>
            <a:off x="1143000" y="5404104"/>
            <a:ext cx="9692640" cy="658368"/>
          </a:xfrm>
          <a:prstGeom prst="rect">
            <a:avLst/>
          </a:prstGeom>
          <a:noFill/>
        </p:spPr>
        <p:txBody>
          <a:bodyPr wrap="square" rtlCol="0" anchor="t"/>
          <a:lstStyle/>
          <a:p>
            <a:pPr marL="0" indent="0">
              <a:buNone/>
            </a:pPr>
            <a:r>
              <a:rPr lang="en-US" sz="1200" dirty="0">
                <a:solidFill>
                  <a:srgbClr val="565A61"/>
                </a:solidFill>
                <a:latin typeface="Calibri" pitchFamily="34" charset="0"/>
                <a:ea typeface="Calibri" pitchFamily="34" charset="-122"/>
                <a:cs typeface="Calibri" pitchFamily="34" charset="-120"/>
              </a:rPr>
              <a:t>It learns what past leavers had in common, then compares today's employees to that pattern and flags the ones who look similar. The next slide shows exactly how well that worked, measured on real data.</a:t>
            </a:r>
            <a:endParaRPr lang="en-US" sz="1200" dirty="0"/>
          </a:p>
        </p:txBody>
      </p:sp>
      <p:sp>
        <p:nvSpPr>
          <p:cNvPr id="18" name="Text 16"/>
          <p:cNvSpPr/>
          <p:nvPr/>
        </p:nvSpPr>
        <p:spPr>
          <a:xfrm>
            <a:off x="457200" y="6473952"/>
            <a:ext cx="7315200" cy="274320"/>
          </a:xfrm>
          <a:prstGeom prst="rect">
            <a:avLst/>
          </a:prstGeom>
          <a:noFill/>
        </p:spPr>
        <p:txBody>
          <a:bodyPr wrap="square" rtlCol="0" anchor="ctr"/>
          <a:lstStyle/>
          <a:p>
            <a:pPr marL="0" indent="0">
              <a:buNone/>
            </a:pPr>
            <a:r>
              <a:rPr lang="en-US" sz="900" dirty="0">
                <a:solidFill>
                  <a:srgbClr val="8B8F94"/>
                </a:solidFill>
                <a:latin typeface="Calibri" pitchFamily="34" charset="0"/>
                <a:ea typeface="Calibri" pitchFamily="34" charset="-122"/>
                <a:cs typeface="Calibri" pitchFamily="34" charset="-120"/>
              </a:rPr>
              <a:t>Attrition Model — Measured Results  ·  Data &amp; Analytics Briefing</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22960" y="457200"/>
            <a:ext cx="457200" cy="457200"/>
          </a:xfrm>
          <a:prstGeom prst="ellipse">
            <a:avLst/>
          </a:prstGeom>
          <a:solidFill>
            <a:srgbClr val="3E6B8A"/>
          </a:solidFill>
        </p:spPr>
      </p:sp>
      <p:sp>
        <p:nvSpPr>
          <p:cNvPr id="3" name="Text 1"/>
          <p:cNvSpPr/>
          <p:nvPr/>
        </p:nvSpPr>
        <p:spPr>
          <a:xfrm>
            <a:off x="822960" y="457200"/>
            <a:ext cx="457200" cy="457200"/>
          </a:xfrm>
          <a:prstGeom prst="rect">
            <a:avLst/>
          </a:prstGeom>
          <a:noFill/>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01</a:t>
            </a:r>
            <a:endParaRPr lang="en-US" sz="1600" dirty="0"/>
          </a:p>
        </p:txBody>
      </p:sp>
      <p:sp>
        <p:nvSpPr>
          <p:cNvPr id="4" name="Text 2"/>
          <p:cNvSpPr/>
          <p:nvPr/>
        </p:nvSpPr>
        <p:spPr>
          <a:xfrm>
            <a:off x="1463040" y="521208"/>
            <a:ext cx="8229600" cy="274320"/>
          </a:xfrm>
          <a:prstGeom prst="rect">
            <a:avLst/>
          </a:prstGeom>
          <a:noFill/>
        </p:spPr>
        <p:txBody>
          <a:bodyPr wrap="square" rtlCol="0" anchor="ctr"/>
          <a:lstStyle/>
          <a:p>
            <a:pPr marL="0" indent="0">
              <a:buNone/>
            </a:pPr>
            <a:r>
              <a:rPr lang="en-US" sz="1100" b="1" kern="0" spc="200" dirty="0">
                <a:solidFill>
                  <a:srgbClr val="3E6B8A"/>
                </a:solidFill>
                <a:latin typeface="Calibri" pitchFamily="34" charset="0"/>
                <a:ea typeface="Calibri" pitchFamily="34" charset="-122"/>
                <a:cs typeface="Calibri" pitchFamily="34" charset="-120"/>
              </a:rPr>
              <a:t>SECTION 01 · WHO'S AT RISK</a:t>
            </a:r>
            <a:endParaRPr lang="en-US" sz="1100" dirty="0"/>
          </a:p>
        </p:txBody>
      </p:sp>
      <p:sp>
        <p:nvSpPr>
          <p:cNvPr id="5" name="Text 3"/>
          <p:cNvSpPr/>
          <p:nvPr/>
        </p:nvSpPr>
        <p:spPr>
          <a:xfrm>
            <a:off x="822960" y="960120"/>
            <a:ext cx="10332720" cy="548640"/>
          </a:xfrm>
          <a:prstGeom prst="rect">
            <a:avLst/>
          </a:prstGeom>
          <a:noFill/>
        </p:spPr>
        <p:txBody>
          <a:bodyPr wrap="square" rtlCol="0" anchor="ctr"/>
          <a:lstStyle/>
          <a:p>
            <a:pPr marL="0" indent="0">
              <a:buNone/>
            </a:pPr>
            <a:r>
              <a:rPr lang="en-US" sz="2200" b="1" dirty="0">
                <a:solidFill>
                  <a:srgbClr val="1A1A1A"/>
                </a:solidFill>
                <a:latin typeface="Calibri" pitchFamily="34" charset="0"/>
                <a:ea typeface="Calibri" pitchFamily="34" charset="-122"/>
                <a:cs typeface="Calibri" pitchFamily="34" charset="-120"/>
              </a:rPr>
              <a:t>16.1% Attrition: Who's At Risk, and What To Do</a:t>
            </a:r>
            <a:endParaRPr lang="en-US" sz="2200" dirty="0"/>
          </a:p>
        </p:txBody>
      </p:sp>
      <p:sp>
        <p:nvSpPr>
          <p:cNvPr id="6" name="Text 4"/>
          <p:cNvSpPr/>
          <p:nvPr/>
        </p:nvSpPr>
        <p:spPr>
          <a:xfrm>
            <a:off x="822960" y="1417320"/>
            <a:ext cx="10332720" cy="502920"/>
          </a:xfrm>
          <a:prstGeom prst="rect">
            <a:avLst/>
          </a:prstGeom>
          <a:noFill/>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1,470 real employee records — 237 who left, 1,233 who stayed (16.1% attrition) — from IBM's HR Analytics Employee Attrition dataset (Kaggle). Of the 294 held out for testing, every employee falls into one of four groups: </a:t>
            </a:r>
            <a:endParaRPr lang="en-US" sz="1150" dirty="0"/>
          </a:p>
        </p:txBody>
      </p:sp>
      <p:sp>
        <p:nvSpPr>
          <p:cNvPr id="7" name="Shape 5"/>
          <p:cNvSpPr/>
          <p:nvPr/>
        </p:nvSpPr>
        <p:spPr>
          <a:xfrm>
            <a:off x="822960" y="1993392"/>
            <a:ext cx="5074920" cy="2103120"/>
          </a:xfrm>
          <a:prstGeom prst="roundRect">
            <a:avLst>
              <a:gd name="adj" fmla="val 3478"/>
            </a:avLst>
          </a:prstGeom>
          <a:solidFill>
            <a:srgbClr val="FAFAFC"/>
          </a:solidFill>
          <a:ln w="12700">
            <a:solidFill>
              <a:srgbClr val="E3E5E8"/>
            </a:solidFill>
            <a:prstDash val="solid"/>
          </a:ln>
        </p:spPr>
      </p:sp>
      <p:sp>
        <p:nvSpPr>
          <p:cNvPr id="8" name="Shape 6"/>
          <p:cNvSpPr/>
          <p:nvPr/>
        </p:nvSpPr>
        <p:spPr>
          <a:xfrm>
            <a:off x="822960" y="1993392"/>
            <a:ext cx="73152" cy="2103120"/>
          </a:xfrm>
          <a:prstGeom prst="rect">
            <a:avLst/>
          </a:prstGeom>
          <a:solidFill>
            <a:srgbClr val="AEB4BB"/>
          </a:solidFill>
        </p:spPr>
      </p:sp>
      <p:sp>
        <p:nvSpPr>
          <p:cNvPr id="9" name="Text 7"/>
          <p:cNvSpPr/>
          <p:nvPr/>
        </p:nvSpPr>
        <p:spPr>
          <a:xfrm>
            <a:off x="1051560" y="2103120"/>
            <a:ext cx="960120" cy="548640"/>
          </a:xfrm>
          <a:prstGeom prst="rect">
            <a:avLst/>
          </a:prstGeom>
          <a:noFill/>
        </p:spPr>
        <p:txBody>
          <a:bodyPr wrap="square" rtlCol="0" anchor="ctr"/>
          <a:lstStyle/>
          <a:p>
            <a:pPr marL="0" indent="0">
              <a:buNone/>
            </a:pPr>
            <a:r>
              <a:rPr lang="en-US" sz="2600" b="1" dirty="0">
                <a:solidFill>
                  <a:srgbClr val="1A1A1A"/>
                </a:solidFill>
                <a:latin typeface="Calibri" pitchFamily="34" charset="0"/>
                <a:ea typeface="Calibri" pitchFamily="34" charset="-122"/>
                <a:cs typeface="Calibri" pitchFamily="34" charset="-120"/>
              </a:rPr>
              <a:t>192</a:t>
            </a:r>
            <a:endParaRPr lang="en-US" sz="2600" dirty="0"/>
          </a:p>
        </p:txBody>
      </p:sp>
      <p:sp>
        <p:nvSpPr>
          <p:cNvPr id="10" name="Text 8"/>
          <p:cNvSpPr/>
          <p:nvPr/>
        </p:nvSpPr>
        <p:spPr>
          <a:xfrm>
            <a:off x="2057400" y="2103120"/>
            <a:ext cx="3657600" cy="274320"/>
          </a:xfrm>
          <a:prstGeom prst="rect">
            <a:avLst/>
          </a:prstGeom>
          <a:noFill/>
        </p:spPr>
        <p:txBody>
          <a:bodyPr wrap="square" rtlCol="0" anchor="ctr"/>
          <a:lstStyle/>
          <a:p>
            <a:pPr marL="0" indent="0">
              <a:buNone/>
            </a:pPr>
            <a:r>
              <a:rPr lang="en-US" sz="1300" b="1" dirty="0">
                <a:solidFill>
                  <a:srgbClr val="1A1A1A"/>
                </a:solidFill>
                <a:latin typeface="Calibri" pitchFamily="34" charset="0"/>
                <a:ea typeface="Calibri" pitchFamily="34" charset="-122"/>
                <a:cs typeface="Calibri" pitchFamily="34" charset="-120"/>
              </a:rPr>
              <a:t>Quietly Fine</a:t>
            </a:r>
            <a:endParaRPr lang="en-US" sz="1300" dirty="0"/>
          </a:p>
        </p:txBody>
      </p:sp>
      <p:sp>
        <p:nvSpPr>
          <p:cNvPr id="11" name="Text 9"/>
          <p:cNvSpPr/>
          <p:nvPr/>
        </p:nvSpPr>
        <p:spPr>
          <a:xfrm>
            <a:off x="2057400" y="2395728"/>
            <a:ext cx="3657600" cy="365760"/>
          </a:xfrm>
          <a:prstGeom prst="rect">
            <a:avLst/>
          </a:prstGeom>
          <a:noFill/>
        </p:spPr>
        <p:txBody>
          <a:bodyPr wrap="square" rtlCol="0" anchor="ctr"/>
          <a:lstStyle/>
          <a:p>
            <a:pPr marL="0" indent="0">
              <a:buNone/>
            </a:pPr>
            <a:r>
              <a:rPr lang="en-US" sz="820" kern="0" spc="30" dirty="0">
                <a:solidFill>
                  <a:srgbClr val="AEB4BB"/>
                </a:solidFill>
                <a:latin typeface="Calibri" pitchFamily="34" charset="0"/>
                <a:ea typeface="Calibri" pitchFamily="34" charset="-122"/>
                <a:cs typeface="Calibri" pitchFamily="34" charset="-120"/>
              </a:rPr>
              <a:t>ACTUALLY STAYED · LOW RISK</a:t>
            </a:r>
            <a:endParaRPr lang="en-US" sz="820" dirty="0"/>
          </a:p>
        </p:txBody>
      </p:sp>
      <p:sp>
        <p:nvSpPr>
          <p:cNvPr id="12" name="Text 10"/>
          <p:cNvSpPr/>
          <p:nvPr/>
        </p:nvSpPr>
        <p:spPr>
          <a:xfrm>
            <a:off x="1051560" y="2798064"/>
            <a:ext cx="4617720" cy="475488"/>
          </a:xfrm>
          <a:prstGeom prst="rect">
            <a:avLst/>
          </a:prstGeom>
          <a:noFill/>
        </p:spPr>
        <p:txBody>
          <a:bodyPr wrap="square" rtlCol="0" anchor="t"/>
          <a:lstStyle/>
          <a:p>
            <a:pPr marL="0" indent="0">
              <a:buNone/>
            </a:pPr>
            <a:r>
              <a:rPr lang="en-US" sz="910" b="1" dirty="0">
                <a:solidFill>
                  <a:srgbClr val="565A61"/>
                </a:solidFill>
                <a:latin typeface="Calibri" pitchFamily="34" charset="0"/>
                <a:ea typeface="Calibri" pitchFamily="34" charset="-122"/>
                <a:cs typeface="Calibri" pitchFamily="34" charset="-120"/>
              </a:rPr>
              <a:t>Intervention: </a:t>
            </a:r>
            <a:r>
              <a:rPr lang="en-US" sz="910" dirty="0">
                <a:solidFill>
                  <a:srgbClr val="565A61"/>
                </a:solidFill>
                <a:latin typeface="Calibri" pitchFamily="34" charset="0"/>
                <a:ea typeface="Calibri" pitchFamily="34" charset="-122"/>
                <a:cs typeface="Calibri" pitchFamily="34" charset="-120"/>
              </a:rPr>
              <a:t>Not needed.</a:t>
            </a:r>
            <a:endParaRPr lang="en-US" sz="910" dirty="0"/>
          </a:p>
        </p:txBody>
      </p:sp>
      <p:sp>
        <p:nvSpPr>
          <p:cNvPr id="13" name="Text 11"/>
          <p:cNvSpPr/>
          <p:nvPr/>
        </p:nvSpPr>
        <p:spPr>
          <a:xfrm>
            <a:off x="1051560" y="3255264"/>
            <a:ext cx="4617720" cy="777240"/>
          </a:xfrm>
          <a:prstGeom prst="rect">
            <a:avLst/>
          </a:prstGeom>
          <a:noFill/>
        </p:spPr>
        <p:txBody>
          <a:bodyPr wrap="square" rtlCol="0" anchor="t"/>
          <a:lstStyle/>
          <a:p>
            <a:pPr marL="0" indent="0">
              <a:buNone/>
            </a:pPr>
            <a:r>
              <a:rPr lang="en-US" sz="860" b="1" dirty="0">
                <a:solidFill>
                  <a:srgbClr val="AEB4BB"/>
                </a:solidFill>
                <a:latin typeface="Calibri" pitchFamily="34" charset="0"/>
                <a:ea typeface="Calibri" pitchFamily="34" charset="-122"/>
                <a:cs typeface="Calibri" pitchFamily="34" charset="-120"/>
              </a:rPr>
              <a:t>Impact: </a:t>
            </a:r>
            <a:r>
              <a:rPr lang="en-US" sz="860" dirty="0">
                <a:solidFill>
                  <a:srgbClr val="565A61"/>
                </a:solidFill>
                <a:latin typeface="Calibri" pitchFamily="34" charset="0"/>
                <a:ea typeface="Calibri" pitchFamily="34" charset="-122"/>
                <a:cs typeface="Calibri" pitchFamily="34" charset="-120"/>
              </a:rPr>
              <a:t>Confirms the model isn't over-flagging.</a:t>
            </a:r>
            <a:endParaRPr lang="en-US" sz="860" dirty="0"/>
          </a:p>
        </p:txBody>
      </p:sp>
      <p:sp>
        <p:nvSpPr>
          <p:cNvPr id="14" name="Shape 12"/>
          <p:cNvSpPr/>
          <p:nvPr/>
        </p:nvSpPr>
        <p:spPr>
          <a:xfrm>
            <a:off x="6080760" y="1993392"/>
            <a:ext cx="5074920" cy="2103120"/>
          </a:xfrm>
          <a:prstGeom prst="roundRect">
            <a:avLst>
              <a:gd name="adj" fmla="val 3478"/>
            </a:avLst>
          </a:prstGeom>
          <a:solidFill>
            <a:srgbClr val="FAFAFC"/>
          </a:solidFill>
          <a:ln w="12700">
            <a:solidFill>
              <a:srgbClr val="E3E5E8"/>
            </a:solidFill>
            <a:prstDash val="solid"/>
          </a:ln>
        </p:spPr>
      </p:sp>
      <p:sp>
        <p:nvSpPr>
          <p:cNvPr id="15" name="Shape 13"/>
          <p:cNvSpPr/>
          <p:nvPr/>
        </p:nvSpPr>
        <p:spPr>
          <a:xfrm>
            <a:off x="6080760" y="1993392"/>
            <a:ext cx="73152" cy="2103120"/>
          </a:xfrm>
          <a:prstGeom prst="rect">
            <a:avLst/>
          </a:prstGeom>
          <a:solidFill>
            <a:srgbClr val="B98B3E"/>
          </a:solidFill>
        </p:spPr>
      </p:sp>
      <p:sp>
        <p:nvSpPr>
          <p:cNvPr id="16" name="Text 14"/>
          <p:cNvSpPr/>
          <p:nvPr/>
        </p:nvSpPr>
        <p:spPr>
          <a:xfrm>
            <a:off x="6309360" y="2103120"/>
            <a:ext cx="960120" cy="548640"/>
          </a:xfrm>
          <a:prstGeom prst="rect">
            <a:avLst/>
          </a:prstGeom>
          <a:noFill/>
        </p:spPr>
        <p:txBody>
          <a:bodyPr wrap="square" rtlCol="0" anchor="ctr"/>
          <a:lstStyle/>
          <a:p>
            <a:pPr marL="0" indent="0">
              <a:buNone/>
            </a:pPr>
            <a:r>
              <a:rPr lang="en-US" sz="2600" b="1" dirty="0">
                <a:solidFill>
                  <a:srgbClr val="1A1A1A"/>
                </a:solidFill>
                <a:latin typeface="Calibri" pitchFamily="34" charset="0"/>
                <a:ea typeface="Calibri" pitchFamily="34" charset="-122"/>
                <a:cs typeface="Calibri" pitchFamily="34" charset="-120"/>
              </a:rPr>
              <a:t>55</a:t>
            </a:r>
            <a:endParaRPr lang="en-US" sz="2600" dirty="0"/>
          </a:p>
        </p:txBody>
      </p:sp>
      <p:sp>
        <p:nvSpPr>
          <p:cNvPr id="17" name="Text 15"/>
          <p:cNvSpPr/>
          <p:nvPr/>
        </p:nvSpPr>
        <p:spPr>
          <a:xfrm>
            <a:off x="7315200" y="2103120"/>
            <a:ext cx="3657600" cy="274320"/>
          </a:xfrm>
          <a:prstGeom prst="rect">
            <a:avLst/>
          </a:prstGeom>
          <a:noFill/>
        </p:spPr>
        <p:txBody>
          <a:bodyPr wrap="square" rtlCol="0" anchor="ctr"/>
          <a:lstStyle/>
          <a:p>
            <a:pPr marL="0" indent="0">
              <a:buNone/>
            </a:pPr>
            <a:r>
              <a:rPr lang="en-US" sz="1300" b="1" dirty="0">
                <a:solidFill>
                  <a:srgbClr val="1A1A1A"/>
                </a:solidFill>
                <a:latin typeface="Calibri" pitchFamily="34" charset="0"/>
                <a:ea typeface="Calibri" pitchFamily="34" charset="-122"/>
                <a:cs typeface="Calibri" pitchFamily="34" charset="-120"/>
              </a:rPr>
              <a:t>False Alarm</a:t>
            </a:r>
            <a:endParaRPr lang="en-US" sz="1300" dirty="0"/>
          </a:p>
        </p:txBody>
      </p:sp>
      <p:sp>
        <p:nvSpPr>
          <p:cNvPr id="18" name="Text 16"/>
          <p:cNvSpPr/>
          <p:nvPr/>
        </p:nvSpPr>
        <p:spPr>
          <a:xfrm>
            <a:off x="7315200" y="2395728"/>
            <a:ext cx="3657600" cy="365760"/>
          </a:xfrm>
          <a:prstGeom prst="rect">
            <a:avLst/>
          </a:prstGeom>
          <a:noFill/>
        </p:spPr>
        <p:txBody>
          <a:bodyPr wrap="square" rtlCol="0" anchor="ctr"/>
          <a:lstStyle/>
          <a:p>
            <a:pPr marL="0" indent="0">
              <a:buNone/>
            </a:pPr>
            <a:r>
              <a:rPr lang="en-US" sz="820" kern="0" spc="30" dirty="0">
                <a:solidFill>
                  <a:srgbClr val="B98B3E"/>
                </a:solidFill>
                <a:latin typeface="Calibri" pitchFamily="34" charset="0"/>
                <a:ea typeface="Calibri" pitchFamily="34" charset="-122"/>
                <a:cs typeface="Calibri" pitchFamily="34" charset="-120"/>
              </a:rPr>
              <a:t>ACTUALLY STAYED · FLAGGED HIGH RISK</a:t>
            </a:r>
            <a:endParaRPr lang="en-US" sz="820" dirty="0"/>
          </a:p>
        </p:txBody>
      </p:sp>
      <p:sp>
        <p:nvSpPr>
          <p:cNvPr id="19" name="Text 17"/>
          <p:cNvSpPr/>
          <p:nvPr/>
        </p:nvSpPr>
        <p:spPr>
          <a:xfrm>
            <a:off x="6309360" y="2798064"/>
            <a:ext cx="4617720" cy="475488"/>
          </a:xfrm>
          <a:prstGeom prst="rect">
            <a:avLst/>
          </a:prstGeom>
          <a:noFill/>
        </p:spPr>
        <p:txBody>
          <a:bodyPr wrap="square" rtlCol="0" anchor="t"/>
          <a:lstStyle/>
          <a:p>
            <a:pPr marL="0" indent="0">
              <a:buNone/>
            </a:pPr>
            <a:r>
              <a:rPr lang="en-US" sz="910" b="1" dirty="0">
                <a:solidFill>
                  <a:srgbClr val="565A61"/>
                </a:solidFill>
                <a:latin typeface="Calibri" pitchFamily="34" charset="0"/>
                <a:ea typeface="Calibri" pitchFamily="34" charset="-122"/>
                <a:cs typeface="Calibri" pitchFamily="34" charset="-120"/>
              </a:rPr>
              <a:t>Intervention: </a:t>
            </a:r>
            <a:r>
              <a:rPr lang="en-US" sz="910" dirty="0">
                <a:solidFill>
                  <a:srgbClr val="565A61"/>
                </a:solidFill>
                <a:latin typeface="Calibri" pitchFamily="34" charset="0"/>
                <a:ea typeface="Calibri" pitchFamily="34" charset="-122"/>
                <a:cs typeface="Calibri" pitchFamily="34" charset="-120"/>
              </a:rPr>
              <a:t>Possible — a brief, low-key check-in.</a:t>
            </a:r>
            <a:endParaRPr lang="en-US" sz="910" dirty="0"/>
          </a:p>
        </p:txBody>
      </p:sp>
      <p:sp>
        <p:nvSpPr>
          <p:cNvPr id="20" name="Text 18"/>
          <p:cNvSpPr/>
          <p:nvPr/>
        </p:nvSpPr>
        <p:spPr>
          <a:xfrm>
            <a:off x="6309360" y="3255264"/>
            <a:ext cx="4617720" cy="777240"/>
          </a:xfrm>
          <a:prstGeom prst="rect">
            <a:avLst/>
          </a:prstGeom>
          <a:noFill/>
        </p:spPr>
        <p:txBody>
          <a:bodyPr wrap="square" rtlCol="0" anchor="t"/>
          <a:lstStyle/>
          <a:p>
            <a:pPr marL="0" indent="0">
              <a:buNone/>
            </a:pPr>
            <a:r>
              <a:rPr lang="en-US" sz="860" b="1" dirty="0">
                <a:solidFill>
                  <a:srgbClr val="B98B3E"/>
                </a:solidFill>
                <a:latin typeface="Calibri" pitchFamily="34" charset="0"/>
                <a:ea typeface="Calibri" pitchFamily="34" charset="-122"/>
                <a:cs typeface="Calibri" pitchFamily="34" charset="-120"/>
              </a:rPr>
              <a:t>Impact: </a:t>
            </a:r>
            <a:r>
              <a:rPr lang="en-US" sz="860" dirty="0">
                <a:solidFill>
                  <a:srgbClr val="565A61"/>
                </a:solidFill>
                <a:latin typeface="Calibri" pitchFamily="34" charset="0"/>
                <a:ea typeface="Calibri" pitchFamily="34" charset="-122"/>
                <a:cs typeface="Calibri" pitchFamily="34" charset="-120"/>
              </a:rPr>
              <a:t>Cheap even when the flag turns out wrong.</a:t>
            </a:r>
            <a:endParaRPr lang="en-US" sz="860" dirty="0"/>
          </a:p>
        </p:txBody>
      </p:sp>
      <p:sp>
        <p:nvSpPr>
          <p:cNvPr id="21" name="Shape 19"/>
          <p:cNvSpPr/>
          <p:nvPr/>
        </p:nvSpPr>
        <p:spPr>
          <a:xfrm>
            <a:off x="822960" y="4224528"/>
            <a:ext cx="5074920" cy="2103120"/>
          </a:xfrm>
          <a:prstGeom prst="roundRect">
            <a:avLst>
              <a:gd name="adj" fmla="val 3478"/>
            </a:avLst>
          </a:prstGeom>
          <a:solidFill>
            <a:srgbClr val="FAFAFC"/>
          </a:solidFill>
          <a:ln w="12700">
            <a:solidFill>
              <a:srgbClr val="E3E5E8"/>
            </a:solidFill>
            <a:prstDash val="solid"/>
          </a:ln>
        </p:spPr>
      </p:sp>
      <p:sp>
        <p:nvSpPr>
          <p:cNvPr id="22" name="Shape 20"/>
          <p:cNvSpPr/>
          <p:nvPr/>
        </p:nvSpPr>
        <p:spPr>
          <a:xfrm>
            <a:off x="822960" y="4224528"/>
            <a:ext cx="73152" cy="2103120"/>
          </a:xfrm>
          <a:prstGeom prst="rect">
            <a:avLst/>
          </a:prstGeom>
          <a:solidFill>
            <a:srgbClr val="A44A42"/>
          </a:solidFill>
        </p:spPr>
      </p:sp>
      <p:sp>
        <p:nvSpPr>
          <p:cNvPr id="23" name="Text 21"/>
          <p:cNvSpPr/>
          <p:nvPr/>
        </p:nvSpPr>
        <p:spPr>
          <a:xfrm>
            <a:off x="1051560" y="4334256"/>
            <a:ext cx="960120" cy="548640"/>
          </a:xfrm>
          <a:prstGeom prst="rect">
            <a:avLst/>
          </a:prstGeom>
          <a:noFill/>
        </p:spPr>
        <p:txBody>
          <a:bodyPr wrap="square" rtlCol="0" anchor="ctr"/>
          <a:lstStyle/>
          <a:p>
            <a:pPr marL="0" indent="0">
              <a:buNone/>
            </a:pPr>
            <a:r>
              <a:rPr lang="en-US" sz="2600" b="1" dirty="0">
                <a:solidFill>
                  <a:srgbClr val="1A1A1A"/>
                </a:solidFill>
                <a:latin typeface="Calibri" pitchFamily="34" charset="0"/>
                <a:ea typeface="Calibri" pitchFamily="34" charset="-122"/>
                <a:cs typeface="Calibri" pitchFamily="34" charset="-120"/>
              </a:rPr>
              <a:t>18</a:t>
            </a:r>
            <a:endParaRPr lang="en-US" sz="2600" dirty="0"/>
          </a:p>
        </p:txBody>
      </p:sp>
      <p:sp>
        <p:nvSpPr>
          <p:cNvPr id="24" name="Text 22"/>
          <p:cNvSpPr/>
          <p:nvPr/>
        </p:nvSpPr>
        <p:spPr>
          <a:xfrm>
            <a:off x="2057400" y="4334256"/>
            <a:ext cx="3657600" cy="274320"/>
          </a:xfrm>
          <a:prstGeom prst="rect">
            <a:avLst/>
          </a:prstGeom>
          <a:noFill/>
        </p:spPr>
        <p:txBody>
          <a:bodyPr wrap="square" rtlCol="0" anchor="ctr"/>
          <a:lstStyle/>
          <a:p>
            <a:pPr marL="0" indent="0">
              <a:buNone/>
            </a:pPr>
            <a:r>
              <a:rPr lang="en-US" sz="1300" b="1" dirty="0">
                <a:solidFill>
                  <a:srgbClr val="1A1A1A"/>
                </a:solidFill>
                <a:latin typeface="Calibri" pitchFamily="34" charset="0"/>
                <a:ea typeface="Calibri" pitchFamily="34" charset="-122"/>
                <a:cs typeface="Calibri" pitchFamily="34" charset="-120"/>
              </a:rPr>
              <a:t>Missed Entirely</a:t>
            </a:r>
            <a:endParaRPr lang="en-US" sz="1300" dirty="0"/>
          </a:p>
        </p:txBody>
      </p:sp>
      <p:sp>
        <p:nvSpPr>
          <p:cNvPr id="25" name="Text 23"/>
          <p:cNvSpPr/>
          <p:nvPr/>
        </p:nvSpPr>
        <p:spPr>
          <a:xfrm>
            <a:off x="2057400" y="4626864"/>
            <a:ext cx="3657600" cy="365760"/>
          </a:xfrm>
          <a:prstGeom prst="rect">
            <a:avLst/>
          </a:prstGeom>
          <a:noFill/>
        </p:spPr>
        <p:txBody>
          <a:bodyPr wrap="square" rtlCol="0" anchor="ctr"/>
          <a:lstStyle/>
          <a:p>
            <a:pPr marL="0" indent="0">
              <a:buNone/>
            </a:pPr>
            <a:r>
              <a:rPr lang="en-US" sz="820" kern="0" spc="30" dirty="0">
                <a:solidFill>
                  <a:srgbClr val="A44A42"/>
                </a:solidFill>
                <a:latin typeface="Calibri" pitchFamily="34" charset="0"/>
                <a:ea typeface="Calibri" pitchFamily="34" charset="-122"/>
                <a:cs typeface="Calibri" pitchFamily="34" charset="-120"/>
              </a:rPr>
              <a:t>ACTUALLY LEFT · APPEARED LOW RISK</a:t>
            </a:r>
            <a:endParaRPr lang="en-US" sz="820" dirty="0"/>
          </a:p>
        </p:txBody>
      </p:sp>
      <p:sp>
        <p:nvSpPr>
          <p:cNvPr id="26" name="Text 24"/>
          <p:cNvSpPr/>
          <p:nvPr/>
        </p:nvSpPr>
        <p:spPr>
          <a:xfrm>
            <a:off x="1051560" y="5029200"/>
            <a:ext cx="4617720" cy="475488"/>
          </a:xfrm>
          <a:prstGeom prst="rect">
            <a:avLst/>
          </a:prstGeom>
          <a:noFill/>
        </p:spPr>
        <p:txBody>
          <a:bodyPr wrap="square" rtlCol="0" anchor="t"/>
          <a:lstStyle/>
          <a:p>
            <a:pPr marL="0" indent="0">
              <a:buNone/>
            </a:pPr>
            <a:r>
              <a:rPr lang="en-US" sz="910" b="1" dirty="0">
                <a:solidFill>
                  <a:srgbClr val="565A61"/>
                </a:solidFill>
                <a:latin typeface="Calibri" pitchFamily="34" charset="0"/>
                <a:ea typeface="Calibri" pitchFamily="34" charset="-122"/>
                <a:cs typeface="Calibri" pitchFamily="34" charset="-120"/>
              </a:rPr>
              <a:t>Intervention: </a:t>
            </a:r>
            <a:r>
              <a:rPr lang="en-US" sz="910" dirty="0">
                <a:solidFill>
                  <a:srgbClr val="565A61"/>
                </a:solidFill>
                <a:latin typeface="Calibri" pitchFamily="34" charset="0"/>
                <a:ea typeface="Calibri" pitchFamily="34" charset="-122"/>
                <a:cs typeface="Calibri" pitchFamily="34" charset="-120"/>
              </a:rPr>
              <a:t>Not possible from this flag — needs a manual safety net for high-value roles.</a:t>
            </a:r>
            <a:endParaRPr lang="en-US" sz="910" dirty="0"/>
          </a:p>
        </p:txBody>
      </p:sp>
      <p:sp>
        <p:nvSpPr>
          <p:cNvPr id="27" name="Text 25"/>
          <p:cNvSpPr/>
          <p:nvPr/>
        </p:nvSpPr>
        <p:spPr>
          <a:xfrm>
            <a:off x="1051560" y="5486400"/>
            <a:ext cx="4617720" cy="777240"/>
          </a:xfrm>
          <a:prstGeom prst="rect">
            <a:avLst/>
          </a:prstGeom>
          <a:noFill/>
        </p:spPr>
        <p:txBody>
          <a:bodyPr wrap="square" rtlCol="0" anchor="t"/>
          <a:lstStyle/>
          <a:p>
            <a:pPr marL="0" indent="0">
              <a:buNone/>
            </a:pPr>
            <a:r>
              <a:rPr lang="en-US" sz="860" b="1" dirty="0">
                <a:solidFill>
                  <a:srgbClr val="A44A42"/>
                </a:solidFill>
                <a:latin typeface="Calibri" pitchFamily="34" charset="0"/>
                <a:ea typeface="Calibri" pitchFamily="34" charset="-122"/>
                <a:cs typeface="Calibri" pitchFamily="34" charset="-120"/>
              </a:rPr>
              <a:t>Impact: </a:t>
            </a:r>
            <a:r>
              <a:rPr lang="en-US" sz="860" dirty="0">
                <a:solidFill>
                  <a:srgbClr val="565A61"/>
                </a:solidFill>
                <a:latin typeface="Calibri" pitchFamily="34" charset="0"/>
                <a:ea typeface="Calibri" pitchFamily="34" charset="-122"/>
                <a:cs typeface="Calibri" pitchFamily="34" charset="-120"/>
              </a:rPr>
              <a:t>The model's blind spot — 4 in 10 leavers go unflagged.</a:t>
            </a:r>
            <a:endParaRPr lang="en-US" sz="860" dirty="0"/>
          </a:p>
        </p:txBody>
      </p:sp>
      <p:sp>
        <p:nvSpPr>
          <p:cNvPr id="28" name="Shape 26"/>
          <p:cNvSpPr/>
          <p:nvPr/>
        </p:nvSpPr>
        <p:spPr>
          <a:xfrm>
            <a:off x="6080760" y="4224528"/>
            <a:ext cx="5074920" cy="2103120"/>
          </a:xfrm>
          <a:prstGeom prst="roundRect">
            <a:avLst>
              <a:gd name="adj" fmla="val 3478"/>
            </a:avLst>
          </a:prstGeom>
          <a:solidFill>
            <a:srgbClr val="FAFAFC"/>
          </a:solidFill>
          <a:ln w="12700">
            <a:solidFill>
              <a:srgbClr val="E3E5E8"/>
            </a:solidFill>
            <a:prstDash val="solid"/>
          </a:ln>
        </p:spPr>
      </p:sp>
      <p:sp>
        <p:nvSpPr>
          <p:cNvPr id="29" name="Shape 27"/>
          <p:cNvSpPr/>
          <p:nvPr/>
        </p:nvSpPr>
        <p:spPr>
          <a:xfrm>
            <a:off x="6080760" y="4224528"/>
            <a:ext cx="73152" cy="2103120"/>
          </a:xfrm>
          <a:prstGeom prst="rect">
            <a:avLst/>
          </a:prstGeom>
          <a:solidFill>
            <a:srgbClr val="3E6B8A"/>
          </a:solidFill>
        </p:spPr>
      </p:sp>
      <p:sp>
        <p:nvSpPr>
          <p:cNvPr id="30" name="Text 28"/>
          <p:cNvSpPr/>
          <p:nvPr/>
        </p:nvSpPr>
        <p:spPr>
          <a:xfrm>
            <a:off x="6309360" y="4334256"/>
            <a:ext cx="960120" cy="548640"/>
          </a:xfrm>
          <a:prstGeom prst="rect">
            <a:avLst/>
          </a:prstGeom>
          <a:noFill/>
        </p:spPr>
        <p:txBody>
          <a:bodyPr wrap="square" rtlCol="0" anchor="ctr"/>
          <a:lstStyle/>
          <a:p>
            <a:pPr marL="0" indent="0">
              <a:buNone/>
            </a:pPr>
            <a:r>
              <a:rPr lang="en-US" sz="2600" b="1" dirty="0">
                <a:solidFill>
                  <a:srgbClr val="1A1A1A"/>
                </a:solidFill>
                <a:latin typeface="Calibri" pitchFamily="34" charset="0"/>
                <a:ea typeface="Calibri" pitchFamily="34" charset="-122"/>
                <a:cs typeface="Calibri" pitchFamily="34" charset="-120"/>
              </a:rPr>
              <a:t>29</a:t>
            </a:r>
            <a:endParaRPr lang="en-US" sz="2600" dirty="0"/>
          </a:p>
        </p:txBody>
      </p:sp>
      <p:sp>
        <p:nvSpPr>
          <p:cNvPr id="31" name="Text 29"/>
          <p:cNvSpPr/>
          <p:nvPr/>
        </p:nvSpPr>
        <p:spPr>
          <a:xfrm>
            <a:off x="7315200" y="4334256"/>
            <a:ext cx="3657600" cy="274320"/>
          </a:xfrm>
          <a:prstGeom prst="rect">
            <a:avLst/>
          </a:prstGeom>
          <a:noFill/>
        </p:spPr>
        <p:txBody>
          <a:bodyPr wrap="square" rtlCol="0" anchor="ctr"/>
          <a:lstStyle/>
          <a:p>
            <a:pPr marL="0" indent="0">
              <a:buNone/>
            </a:pPr>
            <a:r>
              <a:rPr lang="en-US" sz="1300" b="1" dirty="0">
                <a:solidFill>
                  <a:srgbClr val="1A1A1A"/>
                </a:solidFill>
                <a:latin typeface="Calibri" pitchFamily="34" charset="0"/>
                <a:ea typeface="Calibri" pitchFamily="34" charset="-122"/>
                <a:cs typeface="Calibri" pitchFamily="34" charset="-120"/>
              </a:rPr>
              <a:t>Caught in Time</a:t>
            </a:r>
            <a:endParaRPr lang="en-US" sz="1300" dirty="0"/>
          </a:p>
        </p:txBody>
      </p:sp>
      <p:sp>
        <p:nvSpPr>
          <p:cNvPr id="32" name="Text 30"/>
          <p:cNvSpPr/>
          <p:nvPr/>
        </p:nvSpPr>
        <p:spPr>
          <a:xfrm>
            <a:off x="7315200" y="4626864"/>
            <a:ext cx="3657600" cy="365760"/>
          </a:xfrm>
          <a:prstGeom prst="rect">
            <a:avLst/>
          </a:prstGeom>
          <a:noFill/>
        </p:spPr>
        <p:txBody>
          <a:bodyPr wrap="square" rtlCol="0" anchor="ctr"/>
          <a:lstStyle/>
          <a:p>
            <a:pPr marL="0" indent="0">
              <a:buNone/>
            </a:pPr>
            <a:r>
              <a:rPr lang="en-US" sz="820" kern="0" spc="30" dirty="0">
                <a:solidFill>
                  <a:srgbClr val="3E6B8A"/>
                </a:solidFill>
                <a:latin typeface="Calibri" pitchFamily="34" charset="0"/>
                <a:ea typeface="Calibri" pitchFamily="34" charset="-122"/>
                <a:cs typeface="Calibri" pitchFamily="34" charset="-120"/>
              </a:rPr>
              <a:t>ACTUALLY LEFT · FLAGGED HIGH RISK</a:t>
            </a:r>
            <a:endParaRPr lang="en-US" sz="820" dirty="0"/>
          </a:p>
        </p:txBody>
      </p:sp>
      <p:sp>
        <p:nvSpPr>
          <p:cNvPr id="33" name="Text 31"/>
          <p:cNvSpPr/>
          <p:nvPr/>
        </p:nvSpPr>
        <p:spPr>
          <a:xfrm>
            <a:off x="6309360" y="5029200"/>
            <a:ext cx="4617720" cy="475488"/>
          </a:xfrm>
          <a:prstGeom prst="rect">
            <a:avLst/>
          </a:prstGeom>
          <a:noFill/>
        </p:spPr>
        <p:txBody>
          <a:bodyPr wrap="square" rtlCol="0" anchor="t"/>
          <a:lstStyle/>
          <a:p>
            <a:pPr marL="0" indent="0">
              <a:buNone/>
            </a:pPr>
            <a:r>
              <a:rPr lang="en-US" sz="910" b="1" dirty="0">
                <a:solidFill>
                  <a:srgbClr val="565A61"/>
                </a:solidFill>
                <a:latin typeface="Calibri" pitchFamily="34" charset="0"/>
                <a:ea typeface="Calibri" pitchFamily="34" charset="-122"/>
                <a:cs typeface="Calibri" pitchFamily="34" charset="-120"/>
              </a:rPr>
              <a:t>Intervention: </a:t>
            </a:r>
            <a:r>
              <a:rPr lang="en-US" sz="910" dirty="0">
                <a:solidFill>
                  <a:srgbClr val="565A61"/>
                </a:solidFill>
                <a:latin typeface="Calibri" pitchFamily="34" charset="0"/>
                <a:ea typeface="Calibri" pitchFamily="34" charset="-122"/>
                <a:cs typeface="Calibri" pitchFamily="34" charset="-120"/>
              </a:rPr>
              <a:t>Needed and possible — retention conversation within days.</a:t>
            </a:r>
            <a:endParaRPr lang="en-US" sz="910" dirty="0"/>
          </a:p>
        </p:txBody>
      </p:sp>
      <p:sp>
        <p:nvSpPr>
          <p:cNvPr id="34" name="Text 32"/>
          <p:cNvSpPr/>
          <p:nvPr/>
        </p:nvSpPr>
        <p:spPr>
          <a:xfrm>
            <a:off x="6309360" y="5486400"/>
            <a:ext cx="4617720" cy="777240"/>
          </a:xfrm>
          <a:prstGeom prst="rect">
            <a:avLst/>
          </a:prstGeom>
          <a:noFill/>
        </p:spPr>
        <p:txBody>
          <a:bodyPr wrap="square" rtlCol="0" anchor="t"/>
          <a:lstStyle/>
          <a:p>
            <a:pPr marL="0" indent="0">
              <a:buNone/>
            </a:pPr>
            <a:r>
              <a:rPr lang="en-US" sz="860" b="1" dirty="0">
                <a:solidFill>
                  <a:srgbClr val="3E6B8A"/>
                </a:solidFill>
                <a:latin typeface="Calibri" pitchFamily="34" charset="0"/>
                <a:ea typeface="Calibri" pitchFamily="34" charset="-122"/>
                <a:cs typeface="Calibri" pitchFamily="34" charset="-120"/>
              </a:rPr>
              <a:t>Impact: </a:t>
            </a:r>
            <a:r>
              <a:rPr lang="en-US" sz="860" dirty="0">
                <a:solidFill>
                  <a:srgbClr val="565A61"/>
                </a:solidFill>
                <a:latin typeface="Calibri" pitchFamily="34" charset="0"/>
                <a:ea typeface="Calibri" pitchFamily="34" charset="-122"/>
                <a:cs typeface="Calibri" pitchFamily="34" charset="-120"/>
              </a:rPr>
              <a:t>Retaining even 1 in 3 (~10 people) could avoid ~$290K–$1.1M in replacement cost (avg $57K/yr pay, SHRM's 50–200% benchmark).</a:t>
            </a:r>
            <a:endParaRPr lang="en-US" sz="860" dirty="0"/>
          </a:p>
        </p:txBody>
      </p:sp>
      <p:sp>
        <p:nvSpPr>
          <p:cNvPr id="35" name="Text 33"/>
          <p:cNvSpPr/>
          <p:nvPr/>
        </p:nvSpPr>
        <p:spPr>
          <a:xfrm>
            <a:off x="457200" y="6473952"/>
            <a:ext cx="7315200" cy="274320"/>
          </a:xfrm>
          <a:prstGeom prst="rect">
            <a:avLst/>
          </a:prstGeom>
          <a:noFill/>
        </p:spPr>
        <p:txBody>
          <a:bodyPr wrap="square" rtlCol="0" anchor="ctr"/>
          <a:lstStyle/>
          <a:p>
            <a:pPr marL="0" indent="0">
              <a:buNone/>
            </a:pPr>
            <a:r>
              <a:rPr lang="en-US" sz="900" dirty="0">
                <a:solidFill>
                  <a:srgbClr val="8B8F94"/>
                </a:solidFill>
                <a:latin typeface="Calibri" pitchFamily="34" charset="0"/>
                <a:ea typeface="Calibri" pitchFamily="34" charset="-122"/>
                <a:cs typeface="Calibri" pitchFamily="34" charset="-120"/>
              </a:rPr>
              <a:t>Attrition Model — Measured Results  ·  Data &amp; Analytics Briefing</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22960" y="502920"/>
            <a:ext cx="457200" cy="457200"/>
          </a:xfrm>
          <a:prstGeom prst="ellipse">
            <a:avLst/>
          </a:prstGeom>
          <a:solidFill>
            <a:srgbClr val="AD8A57"/>
          </a:solidFill>
        </p:spPr>
      </p:sp>
      <p:sp>
        <p:nvSpPr>
          <p:cNvPr id="3" name="Text 1"/>
          <p:cNvSpPr/>
          <p:nvPr/>
        </p:nvSpPr>
        <p:spPr>
          <a:xfrm>
            <a:off x="822960" y="502920"/>
            <a:ext cx="457200" cy="457200"/>
          </a:xfrm>
          <a:prstGeom prst="rect">
            <a:avLst/>
          </a:prstGeom>
          <a:noFill/>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02</a:t>
            </a:r>
            <a:endParaRPr lang="en-US" sz="1600" dirty="0"/>
          </a:p>
        </p:txBody>
      </p:sp>
      <p:sp>
        <p:nvSpPr>
          <p:cNvPr id="4" name="Text 2"/>
          <p:cNvSpPr/>
          <p:nvPr/>
        </p:nvSpPr>
        <p:spPr>
          <a:xfrm>
            <a:off x="1463040" y="566928"/>
            <a:ext cx="8229600" cy="274320"/>
          </a:xfrm>
          <a:prstGeom prst="rect">
            <a:avLst/>
          </a:prstGeom>
          <a:noFill/>
        </p:spPr>
        <p:txBody>
          <a:bodyPr wrap="square" rtlCol="0" anchor="ctr"/>
          <a:lstStyle/>
          <a:p>
            <a:pPr marL="0" indent="0">
              <a:buNone/>
            </a:pPr>
            <a:r>
              <a:rPr lang="en-US" sz="1100" b="1" kern="0" spc="200" dirty="0">
                <a:solidFill>
                  <a:srgbClr val="AD8A57"/>
                </a:solidFill>
                <a:latin typeface="Calibri" pitchFamily="34" charset="0"/>
                <a:ea typeface="Calibri" pitchFamily="34" charset="-122"/>
                <a:cs typeface="Calibri" pitchFamily="34" charset="-120"/>
              </a:rPr>
              <a:t>SECTION 02 · THE PROBLEM</a:t>
            </a:r>
            <a:endParaRPr lang="en-US" sz="1100" dirty="0"/>
          </a:p>
        </p:txBody>
      </p:sp>
      <p:sp>
        <p:nvSpPr>
          <p:cNvPr id="5" name="Text 3"/>
          <p:cNvSpPr/>
          <p:nvPr/>
        </p:nvSpPr>
        <p:spPr>
          <a:xfrm>
            <a:off x="822960" y="1051560"/>
            <a:ext cx="10058400" cy="548640"/>
          </a:xfrm>
          <a:prstGeom prst="rect">
            <a:avLst/>
          </a:prstGeom>
          <a:noFill/>
        </p:spPr>
        <p:txBody>
          <a:bodyPr wrap="square" rtlCol="0" anchor="ctr"/>
          <a:lstStyle/>
          <a:p>
            <a:pPr marL="0" indent="0">
              <a:buNone/>
            </a:pPr>
            <a:r>
              <a:rPr lang="en-US" sz="2700" b="1" dirty="0">
                <a:solidFill>
                  <a:srgbClr val="1A1A1A"/>
                </a:solidFill>
                <a:latin typeface="Calibri" pitchFamily="34" charset="0"/>
                <a:ea typeface="Calibri" pitchFamily="34" charset="-122"/>
                <a:cs typeface="Calibri" pitchFamily="34" charset="-120"/>
              </a:rPr>
              <a:t>Attrition Is Managed After the Fact</a:t>
            </a:r>
            <a:endParaRPr lang="en-US" sz="2700" dirty="0"/>
          </a:p>
        </p:txBody>
      </p:sp>
      <p:sp>
        <p:nvSpPr>
          <p:cNvPr id="6" name="Text 4"/>
          <p:cNvSpPr/>
          <p:nvPr/>
        </p:nvSpPr>
        <p:spPr>
          <a:xfrm>
            <a:off x="822960" y="1645920"/>
            <a:ext cx="10332720" cy="457200"/>
          </a:xfrm>
          <a:prstGeom prst="rect">
            <a:avLst/>
          </a:prstGeom>
          <a:noFill/>
        </p:spPr>
        <p:txBody>
          <a:bodyPr wrap="square" rtlCol="0" anchor="ctr"/>
          <a:lstStyle/>
          <a:p>
            <a:pPr marL="0" indent="0">
              <a:buNone/>
            </a:pPr>
            <a:r>
              <a:rPr lang="en-US" sz="1400" dirty="0">
                <a:solidFill>
                  <a:srgbClr val="565A61"/>
                </a:solidFill>
                <a:latin typeface="Calibri" pitchFamily="34" charset="0"/>
                <a:ea typeface="Calibri" pitchFamily="34" charset="-122"/>
                <a:cs typeface="Calibri" pitchFamily="34" charset="-120"/>
              </a:rPr>
              <a:t>The 47 departures on the previous slide are the norm, not the exception: HR typically learns someone is a flight risk in the exit interview — the one moment it's too late to act.</a:t>
            </a:r>
            <a:endParaRPr lang="en-US" sz="1400" dirty="0"/>
          </a:p>
        </p:txBody>
      </p:sp>
      <p:sp>
        <p:nvSpPr>
          <p:cNvPr id="7" name="Shape 5"/>
          <p:cNvSpPr/>
          <p:nvPr/>
        </p:nvSpPr>
        <p:spPr>
          <a:xfrm>
            <a:off x="822960" y="2377440"/>
            <a:ext cx="5074920" cy="3291840"/>
          </a:xfrm>
          <a:prstGeom prst="roundRect">
            <a:avLst>
              <a:gd name="adj" fmla="val 2778"/>
            </a:avLst>
          </a:prstGeom>
          <a:solidFill>
            <a:srgbClr val="F2ECE0"/>
          </a:solidFill>
          <a:ln w="19050">
            <a:solidFill>
              <a:srgbClr val="AD8A57"/>
            </a:solidFill>
            <a:prstDash val="solid"/>
          </a:ln>
        </p:spPr>
      </p:sp>
      <p:sp>
        <p:nvSpPr>
          <p:cNvPr id="8" name="Text 6"/>
          <p:cNvSpPr/>
          <p:nvPr/>
        </p:nvSpPr>
        <p:spPr>
          <a:xfrm>
            <a:off x="1097280" y="2606040"/>
            <a:ext cx="4526280" cy="457200"/>
          </a:xfrm>
          <a:prstGeom prst="rect">
            <a:avLst/>
          </a:prstGeom>
          <a:noFill/>
        </p:spPr>
        <p:txBody>
          <a:bodyPr wrap="square" rtlCol="0" anchor="ctr"/>
          <a:lstStyle/>
          <a:p>
            <a:pPr marL="0" indent="0">
              <a:buNone/>
            </a:pPr>
            <a:r>
              <a:rPr lang="en-US" sz="1500" b="1" dirty="0">
                <a:solidFill>
                  <a:srgbClr val="AD8A57"/>
                </a:solidFill>
                <a:latin typeface="Calibri" pitchFamily="34" charset="0"/>
                <a:ea typeface="Calibri" pitchFamily="34" charset="-122"/>
                <a:cs typeface="Calibri" pitchFamily="34" charset="-120"/>
              </a:rPr>
              <a:t>The Cost of Reactive Management</a:t>
            </a:r>
            <a:endParaRPr lang="en-US" sz="1500" dirty="0"/>
          </a:p>
        </p:txBody>
      </p:sp>
      <p:sp>
        <p:nvSpPr>
          <p:cNvPr id="9" name="Text 7"/>
          <p:cNvSpPr/>
          <p:nvPr/>
        </p:nvSpPr>
        <p:spPr>
          <a:xfrm>
            <a:off x="1097280" y="3200400"/>
            <a:ext cx="4526280" cy="2286000"/>
          </a:xfrm>
          <a:prstGeom prst="rect">
            <a:avLst/>
          </a:prstGeom>
          <a:noFill/>
        </p:spPr>
        <p:txBody>
          <a:bodyPr wrap="square" rtlCol="0" anchor="ctr"/>
          <a:lstStyle/>
          <a:p>
            <a:pPr marL="342900" indent="-342900">
              <a:spcAft>
                <a:spcPts val="1200"/>
              </a:spcAft>
              <a:buSzPct val="100000"/>
              <a:buChar char="•"/>
            </a:pPr>
            <a:r>
              <a:rPr lang="en-US" sz="1250" dirty="0">
                <a:solidFill>
                  <a:srgbClr val="565A61"/>
                </a:solidFill>
                <a:latin typeface="Calibri" pitchFamily="34" charset="0"/>
                <a:ea typeface="Calibri" pitchFamily="34" charset="-122"/>
                <a:cs typeface="Calibri" pitchFamily="34" charset="-120"/>
              </a:rPr>
              <a:t>SHRM estimates replacing an employee costs 50–200% of their annual salary</a:t>
            </a:r>
            <a:endParaRPr lang="en-US" sz="1250" dirty="0"/>
          </a:p>
          <a:p>
            <a:pPr marL="342900" indent="-342900">
              <a:spcAft>
                <a:spcPts val="1200"/>
              </a:spcAft>
              <a:buSzPct val="100000"/>
              <a:buChar char="•"/>
            </a:pPr>
            <a:r>
              <a:rPr lang="en-US" sz="1250" dirty="0">
                <a:solidFill>
                  <a:srgbClr val="565A61"/>
                </a:solidFill>
                <a:latin typeface="Calibri" pitchFamily="34" charset="0"/>
                <a:ea typeface="Calibri" pitchFamily="34" charset="-122"/>
                <a:cs typeface="Calibri" pitchFamily="34" charset="-120"/>
              </a:rPr>
              <a:t>By the time attrition shows up in a quarterly report, the decision to leave was already made</a:t>
            </a:r>
            <a:endParaRPr lang="en-US" sz="1250" dirty="0"/>
          </a:p>
          <a:p>
            <a:pPr marL="342900" indent="-342900">
              <a:buSzPct val="100000"/>
              <a:buChar char="•"/>
            </a:pPr>
            <a:r>
              <a:rPr lang="en-US" sz="1250" dirty="0">
                <a:solidFill>
                  <a:srgbClr val="565A61"/>
                </a:solidFill>
                <a:latin typeface="Calibri" pitchFamily="34" charset="0"/>
                <a:ea typeface="Calibri" pitchFamily="34" charset="-122"/>
                <a:cs typeface="Calibri" pitchFamily="34" charset="-120"/>
              </a:rPr>
              <a:t>HRBPs have no early, data-backed signal for who's at risk — only instinct</a:t>
            </a:r>
            <a:endParaRPr lang="en-US" sz="1250" dirty="0"/>
          </a:p>
        </p:txBody>
      </p:sp>
      <p:sp>
        <p:nvSpPr>
          <p:cNvPr id="10" name="Shape 8"/>
          <p:cNvSpPr/>
          <p:nvPr/>
        </p:nvSpPr>
        <p:spPr>
          <a:xfrm>
            <a:off x="6263640" y="2377440"/>
            <a:ext cx="5074920" cy="3291840"/>
          </a:xfrm>
          <a:prstGeom prst="roundRect">
            <a:avLst>
              <a:gd name="adj" fmla="val 2778"/>
            </a:avLst>
          </a:prstGeom>
          <a:solidFill>
            <a:srgbClr val="E7EDF1"/>
          </a:solidFill>
          <a:ln w="19050">
            <a:solidFill>
              <a:srgbClr val="3E6B8A"/>
            </a:solidFill>
            <a:prstDash val="solid"/>
          </a:ln>
        </p:spPr>
      </p:sp>
      <p:sp>
        <p:nvSpPr>
          <p:cNvPr id="11" name="Text 9"/>
          <p:cNvSpPr/>
          <p:nvPr/>
        </p:nvSpPr>
        <p:spPr>
          <a:xfrm>
            <a:off x="6537960" y="2606040"/>
            <a:ext cx="4526280" cy="457200"/>
          </a:xfrm>
          <a:prstGeom prst="rect">
            <a:avLst/>
          </a:prstGeom>
          <a:noFill/>
        </p:spPr>
        <p:txBody>
          <a:bodyPr wrap="square" rtlCol="0" anchor="ctr"/>
          <a:lstStyle/>
          <a:p>
            <a:pPr marL="0" indent="0">
              <a:buNone/>
            </a:pPr>
            <a:r>
              <a:rPr lang="en-US" sz="1500" b="1" dirty="0">
                <a:solidFill>
                  <a:srgbClr val="3E6B8A"/>
                </a:solidFill>
                <a:latin typeface="Calibri" pitchFamily="34" charset="0"/>
                <a:ea typeface="Calibri" pitchFamily="34" charset="-122"/>
                <a:cs typeface="Calibri" pitchFamily="34" charset="-120"/>
              </a:rPr>
              <a:t>The Opportunity</a:t>
            </a:r>
            <a:endParaRPr lang="en-US" sz="1500" dirty="0"/>
          </a:p>
        </p:txBody>
      </p:sp>
      <p:sp>
        <p:nvSpPr>
          <p:cNvPr id="12" name="Text 10"/>
          <p:cNvSpPr/>
          <p:nvPr/>
        </p:nvSpPr>
        <p:spPr>
          <a:xfrm>
            <a:off x="6537960" y="3200400"/>
            <a:ext cx="4526280" cy="2286000"/>
          </a:xfrm>
          <a:prstGeom prst="rect">
            <a:avLst/>
          </a:prstGeom>
          <a:noFill/>
        </p:spPr>
        <p:txBody>
          <a:bodyPr wrap="square" rtlCol="0" anchor="ctr"/>
          <a:lstStyle/>
          <a:p>
            <a:pPr marL="342900" indent="-342900">
              <a:spcAft>
                <a:spcPts val="1200"/>
              </a:spcAft>
              <a:buSzPct val="100000"/>
              <a:buChar char="•"/>
            </a:pPr>
            <a:r>
              <a:rPr lang="en-US" sz="1250" dirty="0">
                <a:solidFill>
                  <a:srgbClr val="565A61"/>
                </a:solidFill>
                <a:latin typeface="Calibri" pitchFamily="34" charset="0"/>
                <a:ea typeface="Calibri" pitchFamily="34" charset="-122"/>
                <a:cs typeface="Calibri" pitchFamily="34" charset="-120"/>
              </a:rPr>
              <a:t>HR already holds the data needed to flag risk months earlier — it's just not modeled</a:t>
            </a:r>
            <a:endParaRPr lang="en-US" sz="1250" dirty="0"/>
          </a:p>
          <a:p>
            <a:pPr marL="342900" indent="-342900">
              <a:spcAft>
                <a:spcPts val="1200"/>
              </a:spcAft>
              <a:buSzPct val="100000"/>
              <a:buChar char="•"/>
            </a:pPr>
            <a:r>
              <a:rPr lang="en-US" sz="1250" dirty="0">
                <a:solidFill>
                  <a:srgbClr val="565A61"/>
                </a:solidFill>
                <a:latin typeface="Calibri" pitchFamily="34" charset="0"/>
                <a:ea typeface="Calibri" pitchFamily="34" charset="-122"/>
                <a:cs typeface="Calibri" pitchFamily="34" charset="-120"/>
              </a:rPr>
              <a:t>A predictive signal, even an imperfect one, turns exit interviews into retention conversations</a:t>
            </a:r>
            <a:endParaRPr lang="en-US" sz="1250" dirty="0"/>
          </a:p>
          <a:p>
            <a:pPr marL="342900" indent="-342900">
              <a:buSzPct val="100000"/>
              <a:buChar char="•"/>
            </a:pPr>
            <a:r>
              <a:rPr lang="en-US" sz="1250" dirty="0">
                <a:solidFill>
                  <a:srgbClr val="565A61"/>
                </a:solidFill>
                <a:latin typeface="Calibri" pitchFamily="34" charset="0"/>
                <a:ea typeface="Calibri" pitchFamily="34" charset="-122"/>
                <a:cs typeface="Calibri" pitchFamily="34" charset="-120"/>
              </a:rPr>
              <a:t>Question this deck answers: can a simple, honest model actually do this?</a:t>
            </a:r>
            <a:endParaRPr lang="en-US" sz="1250" dirty="0"/>
          </a:p>
        </p:txBody>
      </p:sp>
      <p:sp>
        <p:nvSpPr>
          <p:cNvPr id="13" name="Text 11"/>
          <p:cNvSpPr/>
          <p:nvPr/>
        </p:nvSpPr>
        <p:spPr>
          <a:xfrm>
            <a:off x="822960" y="5806440"/>
            <a:ext cx="9144000" cy="274320"/>
          </a:xfrm>
          <a:prstGeom prst="rect">
            <a:avLst/>
          </a:prstGeom>
          <a:noFill/>
        </p:spPr>
        <p:txBody>
          <a:bodyPr wrap="square" rtlCol="0" anchor="ctr"/>
          <a:lstStyle/>
          <a:p>
            <a:pPr marL="0" indent="0">
              <a:buNone/>
            </a:pPr>
            <a:r>
              <a:rPr lang="en-US" sz="1000" i="1" dirty="0">
                <a:solidFill>
                  <a:srgbClr val="8B8F94"/>
                </a:solidFill>
                <a:latin typeface="Calibri" pitchFamily="34" charset="0"/>
                <a:ea typeface="Calibri" pitchFamily="34" charset="-122"/>
                <a:cs typeface="Calibri" pitchFamily="34" charset="-120"/>
              </a:rPr>
              <a:t>Source: SHRM, cost-to-replace-an-employee benchmark.</a:t>
            </a:r>
            <a:endParaRPr lang="en-US" sz="1000" dirty="0"/>
          </a:p>
        </p:txBody>
      </p:sp>
      <p:sp>
        <p:nvSpPr>
          <p:cNvPr id="14" name="Text 12"/>
          <p:cNvSpPr/>
          <p:nvPr/>
        </p:nvSpPr>
        <p:spPr>
          <a:xfrm>
            <a:off x="457200" y="6473952"/>
            <a:ext cx="7315200" cy="274320"/>
          </a:xfrm>
          <a:prstGeom prst="rect">
            <a:avLst/>
          </a:prstGeom>
          <a:noFill/>
        </p:spPr>
        <p:txBody>
          <a:bodyPr wrap="square" rtlCol="0" anchor="ctr"/>
          <a:lstStyle/>
          <a:p>
            <a:pPr marL="0" indent="0">
              <a:buNone/>
            </a:pPr>
            <a:r>
              <a:rPr lang="en-US" sz="900" dirty="0">
                <a:solidFill>
                  <a:srgbClr val="8B8F94"/>
                </a:solidFill>
                <a:latin typeface="Calibri" pitchFamily="34" charset="0"/>
                <a:ea typeface="Calibri" pitchFamily="34" charset="-122"/>
                <a:cs typeface="Calibri" pitchFamily="34" charset="-120"/>
              </a:rPr>
              <a:t>Attrition Model — Measured Results  ·  Data &amp; Analytics Briefing</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22960" y="502920"/>
            <a:ext cx="457200" cy="457200"/>
          </a:xfrm>
          <a:prstGeom prst="ellipse">
            <a:avLst/>
          </a:prstGeom>
          <a:solidFill>
            <a:srgbClr val="3E6B8A"/>
          </a:solidFill>
        </p:spPr>
      </p:sp>
      <p:sp>
        <p:nvSpPr>
          <p:cNvPr id="3" name="Text 1"/>
          <p:cNvSpPr/>
          <p:nvPr/>
        </p:nvSpPr>
        <p:spPr>
          <a:xfrm>
            <a:off x="822960" y="502920"/>
            <a:ext cx="457200" cy="457200"/>
          </a:xfrm>
          <a:prstGeom prst="rect">
            <a:avLst/>
          </a:prstGeom>
          <a:noFill/>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03</a:t>
            </a:r>
            <a:endParaRPr lang="en-US" sz="1600" dirty="0"/>
          </a:p>
        </p:txBody>
      </p:sp>
      <p:sp>
        <p:nvSpPr>
          <p:cNvPr id="4" name="Text 2"/>
          <p:cNvSpPr/>
          <p:nvPr/>
        </p:nvSpPr>
        <p:spPr>
          <a:xfrm>
            <a:off x="1463040" y="566928"/>
            <a:ext cx="8229600" cy="274320"/>
          </a:xfrm>
          <a:prstGeom prst="rect">
            <a:avLst/>
          </a:prstGeom>
          <a:noFill/>
        </p:spPr>
        <p:txBody>
          <a:bodyPr wrap="square" rtlCol="0" anchor="ctr"/>
          <a:lstStyle/>
          <a:p>
            <a:pPr marL="0" indent="0">
              <a:buNone/>
            </a:pPr>
            <a:r>
              <a:rPr lang="en-US" sz="1100" b="1" kern="0" spc="200" dirty="0">
                <a:solidFill>
                  <a:srgbClr val="3E6B8A"/>
                </a:solidFill>
                <a:latin typeface="Calibri" pitchFamily="34" charset="0"/>
                <a:ea typeface="Calibri" pitchFamily="34" charset="-122"/>
                <a:cs typeface="Calibri" pitchFamily="34" charset="-120"/>
              </a:rPr>
              <a:t>SECTION 03 · THE APPROACH</a:t>
            </a:r>
            <a:endParaRPr lang="en-US" sz="1100" dirty="0"/>
          </a:p>
        </p:txBody>
      </p:sp>
      <p:sp>
        <p:nvSpPr>
          <p:cNvPr id="5" name="Text 3"/>
          <p:cNvSpPr/>
          <p:nvPr/>
        </p:nvSpPr>
        <p:spPr>
          <a:xfrm>
            <a:off x="822960" y="1051560"/>
            <a:ext cx="10058400" cy="548640"/>
          </a:xfrm>
          <a:prstGeom prst="rect">
            <a:avLst/>
          </a:prstGeom>
          <a:noFill/>
        </p:spPr>
        <p:txBody>
          <a:bodyPr wrap="square" rtlCol="0" anchor="ctr"/>
          <a:lstStyle/>
          <a:p>
            <a:pPr marL="0" indent="0">
              <a:buNone/>
            </a:pPr>
            <a:r>
              <a:rPr lang="en-US" sz="2700" b="1" dirty="0">
                <a:solidFill>
                  <a:srgbClr val="1A1A1A"/>
                </a:solidFill>
                <a:latin typeface="Calibri" pitchFamily="34" charset="0"/>
                <a:ea typeface="Calibri" pitchFamily="34" charset="-122"/>
                <a:cs typeface="Calibri" pitchFamily="34" charset="-120"/>
              </a:rPr>
              <a:t>What We Built, and How It Was Tested</a:t>
            </a:r>
            <a:endParaRPr lang="en-US" sz="2700" dirty="0"/>
          </a:p>
        </p:txBody>
      </p:sp>
      <p:sp>
        <p:nvSpPr>
          <p:cNvPr id="6" name="Shape 4"/>
          <p:cNvSpPr/>
          <p:nvPr/>
        </p:nvSpPr>
        <p:spPr>
          <a:xfrm>
            <a:off x="822960" y="1920240"/>
            <a:ext cx="2514600" cy="3566160"/>
          </a:xfrm>
          <a:prstGeom prst="roundRect">
            <a:avLst>
              <a:gd name="adj" fmla="val 3636"/>
            </a:avLst>
          </a:prstGeom>
          <a:solidFill>
            <a:srgbClr val="FAFAFC"/>
          </a:solidFill>
          <a:ln w="12700">
            <a:solidFill>
              <a:srgbClr val="E3E5E8"/>
            </a:solidFill>
            <a:prstDash val="solid"/>
          </a:ln>
        </p:spPr>
      </p:sp>
      <p:sp>
        <p:nvSpPr>
          <p:cNvPr id="7" name="Shape 5"/>
          <p:cNvSpPr/>
          <p:nvPr/>
        </p:nvSpPr>
        <p:spPr>
          <a:xfrm>
            <a:off x="1051560" y="2148840"/>
            <a:ext cx="822960" cy="822960"/>
          </a:xfrm>
          <a:prstGeom prst="roundRect">
            <a:avLst>
              <a:gd name="adj" fmla="val 50000"/>
            </a:avLst>
          </a:prstGeom>
          <a:solidFill>
            <a:srgbClr val="3E6B8A"/>
          </a:solidFill>
        </p:spPr>
      </p:sp>
      <p:sp>
        <p:nvSpPr>
          <p:cNvPr id="8" name="Text 6"/>
          <p:cNvSpPr/>
          <p:nvPr/>
        </p:nvSpPr>
        <p:spPr>
          <a:xfrm>
            <a:off x="1051560" y="3154680"/>
            <a:ext cx="2057400" cy="457200"/>
          </a:xfrm>
          <a:prstGeom prst="rect">
            <a:avLst/>
          </a:prstGeom>
          <a:noFill/>
        </p:spPr>
        <p:txBody>
          <a:bodyPr wrap="square" rtlCol="0" anchor="ctr"/>
          <a:lstStyle/>
          <a:p>
            <a:pPr marL="0" indent="0">
              <a:buNone/>
            </a:pPr>
            <a:r>
              <a:rPr lang="en-US" sz="1450" b="1" dirty="0">
                <a:solidFill>
                  <a:srgbClr val="1A1A1A"/>
                </a:solidFill>
                <a:latin typeface="Calibri" pitchFamily="34" charset="0"/>
                <a:ea typeface="Calibri" pitchFamily="34" charset="-122"/>
                <a:cs typeface="Calibri" pitchFamily="34" charset="-120"/>
              </a:rPr>
              <a:t>Data</a:t>
            </a:r>
            <a:endParaRPr lang="en-US" sz="1450" dirty="0"/>
          </a:p>
        </p:txBody>
      </p:sp>
      <p:sp>
        <p:nvSpPr>
          <p:cNvPr id="9" name="Text 7"/>
          <p:cNvSpPr/>
          <p:nvPr/>
        </p:nvSpPr>
        <p:spPr>
          <a:xfrm>
            <a:off x="1051560" y="3611880"/>
            <a:ext cx="2057400" cy="1737360"/>
          </a:xfrm>
          <a:prstGeom prst="rect">
            <a:avLst/>
          </a:prstGeom>
          <a:noFill/>
        </p:spPr>
        <p:txBody>
          <a:bodyPr wrap="square" rtlCol="0" anchor="ctr"/>
          <a:lstStyle/>
          <a:p>
            <a:pPr marL="0" indent="0">
              <a:buNone/>
            </a:pPr>
            <a:r>
              <a:rPr lang="en-US" sz="1100" dirty="0">
                <a:solidFill>
                  <a:srgbClr val="565A61"/>
                </a:solidFill>
                <a:latin typeface="Calibri" pitchFamily="34" charset="0"/>
                <a:ea typeface="Calibri" pitchFamily="34" charset="-122"/>
                <a:cs typeface="Calibri" pitchFamily="34" charset="-120"/>
              </a:rPr>
              <a:t>1,470 employees, 35 features — IBM HR Analytics Employee Attrition dataset (Kaggle)</a:t>
            </a:r>
            <a:endParaRPr lang="en-US" sz="1100" dirty="0"/>
          </a:p>
        </p:txBody>
      </p:sp>
      <p:sp>
        <p:nvSpPr>
          <p:cNvPr id="10" name="Shape 8"/>
          <p:cNvSpPr/>
          <p:nvPr/>
        </p:nvSpPr>
        <p:spPr>
          <a:xfrm>
            <a:off x="3474720" y="1920240"/>
            <a:ext cx="2514600" cy="3566160"/>
          </a:xfrm>
          <a:prstGeom prst="roundRect">
            <a:avLst>
              <a:gd name="adj" fmla="val 3636"/>
            </a:avLst>
          </a:prstGeom>
          <a:solidFill>
            <a:srgbClr val="FAFAFC"/>
          </a:solidFill>
          <a:ln w="12700">
            <a:solidFill>
              <a:srgbClr val="E3E5E8"/>
            </a:solidFill>
            <a:prstDash val="solid"/>
          </a:ln>
        </p:spPr>
      </p:sp>
      <p:sp>
        <p:nvSpPr>
          <p:cNvPr id="11" name="Shape 9"/>
          <p:cNvSpPr/>
          <p:nvPr/>
        </p:nvSpPr>
        <p:spPr>
          <a:xfrm>
            <a:off x="3703320" y="2148840"/>
            <a:ext cx="822960" cy="822960"/>
          </a:xfrm>
          <a:prstGeom prst="roundRect">
            <a:avLst>
              <a:gd name="adj" fmla="val 50000"/>
            </a:avLst>
          </a:prstGeom>
          <a:solidFill>
            <a:srgbClr val="3E6B8A"/>
          </a:solidFill>
        </p:spPr>
      </p:sp>
      <p:sp>
        <p:nvSpPr>
          <p:cNvPr id="12" name="Text 10"/>
          <p:cNvSpPr/>
          <p:nvPr/>
        </p:nvSpPr>
        <p:spPr>
          <a:xfrm>
            <a:off x="3703320" y="3154680"/>
            <a:ext cx="2057400" cy="457200"/>
          </a:xfrm>
          <a:prstGeom prst="rect">
            <a:avLst/>
          </a:prstGeom>
          <a:noFill/>
        </p:spPr>
        <p:txBody>
          <a:bodyPr wrap="square" rtlCol="0" anchor="ctr"/>
          <a:lstStyle/>
          <a:p>
            <a:pPr marL="0" indent="0">
              <a:buNone/>
            </a:pPr>
            <a:r>
              <a:rPr lang="en-US" sz="1450" b="1" dirty="0">
                <a:solidFill>
                  <a:srgbClr val="1A1A1A"/>
                </a:solidFill>
                <a:latin typeface="Calibri" pitchFamily="34" charset="0"/>
                <a:ea typeface="Calibri" pitchFamily="34" charset="-122"/>
                <a:cs typeface="Calibri" pitchFamily="34" charset="-120"/>
              </a:rPr>
              <a:t>Target</a:t>
            </a:r>
            <a:endParaRPr lang="en-US" sz="1450" dirty="0"/>
          </a:p>
        </p:txBody>
      </p:sp>
      <p:sp>
        <p:nvSpPr>
          <p:cNvPr id="13" name="Text 11"/>
          <p:cNvSpPr/>
          <p:nvPr/>
        </p:nvSpPr>
        <p:spPr>
          <a:xfrm>
            <a:off x="3703320" y="3611880"/>
            <a:ext cx="2057400" cy="1737360"/>
          </a:xfrm>
          <a:prstGeom prst="rect">
            <a:avLst/>
          </a:prstGeom>
          <a:noFill/>
        </p:spPr>
        <p:txBody>
          <a:bodyPr wrap="square" rtlCol="0" anchor="ctr"/>
          <a:lstStyle/>
          <a:p>
            <a:pPr marL="0" indent="0">
              <a:buNone/>
            </a:pPr>
            <a:r>
              <a:rPr lang="en-US" sz="1100" dirty="0">
                <a:solidFill>
                  <a:srgbClr val="565A61"/>
                </a:solidFill>
                <a:latin typeface="Calibri" pitchFamily="34" charset="0"/>
                <a:ea typeface="Calibri" pitchFamily="34" charset="-122"/>
                <a:cs typeface="Calibri" pitchFamily="34" charset="-120"/>
              </a:rPr>
              <a:t>Did the employee leave? 237 “Left” vs. 1,233 “Stayed” (16.1% attrition) — an imbalanced target</a:t>
            </a:r>
            <a:endParaRPr lang="en-US" sz="1100" dirty="0"/>
          </a:p>
        </p:txBody>
      </p:sp>
      <p:sp>
        <p:nvSpPr>
          <p:cNvPr id="14" name="Shape 12"/>
          <p:cNvSpPr/>
          <p:nvPr/>
        </p:nvSpPr>
        <p:spPr>
          <a:xfrm>
            <a:off x="6126480" y="1920240"/>
            <a:ext cx="2514600" cy="3566160"/>
          </a:xfrm>
          <a:prstGeom prst="roundRect">
            <a:avLst>
              <a:gd name="adj" fmla="val 3636"/>
            </a:avLst>
          </a:prstGeom>
          <a:solidFill>
            <a:srgbClr val="FAFAFC"/>
          </a:solidFill>
          <a:ln w="12700">
            <a:solidFill>
              <a:srgbClr val="E3E5E8"/>
            </a:solidFill>
            <a:prstDash val="solid"/>
          </a:ln>
        </p:spPr>
      </p:sp>
      <p:sp>
        <p:nvSpPr>
          <p:cNvPr id="15" name="Shape 13"/>
          <p:cNvSpPr/>
          <p:nvPr/>
        </p:nvSpPr>
        <p:spPr>
          <a:xfrm>
            <a:off x="6355080" y="2148840"/>
            <a:ext cx="822960" cy="822960"/>
          </a:xfrm>
          <a:prstGeom prst="roundRect">
            <a:avLst>
              <a:gd name="adj" fmla="val 50000"/>
            </a:avLst>
          </a:prstGeom>
          <a:solidFill>
            <a:srgbClr val="3E6B8A"/>
          </a:solidFill>
        </p:spPr>
      </p:sp>
      <p:sp>
        <p:nvSpPr>
          <p:cNvPr id="16" name="Text 14"/>
          <p:cNvSpPr/>
          <p:nvPr/>
        </p:nvSpPr>
        <p:spPr>
          <a:xfrm>
            <a:off x="6355080" y="3154680"/>
            <a:ext cx="2057400" cy="457200"/>
          </a:xfrm>
          <a:prstGeom prst="rect">
            <a:avLst/>
          </a:prstGeom>
          <a:noFill/>
        </p:spPr>
        <p:txBody>
          <a:bodyPr wrap="square" rtlCol="0" anchor="ctr"/>
          <a:lstStyle/>
          <a:p>
            <a:pPr marL="0" indent="0">
              <a:buNone/>
            </a:pPr>
            <a:r>
              <a:rPr lang="en-US" sz="1450" b="1" dirty="0">
                <a:solidFill>
                  <a:srgbClr val="1A1A1A"/>
                </a:solidFill>
                <a:latin typeface="Calibri" pitchFamily="34" charset="0"/>
                <a:ea typeface="Calibri" pitchFamily="34" charset="-122"/>
                <a:cs typeface="Calibri" pitchFamily="34" charset="-120"/>
              </a:rPr>
              <a:t>Split</a:t>
            </a:r>
            <a:endParaRPr lang="en-US" sz="1450" dirty="0"/>
          </a:p>
        </p:txBody>
      </p:sp>
      <p:sp>
        <p:nvSpPr>
          <p:cNvPr id="17" name="Text 15"/>
          <p:cNvSpPr/>
          <p:nvPr/>
        </p:nvSpPr>
        <p:spPr>
          <a:xfrm>
            <a:off x="6355080" y="3611880"/>
            <a:ext cx="2057400" cy="1737360"/>
          </a:xfrm>
          <a:prstGeom prst="rect">
            <a:avLst/>
          </a:prstGeom>
          <a:noFill/>
        </p:spPr>
        <p:txBody>
          <a:bodyPr wrap="square" rtlCol="0" anchor="ctr"/>
          <a:lstStyle/>
          <a:p>
            <a:pPr marL="0" indent="0">
              <a:buNone/>
            </a:pPr>
            <a:r>
              <a:rPr lang="en-US" sz="1100" dirty="0">
                <a:solidFill>
                  <a:srgbClr val="565A61"/>
                </a:solidFill>
                <a:latin typeface="Calibri" pitchFamily="34" charset="0"/>
                <a:ea typeface="Calibri" pitchFamily="34" charset="-122"/>
                <a:cs typeface="Calibri" pitchFamily="34" charset="-120"/>
              </a:rPr>
              <a:t>80/20 train/test, stratified so both sets keep the same 16% attrition rate</a:t>
            </a:r>
            <a:endParaRPr lang="en-US" sz="1100" dirty="0"/>
          </a:p>
        </p:txBody>
      </p:sp>
      <p:sp>
        <p:nvSpPr>
          <p:cNvPr id="18" name="Shape 16"/>
          <p:cNvSpPr/>
          <p:nvPr/>
        </p:nvSpPr>
        <p:spPr>
          <a:xfrm>
            <a:off x="8778240" y="1920240"/>
            <a:ext cx="2514600" cy="3566160"/>
          </a:xfrm>
          <a:prstGeom prst="roundRect">
            <a:avLst>
              <a:gd name="adj" fmla="val 3636"/>
            </a:avLst>
          </a:prstGeom>
          <a:solidFill>
            <a:srgbClr val="FAFAFC"/>
          </a:solidFill>
          <a:ln w="12700">
            <a:solidFill>
              <a:srgbClr val="E3E5E8"/>
            </a:solidFill>
            <a:prstDash val="solid"/>
          </a:ln>
        </p:spPr>
      </p:sp>
      <p:sp>
        <p:nvSpPr>
          <p:cNvPr id="19" name="Shape 17"/>
          <p:cNvSpPr/>
          <p:nvPr/>
        </p:nvSpPr>
        <p:spPr>
          <a:xfrm>
            <a:off x="9006840" y="2148840"/>
            <a:ext cx="822960" cy="822960"/>
          </a:xfrm>
          <a:prstGeom prst="roundRect">
            <a:avLst>
              <a:gd name="adj" fmla="val 50000"/>
            </a:avLst>
          </a:prstGeom>
          <a:solidFill>
            <a:srgbClr val="AD8A57"/>
          </a:solidFill>
        </p:spPr>
      </p:sp>
      <p:sp>
        <p:nvSpPr>
          <p:cNvPr id="20" name="Text 18"/>
          <p:cNvSpPr/>
          <p:nvPr/>
        </p:nvSpPr>
        <p:spPr>
          <a:xfrm>
            <a:off x="9006840" y="3154680"/>
            <a:ext cx="2057400" cy="457200"/>
          </a:xfrm>
          <a:prstGeom prst="rect">
            <a:avLst/>
          </a:prstGeom>
          <a:noFill/>
        </p:spPr>
        <p:txBody>
          <a:bodyPr wrap="square" rtlCol="0" anchor="ctr"/>
          <a:lstStyle/>
          <a:p>
            <a:pPr marL="0" indent="0">
              <a:buNone/>
            </a:pPr>
            <a:r>
              <a:rPr lang="en-US" sz="1450" b="1" dirty="0">
                <a:solidFill>
                  <a:srgbClr val="1A1A1A"/>
                </a:solidFill>
                <a:latin typeface="Calibri" pitchFamily="34" charset="0"/>
                <a:ea typeface="Calibri" pitchFamily="34" charset="-122"/>
                <a:cs typeface="Calibri" pitchFamily="34" charset="-120"/>
              </a:rPr>
              <a:t>Models Tested</a:t>
            </a:r>
            <a:endParaRPr lang="en-US" sz="1450" dirty="0"/>
          </a:p>
        </p:txBody>
      </p:sp>
      <p:sp>
        <p:nvSpPr>
          <p:cNvPr id="21" name="Text 19"/>
          <p:cNvSpPr/>
          <p:nvPr/>
        </p:nvSpPr>
        <p:spPr>
          <a:xfrm>
            <a:off x="9006840" y="3611880"/>
            <a:ext cx="2057400" cy="1737360"/>
          </a:xfrm>
          <a:prstGeom prst="rect">
            <a:avLst/>
          </a:prstGeom>
          <a:noFill/>
        </p:spPr>
        <p:txBody>
          <a:bodyPr wrap="square" rtlCol="0" anchor="ctr"/>
          <a:lstStyle/>
          <a:p>
            <a:pPr marL="0" indent="0">
              <a:buNone/>
            </a:pPr>
            <a:r>
              <a:rPr lang="en-US" sz="1100" dirty="0">
                <a:solidFill>
                  <a:srgbClr val="565A61"/>
                </a:solidFill>
                <a:latin typeface="Calibri" pitchFamily="34" charset="0"/>
                <a:ea typeface="Calibri" pitchFamily="34" charset="-122"/>
                <a:cs typeface="Calibri" pitchFamily="34" charset="-120"/>
              </a:rPr>
              <a:t>Logistic Regression and Random Forest, both class-weighted to counter the imbalance</a:t>
            </a:r>
            <a:endParaRPr lang="en-US" sz="1100" dirty="0"/>
          </a:p>
        </p:txBody>
      </p:sp>
      <p:sp>
        <p:nvSpPr>
          <p:cNvPr id="22" name="Text 20"/>
          <p:cNvSpPr/>
          <p:nvPr/>
        </p:nvSpPr>
        <p:spPr>
          <a:xfrm>
            <a:off x="822960" y="5715000"/>
            <a:ext cx="10332720" cy="457200"/>
          </a:xfrm>
          <a:prstGeom prst="rect">
            <a:avLst/>
          </a:prstGeom>
          <a:noFill/>
        </p:spPr>
        <p:txBody>
          <a:bodyPr wrap="square" rtlCol="0" anchor="ctr"/>
          <a:lstStyle/>
          <a:p>
            <a:pPr marL="0" indent="0">
              <a:buNone/>
            </a:pPr>
            <a:r>
              <a:rPr lang="en-US" sz="1150" i="1" dirty="0">
                <a:solidFill>
                  <a:srgbClr val="8B8F94"/>
                </a:solidFill>
                <a:latin typeface="Calibri" pitchFamily="34" charset="0"/>
                <a:ea typeface="Calibri" pitchFamily="34" charset="-122"/>
                <a:cs typeface="Calibri" pitchFamily="34" charset="-120"/>
              </a:rPr>
              <a:t>Why class-weighting matters: without it, a model trained on an 84/16 split can score well by predicting “Stayed” for nearly everyone — see the Recall vs. Accuracy slide ahead.</a:t>
            </a:r>
            <a:endParaRPr lang="en-US" sz="1150" dirty="0"/>
          </a:p>
        </p:txBody>
      </p:sp>
      <p:sp>
        <p:nvSpPr>
          <p:cNvPr id="23" name="Text 21"/>
          <p:cNvSpPr/>
          <p:nvPr/>
        </p:nvSpPr>
        <p:spPr>
          <a:xfrm>
            <a:off x="457200" y="6473952"/>
            <a:ext cx="7315200" cy="274320"/>
          </a:xfrm>
          <a:prstGeom prst="rect">
            <a:avLst/>
          </a:prstGeom>
          <a:noFill/>
        </p:spPr>
        <p:txBody>
          <a:bodyPr wrap="square" rtlCol="0" anchor="ctr"/>
          <a:lstStyle/>
          <a:p>
            <a:pPr marL="0" indent="0">
              <a:buNone/>
            </a:pPr>
            <a:r>
              <a:rPr lang="en-US" sz="900" dirty="0">
                <a:solidFill>
                  <a:srgbClr val="8B8F94"/>
                </a:solidFill>
                <a:latin typeface="Calibri" pitchFamily="34" charset="0"/>
                <a:ea typeface="Calibri" pitchFamily="34" charset="-122"/>
                <a:cs typeface="Calibri" pitchFamily="34" charset="-120"/>
              </a:rPr>
              <a:t>Attrition Model — Measured Results  ·  Data &amp; Analytics Briefing</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22960" y="502920"/>
            <a:ext cx="457200" cy="457200"/>
          </a:xfrm>
          <a:prstGeom prst="ellipse">
            <a:avLst/>
          </a:prstGeom>
          <a:solidFill>
            <a:srgbClr val="3E6B8A"/>
          </a:solidFill>
        </p:spPr>
      </p:sp>
      <p:sp>
        <p:nvSpPr>
          <p:cNvPr id="3" name="Text 1"/>
          <p:cNvSpPr/>
          <p:nvPr/>
        </p:nvSpPr>
        <p:spPr>
          <a:xfrm>
            <a:off x="822960" y="502920"/>
            <a:ext cx="457200" cy="457200"/>
          </a:xfrm>
          <a:prstGeom prst="rect">
            <a:avLst/>
          </a:prstGeom>
          <a:noFill/>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04</a:t>
            </a:r>
            <a:endParaRPr lang="en-US" sz="1600" dirty="0"/>
          </a:p>
        </p:txBody>
      </p:sp>
      <p:sp>
        <p:nvSpPr>
          <p:cNvPr id="4" name="Text 2"/>
          <p:cNvSpPr/>
          <p:nvPr/>
        </p:nvSpPr>
        <p:spPr>
          <a:xfrm>
            <a:off x="1463040" y="566928"/>
            <a:ext cx="8229600" cy="274320"/>
          </a:xfrm>
          <a:prstGeom prst="rect">
            <a:avLst/>
          </a:prstGeom>
          <a:noFill/>
        </p:spPr>
        <p:txBody>
          <a:bodyPr wrap="square" rtlCol="0" anchor="ctr"/>
          <a:lstStyle/>
          <a:p>
            <a:pPr marL="0" indent="0">
              <a:buNone/>
            </a:pPr>
            <a:r>
              <a:rPr lang="en-US" sz="1100" b="1" kern="0" spc="200" dirty="0">
                <a:solidFill>
                  <a:srgbClr val="3E6B8A"/>
                </a:solidFill>
                <a:latin typeface="Calibri" pitchFamily="34" charset="0"/>
                <a:ea typeface="Calibri" pitchFamily="34" charset="-122"/>
                <a:cs typeface="Calibri" pitchFamily="34" charset="-120"/>
              </a:rPr>
              <a:t>SECTION 04 · THE RESULTS</a:t>
            </a:r>
            <a:endParaRPr lang="en-US" sz="1100" dirty="0"/>
          </a:p>
        </p:txBody>
      </p:sp>
      <p:sp>
        <p:nvSpPr>
          <p:cNvPr id="5" name="Text 3"/>
          <p:cNvSpPr/>
          <p:nvPr/>
        </p:nvSpPr>
        <p:spPr>
          <a:xfrm>
            <a:off x="822960" y="1051560"/>
            <a:ext cx="10058400" cy="548640"/>
          </a:xfrm>
          <a:prstGeom prst="rect">
            <a:avLst/>
          </a:prstGeom>
          <a:noFill/>
        </p:spPr>
        <p:txBody>
          <a:bodyPr wrap="square" rtlCol="0" anchor="ctr"/>
          <a:lstStyle/>
          <a:p>
            <a:pPr marL="0" indent="0">
              <a:buNone/>
            </a:pPr>
            <a:r>
              <a:rPr lang="en-US" sz="2700" b="1" dirty="0">
                <a:solidFill>
                  <a:srgbClr val="1A1A1A"/>
                </a:solidFill>
                <a:latin typeface="Calibri" pitchFamily="34" charset="0"/>
                <a:ea typeface="Calibri" pitchFamily="34" charset="-122"/>
                <a:cs typeface="Calibri" pitchFamily="34" charset="-120"/>
              </a:rPr>
              <a:t>The Headline Result</a:t>
            </a:r>
            <a:endParaRPr lang="en-US" sz="2700" dirty="0"/>
          </a:p>
        </p:txBody>
      </p:sp>
      <p:sp>
        <p:nvSpPr>
          <p:cNvPr id="6" name="Text 4"/>
          <p:cNvSpPr/>
          <p:nvPr/>
        </p:nvSpPr>
        <p:spPr>
          <a:xfrm>
            <a:off x="822960" y="1600200"/>
            <a:ext cx="10332720" cy="365760"/>
          </a:xfrm>
          <a:prstGeom prst="rect">
            <a:avLst/>
          </a:prstGeom>
          <a:noFill/>
        </p:spPr>
        <p:txBody>
          <a:bodyPr wrap="square" rtlCol="0" anchor="ctr"/>
          <a:lstStyle/>
          <a:p>
            <a:pPr marL="0" indent="0">
              <a:buNone/>
            </a:pPr>
            <a:r>
              <a:rPr lang="en-US" sz="1350" dirty="0">
                <a:solidFill>
                  <a:srgbClr val="565A61"/>
                </a:solidFill>
                <a:latin typeface="Calibri" pitchFamily="34" charset="0"/>
                <a:ea typeface="Calibri" pitchFamily="34" charset="-122"/>
                <a:cs typeface="Calibri" pitchFamily="34" charset="-120"/>
              </a:rPr>
              <a:t>Measured on the same held-out test set of 294 employees the model never saw during training.</a:t>
            </a:r>
            <a:endParaRPr lang="en-US" sz="1350" dirty="0"/>
          </a:p>
        </p:txBody>
      </p:sp>
      <p:sp>
        <p:nvSpPr>
          <p:cNvPr id="7" name="Shape 5"/>
          <p:cNvSpPr/>
          <p:nvPr/>
        </p:nvSpPr>
        <p:spPr>
          <a:xfrm>
            <a:off x="822960" y="2286000"/>
            <a:ext cx="2514600" cy="2651760"/>
          </a:xfrm>
          <a:prstGeom prst="roundRect">
            <a:avLst>
              <a:gd name="adj" fmla="val 3636"/>
            </a:avLst>
          </a:prstGeom>
          <a:solidFill>
            <a:srgbClr val="FAFAFC"/>
          </a:solidFill>
          <a:ln w="12700">
            <a:solidFill>
              <a:srgbClr val="E3E5E8"/>
            </a:solidFill>
            <a:prstDash val="solid"/>
          </a:ln>
        </p:spPr>
      </p:sp>
      <p:sp>
        <p:nvSpPr>
          <p:cNvPr id="8" name="Shape 6"/>
          <p:cNvSpPr/>
          <p:nvPr/>
        </p:nvSpPr>
        <p:spPr>
          <a:xfrm>
            <a:off x="822960" y="2286000"/>
            <a:ext cx="2514600" cy="54864"/>
          </a:xfrm>
          <a:prstGeom prst="rect">
            <a:avLst/>
          </a:prstGeom>
          <a:solidFill>
            <a:srgbClr val="3E6B8A"/>
          </a:solidFill>
        </p:spPr>
      </p:sp>
      <p:sp>
        <p:nvSpPr>
          <p:cNvPr id="9" name="Text 7"/>
          <p:cNvSpPr/>
          <p:nvPr/>
        </p:nvSpPr>
        <p:spPr>
          <a:xfrm>
            <a:off x="1005840" y="2514600"/>
            <a:ext cx="2148840" cy="731520"/>
          </a:xfrm>
          <a:prstGeom prst="rect">
            <a:avLst/>
          </a:prstGeom>
          <a:noFill/>
        </p:spPr>
        <p:txBody>
          <a:bodyPr wrap="square" rtlCol="0" anchor="ctr"/>
          <a:lstStyle/>
          <a:p>
            <a:pPr marL="0" indent="0">
              <a:buNone/>
            </a:pPr>
            <a:r>
              <a:rPr lang="en-US" sz="3400" b="1" dirty="0">
                <a:solidFill>
                  <a:srgbClr val="1A1A1A"/>
                </a:solidFill>
                <a:latin typeface="Calibri" pitchFamily="34" charset="0"/>
                <a:ea typeface="Calibri" pitchFamily="34" charset="-122"/>
                <a:cs typeface="Calibri" pitchFamily="34" charset="-120"/>
              </a:rPr>
              <a:t>0.798</a:t>
            </a:r>
            <a:endParaRPr lang="en-US" sz="3400" dirty="0"/>
          </a:p>
        </p:txBody>
      </p:sp>
      <p:sp>
        <p:nvSpPr>
          <p:cNvPr id="10" name="Text 8"/>
          <p:cNvSpPr/>
          <p:nvPr/>
        </p:nvSpPr>
        <p:spPr>
          <a:xfrm>
            <a:off x="1005840" y="3246120"/>
            <a:ext cx="2148840" cy="274320"/>
          </a:xfrm>
          <a:prstGeom prst="rect">
            <a:avLst/>
          </a:prstGeom>
          <a:noFill/>
        </p:spPr>
        <p:txBody>
          <a:bodyPr wrap="square" rtlCol="0" anchor="ctr"/>
          <a:lstStyle/>
          <a:p>
            <a:pPr marL="0" indent="0">
              <a:buNone/>
            </a:pPr>
            <a:r>
              <a:rPr lang="en-US" sz="1100" b="1" kern="0" spc="100" dirty="0">
                <a:solidFill>
                  <a:srgbClr val="3E6B8A"/>
                </a:solidFill>
                <a:latin typeface="Calibri" pitchFamily="34" charset="0"/>
                <a:ea typeface="Calibri" pitchFamily="34" charset="-122"/>
                <a:cs typeface="Calibri" pitchFamily="34" charset="-120"/>
              </a:rPr>
              <a:t>AUC</a:t>
            </a:r>
            <a:endParaRPr lang="en-US" sz="1100" dirty="0"/>
          </a:p>
        </p:txBody>
      </p:sp>
      <p:sp>
        <p:nvSpPr>
          <p:cNvPr id="11" name="Text 9"/>
          <p:cNvSpPr/>
          <p:nvPr/>
        </p:nvSpPr>
        <p:spPr>
          <a:xfrm>
            <a:off x="1005840" y="3566160"/>
            <a:ext cx="2148840" cy="1188720"/>
          </a:xfrm>
          <a:prstGeom prst="rect">
            <a:avLst/>
          </a:prstGeom>
          <a:noFill/>
        </p:spPr>
        <p:txBody>
          <a:bodyPr wrap="square" rtlCol="0" anchor="ctr"/>
          <a:lstStyle/>
          <a:p>
            <a:pPr marL="0" indent="0">
              <a:buNone/>
            </a:pPr>
            <a:r>
              <a:rPr lang="en-US" sz="1050" dirty="0">
                <a:solidFill>
                  <a:srgbClr val="565A61"/>
                </a:solidFill>
                <a:latin typeface="Calibri" pitchFamily="34" charset="0"/>
                <a:ea typeface="Calibri" pitchFamily="34" charset="-122"/>
                <a:cs typeface="Calibri" pitchFamily="34" charset="-120"/>
              </a:rPr>
              <a:t>Logistic Regression — ability to rank at-risk employees higher</a:t>
            </a:r>
            <a:endParaRPr lang="en-US" sz="1050" dirty="0"/>
          </a:p>
        </p:txBody>
      </p:sp>
      <p:sp>
        <p:nvSpPr>
          <p:cNvPr id="12" name="Shape 10"/>
          <p:cNvSpPr/>
          <p:nvPr/>
        </p:nvSpPr>
        <p:spPr>
          <a:xfrm>
            <a:off x="3474720" y="2286000"/>
            <a:ext cx="2514600" cy="2651760"/>
          </a:xfrm>
          <a:prstGeom prst="roundRect">
            <a:avLst>
              <a:gd name="adj" fmla="val 3636"/>
            </a:avLst>
          </a:prstGeom>
          <a:solidFill>
            <a:srgbClr val="FAFAFC"/>
          </a:solidFill>
          <a:ln w="12700">
            <a:solidFill>
              <a:srgbClr val="E3E5E8"/>
            </a:solidFill>
            <a:prstDash val="solid"/>
          </a:ln>
        </p:spPr>
      </p:sp>
      <p:sp>
        <p:nvSpPr>
          <p:cNvPr id="13" name="Shape 11"/>
          <p:cNvSpPr/>
          <p:nvPr/>
        </p:nvSpPr>
        <p:spPr>
          <a:xfrm>
            <a:off x="3474720" y="2286000"/>
            <a:ext cx="2514600" cy="54864"/>
          </a:xfrm>
          <a:prstGeom prst="rect">
            <a:avLst/>
          </a:prstGeom>
          <a:solidFill>
            <a:srgbClr val="3E6B8A"/>
          </a:solidFill>
        </p:spPr>
      </p:sp>
      <p:sp>
        <p:nvSpPr>
          <p:cNvPr id="14" name="Text 12"/>
          <p:cNvSpPr/>
          <p:nvPr/>
        </p:nvSpPr>
        <p:spPr>
          <a:xfrm>
            <a:off x="3657600" y="2514600"/>
            <a:ext cx="2148840" cy="731520"/>
          </a:xfrm>
          <a:prstGeom prst="rect">
            <a:avLst/>
          </a:prstGeom>
          <a:noFill/>
        </p:spPr>
        <p:txBody>
          <a:bodyPr wrap="square" rtlCol="0" anchor="ctr"/>
          <a:lstStyle/>
          <a:p>
            <a:pPr marL="0" indent="0">
              <a:buNone/>
            </a:pPr>
            <a:r>
              <a:rPr lang="en-US" sz="3400" b="1" dirty="0">
                <a:solidFill>
                  <a:srgbClr val="1A1A1A"/>
                </a:solidFill>
                <a:latin typeface="Calibri" pitchFamily="34" charset="0"/>
                <a:ea typeface="Calibri" pitchFamily="34" charset="-122"/>
                <a:cs typeface="Calibri" pitchFamily="34" charset="-120"/>
              </a:rPr>
              <a:t>61.7%</a:t>
            </a:r>
            <a:endParaRPr lang="en-US" sz="3400" dirty="0"/>
          </a:p>
        </p:txBody>
      </p:sp>
      <p:sp>
        <p:nvSpPr>
          <p:cNvPr id="15" name="Text 13"/>
          <p:cNvSpPr/>
          <p:nvPr/>
        </p:nvSpPr>
        <p:spPr>
          <a:xfrm>
            <a:off x="3657600" y="3246120"/>
            <a:ext cx="2148840" cy="274320"/>
          </a:xfrm>
          <a:prstGeom prst="rect">
            <a:avLst/>
          </a:prstGeom>
          <a:noFill/>
        </p:spPr>
        <p:txBody>
          <a:bodyPr wrap="square" rtlCol="0" anchor="ctr"/>
          <a:lstStyle/>
          <a:p>
            <a:pPr marL="0" indent="0">
              <a:buNone/>
            </a:pPr>
            <a:r>
              <a:rPr lang="en-US" sz="1100" b="1" kern="0" spc="100" dirty="0">
                <a:solidFill>
                  <a:srgbClr val="3E6B8A"/>
                </a:solidFill>
                <a:latin typeface="Calibri" pitchFamily="34" charset="0"/>
                <a:ea typeface="Calibri" pitchFamily="34" charset="-122"/>
                <a:cs typeface="Calibri" pitchFamily="34" charset="-120"/>
              </a:rPr>
              <a:t>RECALL</a:t>
            </a:r>
            <a:endParaRPr lang="en-US" sz="1100" dirty="0"/>
          </a:p>
        </p:txBody>
      </p:sp>
      <p:sp>
        <p:nvSpPr>
          <p:cNvPr id="16" name="Text 14"/>
          <p:cNvSpPr/>
          <p:nvPr/>
        </p:nvSpPr>
        <p:spPr>
          <a:xfrm>
            <a:off x="3657600" y="3566160"/>
            <a:ext cx="2148840" cy="1188720"/>
          </a:xfrm>
          <a:prstGeom prst="rect">
            <a:avLst/>
          </a:prstGeom>
          <a:noFill/>
        </p:spPr>
        <p:txBody>
          <a:bodyPr wrap="square" rtlCol="0" anchor="ctr"/>
          <a:lstStyle/>
          <a:p>
            <a:pPr marL="0" indent="0">
              <a:buNone/>
            </a:pPr>
            <a:r>
              <a:rPr lang="en-US" sz="1050" dirty="0">
                <a:solidFill>
                  <a:srgbClr val="565A61"/>
                </a:solidFill>
                <a:latin typeface="Calibri" pitchFamily="34" charset="0"/>
                <a:ea typeface="Calibri" pitchFamily="34" charset="-122"/>
                <a:cs typeface="Calibri" pitchFamily="34" charset="-120"/>
              </a:rPr>
              <a:t>Share of actual leavers the model correctly flagged</a:t>
            </a:r>
            <a:endParaRPr lang="en-US" sz="1050" dirty="0"/>
          </a:p>
        </p:txBody>
      </p:sp>
      <p:sp>
        <p:nvSpPr>
          <p:cNvPr id="17" name="Shape 15"/>
          <p:cNvSpPr/>
          <p:nvPr/>
        </p:nvSpPr>
        <p:spPr>
          <a:xfrm>
            <a:off x="6126480" y="2286000"/>
            <a:ext cx="2514600" cy="2651760"/>
          </a:xfrm>
          <a:prstGeom prst="roundRect">
            <a:avLst>
              <a:gd name="adj" fmla="val 3636"/>
            </a:avLst>
          </a:prstGeom>
          <a:solidFill>
            <a:srgbClr val="FAFAFC"/>
          </a:solidFill>
          <a:ln w="12700">
            <a:solidFill>
              <a:srgbClr val="E3E5E8"/>
            </a:solidFill>
            <a:prstDash val="solid"/>
          </a:ln>
        </p:spPr>
      </p:sp>
      <p:sp>
        <p:nvSpPr>
          <p:cNvPr id="18" name="Shape 16"/>
          <p:cNvSpPr/>
          <p:nvPr/>
        </p:nvSpPr>
        <p:spPr>
          <a:xfrm>
            <a:off x="6126480" y="2286000"/>
            <a:ext cx="2514600" cy="54864"/>
          </a:xfrm>
          <a:prstGeom prst="rect">
            <a:avLst/>
          </a:prstGeom>
          <a:solidFill>
            <a:srgbClr val="AD8A57"/>
          </a:solidFill>
        </p:spPr>
      </p:sp>
      <p:sp>
        <p:nvSpPr>
          <p:cNvPr id="19" name="Text 17"/>
          <p:cNvSpPr/>
          <p:nvPr/>
        </p:nvSpPr>
        <p:spPr>
          <a:xfrm>
            <a:off x="6309360" y="2514600"/>
            <a:ext cx="2148840" cy="731520"/>
          </a:xfrm>
          <a:prstGeom prst="rect">
            <a:avLst/>
          </a:prstGeom>
          <a:noFill/>
        </p:spPr>
        <p:txBody>
          <a:bodyPr wrap="square" rtlCol="0" anchor="ctr"/>
          <a:lstStyle/>
          <a:p>
            <a:pPr marL="0" indent="0">
              <a:buNone/>
            </a:pPr>
            <a:r>
              <a:rPr lang="en-US" sz="3400" b="1" dirty="0">
                <a:solidFill>
                  <a:srgbClr val="1A1A1A"/>
                </a:solidFill>
                <a:latin typeface="Calibri" pitchFamily="34" charset="0"/>
                <a:ea typeface="Calibri" pitchFamily="34" charset="-122"/>
                <a:cs typeface="Calibri" pitchFamily="34" charset="-120"/>
              </a:rPr>
              <a:t>34.5%</a:t>
            </a:r>
            <a:endParaRPr lang="en-US" sz="3400" dirty="0"/>
          </a:p>
        </p:txBody>
      </p:sp>
      <p:sp>
        <p:nvSpPr>
          <p:cNvPr id="20" name="Text 18"/>
          <p:cNvSpPr/>
          <p:nvPr/>
        </p:nvSpPr>
        <p:spPr>
          <a:xfrm>
            <a:off x="6309360" y="3246120"/>
            <a:ext cx="2148840" cy="274320"/>
          </a:xfrm>
          <a:prstGeom prst="rect">
            <a:avLst/>
          </a:prstGeom>
          <a:noFill/>
        </p:spPr>
        <p:txBody>
          <a:bodyPr wrap="square" rtlCol="0" anchor="ctr"/>
          <a:lstStyle/>
          <a:p>
            <a:pPr marL="0" indent="0">
              <a:buNone/>
            </a:pPr>
            <a:r>
              <a:rPr lang="en-US" sz="1100" b="1" kern="0" spc="100" dirty="0">
                <a:solidFill>
                  <a:srgbClr val="AD8A57"/>
                </a:solidFill>
                <a:latin typeface="Calibri" pitchFamily="34" charset="0"/>
                <a:ea typeface="Calibri" pitchFamily="34" charset="-122"/>
                <a:cs typeface="Calibri" pitchFamily="34" charset="-120"/>
              </a:rPr>
              <a:t>PRECISION</a:t>
            </a:r>
            <a:endParaRPr lang="en-US" sz="1100" dirty="0"/>
          </a:p>
        </p:txBody>
      </p:sp>
      <p:sp>
        <p:nvSpPr>
          <p:cNvPr id="21" name="Text 19"/>
          <p:cNvSpPr/>
          <p:nvPr/>
        </p:nvSpPr>
        <p:spPr>
          <a:xfrm>
            <a:off x="6309360" y="3566160"/>
            <a:ext cx="2148840" cy="1188720"/>
          </a:xfrm>
          <a:prstGeom prst="rect">
            <a:avLst/>
          </a:prstGeom>
          <a:noFill/>
        </p:spPr>
        <p:txBody>
          <a:bodyPr wrap="square" rtlCol="0" anchor="ctr"/>
          <a:lstStyle/>
          <a:p>
            <a:pPr marL="0" indent="0">
              <a:buNone/>
            </a:pPr>
            <a:r>
              <a:rPr lang="en-US" sz="1050" dirty="0">
                <a:solidFill>
                  <a:srgbClr val="565A61"/>
                </a:solidFill>
                <a:latin typeface="Calibri" pitchFamily="34" charset="0"/>
                <a:ea typeface="Calibri" pitchFamily="34" charset="-122"/>
                <a:cs typeface="Calibri" pitchFamily="34" charset="-120"/>
              </a:rPr>
              <a:t>Of everyone flagged, how often the flag was right</a:t>
            </a:r>
            <a:endParaRPr lang="en-US" sz="1050" dirty="0"/>
          </a:p>
        </p:txBody>
      </p:sp>
      <p:sp>
        <p:nvSpPr>
          <p:cNvPr id="22" name="Shape 20"/>
          <p:cNvSpPr/>
          <p:nvPr/>
        </p:nvSpPr>
        <p:spPr>
          <a:xfrm>
            <a:off x="8778240" y="2286000"/>
            <a:ext cx="2514600" cy="2651760"/>
          </a:xfrm>
          <a:prstGeom prst="roundRect">
            <a:avLst>
              <a:gd name="adj" fmla="val 3636"/>
            </a:avLst>
          </a:prstGeom>
          <a:solidFill>
            <a:srgbClr val="FAFAFC"/>
          </a:solidFill>
          <a:ln w="12700">
            <a:solidFill>
              <a:srgbClr val="E3E5E8"/>
            </a:solidFill>
            <a:prstDash val="solid"/>
          </a:ln>
        </p:spPr>
      </p:sp>
      <p:sp>
        <p:nvSpPr>
          <p:cNvPr id="23" name="Shape 21"/>
          <p:cNvSpPr/>
          <p:nvPr/>
        </p:nvSpPr>
        <p:spPr>
          <a:xfrm>
            <a:off x="8778240" y="2286000"/>
            <a:ext cx="2514600" cy="54864"/>
          </a:xfrm>
          <a:prstGeom prst="rect">
            <a:avLst/>
          </a:prstGeom>
          <a:solidFill>
            <a:srgbClr val="A44A42"/>
          </a:solidFill>
        </p:spPr>
      </p:sp>
      <p:sp>
        <p:nvSpPr>
          <p:cNvPr id="24" name="Text 22"/>
          <p:cNvSpPr/>
          <p:nvPr/>
        </p:nvSpPr>
        <p:spPr>
          <a:xfrm>
            <a:off x="8961120" y="2514600"/>
            <a:ext cx="2148840" cy="731520"/>
          </a:xfrm>
          <a:prstGeom prst="rect">
            <a:avLst/>
          </a:prstGeom>
          <a:noFill/>
        </p:spPr>
        <p:txBody>
          <a:bodyPr wrap="square" rtlCol="0" anchor="ctr"/>
          <a:lstStyle/>
          <a:p>
            <a:pPr marL="0" indent="0">
              <a:buNone/>
            </a:pPr>
            <a:r>
              <a:rPr lang="en-US" sz="3400" b="1" dirty="0">
                <a:solidFill>
                  <a:srgbClr val="1A1A1A"/>
                </a:solidFill>
                <a:latin typeface="Calibri" pitchFamily="34" charset="0"/>
                <a:ea typeface="Calibri" pitchFamily="34" charset="-122"/>
                <a:cs typeface="Calibri" pitchFamily="34" charset="-120"/>
              </a:rPr>
              <a:t>0%</a:t>
            </a:r>
            <a:endParaRPr lang="en-US" sz="3400" dirty="0"/>
          </a:p>
        </p:txBody>
      </p:sp>
      <p:sp>
        <p:nvSpPr>
          <p:cNvPr id="25" name="Text 23"/>
          <p:cNvSpPr/>
          <p:nvPr/>
        </p:nvSpPr>
        <p:spPr>
          <a:xfrm>
            <a:off x="8961120" y="3246120"/>
            <a:ext cx="2148840" cy="274320"/>
          </a:xfrm>
          <a:prstGeom prst="rect">
            <a:avLst/>
          </a:prstGeom>
          <a:noFill/>
        </p:spPr>
        <p:txBody>
          <a:bodyPr wrap="square" rtlCol="0" anchor="ctr"/>
          <a:lstStyle/>
          <a:p>
            <a:pPr marL="0" indent="0">
              <a:buNone/>
            </a:pPr>
            <a:r>
              <a:rPr lang="en-US" sz="1100" b="1" kern="0" spc="100" dirty="0">
                <a:solidFill>
                  <a:srgbClr val="A44A42"/>
                </a:solidFill>
                <a:latin typeface="Calibri" pitchFamily="34" charset="0"/>
                <a:ea typeface="Calibri" pitchFamily="34" charset="-122"/>
                <a:cs typeface="Calibri" pitchFamily="34" charset="-120"/>
              </a:rPr>
              <a:t>BASELINE RECALL</a:t>
            </a:r>
            <a:endParaRPr lang="en-US" sz="1100" dirty="0"/>
          </a:p>
        </p:txBody>
      </p:sp>
      <p:sp>
        <p:nvSpPr>
          <p:cNvPr id="26" name="Text 24"/>
          <p:cNvSpPr/>
          <p:nvPr/>
        </p:nvSpPr>
        <p:spPr>
          <a:xfrm>
            <a:off x="8961120" y="3566160"/>
            <a:ext cx="2148840" cy="1188720"/>
          </a:xfrm>
          <a:prstGeom prst="rect">
            <a:avLst/>
          </a:prstGeom>
          <a:noFill/>
        </p:spPr>
        <p:txBody>
          <a:bodyPr wrap="square" rtlCol="0" anchor="ctr"/>
          <a:lstStyle/>
          <a:p>
            <a:pPr marL="0" indent="0">
              <a:buNone/>
            </a:pPr>
            <a:r>
              <a:rPr lang="en-US" sz="1050" dirty="0">
                <a:solidFill>
                  <a:srgbClr val="565A61"/>
                </a:solidFill>
                <a:latin typeface="Calibri" pitchFamily="34" charset="0"/>
                <a:ea typeface="Calibri" pitchFamily="34" charset="-122"/>
                <a:cs typeface="Calibri" pitchFamily="34" charset="-120"/>
              </a:rPr>
              <a:t>“Predict everyone stays” — 84% accurate, catches nobody</a:t>
            </a:r>
            <a:endParaRPr lang="en-US" sz="1050" dirty="0"/>
          </a:p>
        </p:txBody>
      </p:sp>
      <p:sp>
        <p:nvSpPr>
          <p:cNvPr id="27" name="Text 25"/>
          <p:cNvSpPr/>
          <p:nvPr/>
        </p:nvSpPr>
        <p:spPr>
          <a:xfrm>
            <a:off x="822960" y="5166360"/>
            <a:ext cx="10332720" cy="548640"/>
          </a:xfrm>
          <a:prstGeom prst="rect">
            <a:avLst/>
          </a:prstGeom>
          <a:noFill/>
        </p:spPr>
        <p:txBody>
          <a:bodyPr wrap="square" rtlCol="0" anchor="ctr"/>
          <a:lstStyle/>
          <a:p>
            <a:pPr marL="0" indent="0">
              <a:buNone/>
            </a:pPr>
            <a:r>
              <a:rPr lang="en-US" sz="1400" b="1" dirty="0">
                <a:solidFill>
                  <a:srgbClr val="1C222E"/>
                </a:solidFill>
                <a:latin typeface="Calibri" pitchFamily="34" charset="0"/>
                <a:ea typeface="Calibri" pitchFamily="34" charset="-122"/>
                <a:cs typeface="Calibri" pitchFamily="34" charset="-120"/>
              </a:rPr>
              <a:t>The takeaway: a simple model catches 6 in 10 employees who are actually going to leave — something no dashboard today tells HR.</a:t>
            </a:r>
            <a:endParaRPr lang="en-US" sz="1400" dirty="0"/>
          </a:p>
        </p:txBody>
      </p:sp>
      <p:sp>
        <p:nvSpPr>
          <p:cNvPr id="28" name="Text 26"/>
          <p:cNvSpPr/>
          <p:nvPr/>
        </p:nvSpPr>
        <p:spPr>
          <a:xfrm>
            <a:off x="457200" y="6473952"/>
            <a:ext cx="7315200" cy="274320"/>
          </a:xfrm>
          <a:prstGeom prst="rect">
            <a:avLst/>
          </a:prstGeom>
          <a:noFill/>
        </p:spPr>
        <p:txBody>
          <a:bodyPr wrap="square" rtlCol="0" anchor="ctr"/>
          <a:lstStyle/>
          <a:p>
            <a:pPr marL="0" indent="0">
              <a:buNone/>
            </a:pPr>
            <a:r>
              <a:rPr lang="en-US" sz="900" dirty="0">
                <a:solidFill>
                  <a:srgbClr val="8B8F94"/>
                </a:solidFill>
                <a:latin typeface="Calibri" pitchFamily="34" charset="0"/>
                <a:ea typeface="Calibri" pitchFamily="34" charset="-122"/>
                <a:cs typeface="Calibri" pitchFamily="34" charset="-120"/>
              </a:rPr>
              <a:t>Attrition Model — Measured Results  ·  Data &amp; Analytics Briefing</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22960" y="502920"/>
            <a:ext cx="457200" cy="457200"/>
          </a:xfrm>
          <a:prstGeom prst="ellipse">
            <a:avLst/>
          </a:prstGeom>
          <a:solidFill>
            <a:srgbClr val="AD8A57"/>
          </a:solidFill>
        </p:spPr>
      </p:sp>
      <p:sp>
        <p:nvSpPr>
          <p:cNvPr id="3" name="Text 1"/>
          <p:cNvSpPr/>
          <p:nvPr/>
        </p:nvSpPr>
        <p:spPr>
          <a:xfrm>
            <a:off x="822960" y="502920"/>
            <a:ext cx="457200" cy="457200"/>
          </a:xfrm>
          <a:prstGeom prst="rect">
            <a:avLst/>
          </a:prstGeom>
          <a:noFill/>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04</a:t>
            </a:r>
            <a:endParaRPr lang="en-US" sz="1600" dirty="0"/>
          </a:p>
        </p:txBody>
      </p:sp>
      <p:sp>
        <p:nvSpPr>
          <p:cNvPr id="4" name="Text 2"/>
          <p:cNvSpPr/>
          <p:nvPr/>
        </p:nvSpPr>
        <p:spPr>
          <a:xfrm>
            <a:off x="1463040" y="566928"/>
            <a:ext cx="8229600" cy="274320"/>
          </a:xfrm>
          <a:prstGeom prst="rect">
            <a:avLst/>
          </a:prstGeom>
          <a:noFill/>
        </p:spPr>
        <p:txBody>
          <a:bodyPr wrap="square" rtlCol="0" anchor="ctr"/>
          <a:lstStyle/>
          <a:p>
            <a:pPr marL="0" indent="0">
              <a:buNone/>
            </a:pPr>
            <a:r>
              <a:rPr lang="en-US" sz="1100" b="1" kern="0" spc="200" dirty="0">
                <a:solidFill>
                  <a:srgbClr val="AD8A57"/>
                </a:solidFill>
                <a:latin typeface="Calibri" pitchFamily="34" charset="0"/>
                <a:ea typeface="Calibri" pitchFamily="34" charset="-122"/>
                <a:cs typeface="Calibri" pitchFamily="34" charset="-120"/>
              </a:rPr>
              <a:t>SECTION 04 · THE RESULTS</a:t>
            </a:r>
            <a:endParaRPr lang="en-US" sz="1100" dirty="0"/>
          </a:p>
        </p:txBody>
      </p:sp>
      <p:sp>
        <p:nvSpPr>
          <p:cNvPr id="5" name="Text 3"/>
          <p:cNvSpPr/>
          <p:nvPr/>
        </p:nvSpPr>
        <p:spPr>
          <a:xfrm>
            <a:off x="822960" y="1051560"/>
            <a:ext cx="10058400" cy="548640"/>
          </a:xfrm>
          <a:prstGeom prst="rect">
            <a:avLst/>
          </a:prstGeom>
          <a:noFill/>
        </p:spPr>
        <p:txBody>
          <a:bodyPr wrap="square" rtlCol="0" anchor="ctr"/>
          <a:lstStyle/>
          <a:p>
            <a:pPr marL="0" indent="0">
              <a:buNone/>
            </a:pPr>
            <a:r>
              <a:rPr lang="en-US" sz="2700" b="1" dirty="0">
                <a:solidFill>
                  <a:srgbClr val="1A1A1A"/>
                </a:solidFill>
                <a:latin typeface="Calibri" pitchFamily="34" charset="0"/>
                <a:ea typeface="Calibri" pitchFamily="34" charset="-122"/>
                <a:cs typeface="Calibri" pitchFamily="34" charset="-120"/>
              </a:rPr>
              <a:t>What Actually Drives Attrition</a:t>
            </a:r>
            <a:endParaRPr lang="en-US" sz="2700" dirty="0"/>
          </a:p>
        </p:txBody>
      </p:sp>
      <p:sp>
        <p:nvSpPr>
          <p:cNvPr id="6" name="Text 4"/>
          <p:cNvSpPr/>
          <p:nvPr/>
        </p:nvSpPr>
        <p:spPr>
          <a:xfrm>
            <a:off x="822960" y="1627632"/>
            <a:ext cx="9144000" cy="365760"/>
          </a:xfrm>
          <a:prstGeom prst="rect">
            <a:avLst/>
          </a:prstGeom>
          <a:noFill/>
        </p:spPr>
        <p:txBody>
          <a:bodyPr wrap="square" rtlCol="0" anchor="ctr"/>
          <a:lstStyle/>
          <a:p>
            <a:pPr marL="0" indent="0">
              <a:buNone/>
            </a:pPr>
            <a:r>
              <a:rPr lang="en-US" sz="1350" dirty="0">
                <a:solidFill>
                  <a:srgbClr val="565A61"/>
                </a:solidFill>
                <a:latin typeface="Calibri" pitchFamily="34" charset="0"/>
                <a:ea typeface="Calibri" pitchFamily="34" charset="-122"/>
                <a:cs typeface="Calibri" pitchFamily="34" charset="-120"/>
              </a:rPr>
              <a:t>Random Forest feature importance — the strongest signals in the data, ranked.</a:t>
            </a:r>
            <a:endParaRPr lang="en-US" sz="1350" dirty="0"/>
          </a:p>
        </p:txBody>
      </p:sp>
      <p:graphicFrame>
        <p:nvGraphicFramePr>
          <p:cNvPr id="7" name="Chart 0"/>
          <p:cNvGraphicFramePr/>
          <p:nvPr/>
        </p:nvGraphicFramePr>
        <p:xfrm>
          <a:off x="822960" y="2103120"/>
          <a:ext cx="6217920" cy="4114800"/>
        </p:xfrm>
        <a:graphic>
          <a:graphicData uri="http://schemas.openxmlformats.org/drawingml/2006/chart">
            <c:chart xmlns:c="http://schemas.openxmlformats.org/drawingml/2006/chart" xmlns:r="http://schemas.openxmlformats.org/officeDocument/2006/relationships" r:id="rId1"/>
          </a:graphicData>
        </a:graphic>
      </p:graphicFrame>
      <p:sp>
        <p:nvSpPr>
          <p:cNvPr id="8" name="Text 5"/>
          <p:cNvSpPr/>
          <p:nvPr/>
        </p:nvSpPr>
        <p:spPr>
          <a:xfrm>
            <a:off x="7315200" y="2286000"/>
            <a:ext cx="4023360" cy="3474720"/>
          </a:xfrm>
          <a:prstGeom prst="rect">
            <a:avLst/>
          </a:prstGeom>
          <a:noFill/>
        </p:spPr>
        <p:txBody>
          <a:bodyPr wrap="square" rtlCol="0" anchor="ctr"/>
          <a:lstStyle/>
          <a:p>
            <a:pPr marL="342900" indent="-342900">
              <a:spcAft>
                <a:spcPts val="1400"/>
              </a:spcAft>
              <a:buSzPct val="100000"/>
              <a:buChar char="•"/>
            </a:pPr>
            <a:r>
              <a:rPr lang="en-US" sz="1250" dirty="0">
                <a:solidFill>
                  <a:srgbClr val="565A61"/>
                </a:solidFill>
                <a:latin typeface="Calibri" pitchFamily="34" charset="0"/>
                <a:ea typeface="Calibri" pitchFamily="34" charset="-122"/>
                <a:cs typeface="Calibri" pitchFamily="34" charset="-120"/>
              </a:rPr>
              <a:t>Compensation and tenure dominate — income and stock options are top-5 signals</a:t>
            </a:r>
            <a:endParaRPr lang="en-US" sz="1250" dirty="0"/>
          </a:p>
          <a:p>
            <a:pPr marL="342900" indent="-342900">
              <a:spcAft>
                <a:spcPts val="1400"/>
              </a:spcAft>
              <a:buSzPct val="100000"/>
              <a:buChar char="•"/>
            </a:pPr>
            <a:r>
              <a:rPr lang="en-US" sz="1250" dirty="0">
                <a:solidFill>
                  <a:srgbClr val="565A61"/>
                </a:solidFill>
                <a:latin typeface="Calibri" pitchFamily="34" charset="0"/>
                <a:ea typeface="Calibri" pitchFamily="34" charset="-122"/>
                <a:cs typeface="Calibri" pitchFamily="34" charset="-120"/>
              </a:rPr>
              <a:t>Overtime is the single most actionable flag — it's a policy lever, not just a data point</a:t>
            </a:r>
            <a:endParaRPr lang="en-US" sz="1250" dirty="0"/>
          </a:p>
          <a:p>
            <a:pPr marL="342900" indent="-342900">
              <a:buSzPct val="100000"/>
              <a:buChar char="•"/>
            </a:pPr>
            <a:r>
              <a:rPr lang="en-US" sz="1250" dirty="0">
                <a:solidFill>
                  <a:srgbClr val="565A61"/>
                </a:solidFill>
                <a:latin typeface="Calibri" pitchFamily="34" charset="0"/>
                <a:ea typeface="Calibri" pitchFamily="34" charset="-122"/>
                <a:cs typeface="Calibri" pitchFamily="34" charset="-120"/>
              </a:rPr>
              <a:t>Manager tenure matters: relationship continuity shows up as a real retention signal</a:t>
            </a:r>
            <a:endParaRPr lang="en-US" sz="1250" dirty="0"/>
          </a:p>
        </p:txBody>
      </p:sp>
      <p:sp>
        <p:nvSpPr>
          <p:cNvPr id="9" name="Text 6"/>
          <p:cNvSpPr/>
          <p:nvPr/>
        </p:nvSpPr>
        <p:spPr>
          <a:xfrm>
            <a:off x="457200" y="6473952"/>
            <a:ext cx="7315200" cy="274320"/>
          </a:xfrm>
          <a:prstGeom prst="rect">
            <a:avLst/>
          </a:prstGeom>
          <a:noFill/>
        </p:spPr>
        <p:txBody>
          <a:bodyPr wrap="square" rtlCol="0" anchor="ctr"/>
          <a:lstStyle/>
          <a:p>
            <a:pPr marL="0" indent="0">
              <a:buNone/>
            </a:pPr>
            <a:r>
              <a:rPr lang="en-US" sz="900" dirty="0">
                <a:solidFill>
                  <a:srgbClr val="8B8F94"/>
                </a:solidFill>
                <a:latin typeface="Calibri" pitchFamily="34" charset="0"/>
                <a:ea typeface="Calibri" pitchFamily="34" charset="-122"/>
                <a:cs typeface="Calibri" pitchFamily="34" charset="-120"/>
              </a:rPr>
              <a:t>Attrition Model — Measured Results  ·  Data &amp; Analytics Briefing</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22960" y="502920"/>
            <a:ext cx="457200" cy="457200"/>
          </a:xfrm>
          <a:prstGeom prst="ellipse">
            <a:avLst/>
          </a:prstGeom>
          <a:solidFill>
            <a:srgbClr val="AD8A57"/>
          </a:solidFill>
        </p:spPr>
      </p:sp>
      <p:sp>
        <p:nvSpPr>
          <p:cNvPr id="3" name="Text 1"/>
          <p:cNvSpPr/>
          <p:nvPr/>
        </p:nvSpPr>
        <p:spPr>
          <a:xfrm>
            <a:off x="822960" y="502920"/>
            <a:ext cx="457200" cy="457200"/>
          </a:xfrm>
          <a:prstGeom prst="rect">
            <a:avLst/>
          </a:prstGeom>
          <a:noFill/>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05</a:t>
            </a:r>
            <a:endParaRPr lang="en-US" sz="1600" dirty="0"/>
          </a:p>
        </p:txBody>
      </p:sp>
      <p:sp>
        <p:nvSpPr>
          <p:cNvPr id="4" name="Text 2"/>
          <p:cNvSpPr/>
          <p:nvPr/>
        </p:nvSpPr>
        <p:spPr>
          <a:xfrm>
            <a:off x="1463040" y="566928"/>
            <a:ext cx="8229600" cy="274320"/>
          </a:xfrm>
          <a:prstGeom prst="rect">
            <a:avLst/>
          </a:prstGeom>
          <a:noFill/>
        </p:spPr>
        <p:txBody>
          <a:bodyPr wrap="square" rtlCol="0" anchor="ctr"/>
          <a:lstStyle/>
          <a:p>
            <a:pPr marL="0" indent="0">
              <a:buNone/>
            </a:pPr>
            <a:r>
              <a:rPr lang="en-US" sz="1100" b="1" kern="0" spc="200" dirty="0">
                <a:solidFill>
                  <a:srgbClr val="AD8A57"/>
                </a:solidFill>
                <a:latin typeface="Calibri" pitchFamily="34" charset="0"/>
                <a:ea typeface="Calibri" pitchFamily="34" charset="-122"/>
                <a:cs typeface="Calibri" pitchFamily="34" charset="-120"/>
              </a:rPr>
              <a:t>SECTION 05 · THE RECOMMENDATION</a:t>
            </a:r>
            <a:endParaRPr lang="en-US" sz="1100" dirty="0"/>
          </a:p>
        </p:txBody>
      </p:sp>
      <p:sp>
        <p:nvSpPr>
          <p:cNvPr id="5" name="Text 3"/>
          <p:cNvSpPr/>
          <p:nvPr/>
        </p:nvSpPr>
        <p:spPr>
          <a:xfrm>
            <a:off x="822960" y="1051560"/>
            <a:ext cx="10058400" cy="548640"/>
          </a:xfrm>
          <a:prstGeom prst="rect">
            <a:avLst/>
          </a:prstGeom>
          <a:noFill/>
        </p:spPr>
        <p:txBody>
          <a:bodyPr wrap="square" rtlCol="0" anchor="ctr"/>
          <a:lstStyle/>
          <a:p>
            <a:pPr marL="0" indent="0">
              <a:buNone/>
            </a:pPr>
            <a:r>
              <a:rPr lang="en-US" sz="2700" b="1" dirty="0">
                <a:solidFill>
                  <a:srgbClr val="1A1A1A"/>
                </a:solidFill>
                <a:latin typeface="Calibri" pitchFamily="34" charset="0"/>
                <a:ea typeface="Calibri" pitchFamily="34" charset="-122"/>
                <a:cs typeface="Calibri" pitchFamily="34" charset="-120"/>
              </a:rPr>
              <a:t>How HR Would Actually Use This</a:t>
            </a:r>
            <a:endParaRPr lang="en-US" sz="2700" dirty="0"/>
          </a:p>
        </p:txBody>
      </p:sp>
      <p:sp>
        <p:nvSpPr>
          <p:cNvPr id="6" name="Text 4"/>
          <p:cNvSpPr/>
          <p:nvPr/>
        </p:nvSpPr>
        <p:spPr>
          <a:xfrm>
            <a:off x="822960" y="1627632"/>
            <a:ext cx="10332720" cy="365760"/>
          </a:xfrm>
          <a:prstGeom prst="rect">
            <a:avLst/>
          </a:prstGeom>
          <a:noFill/>
        </p:spPr>
        <p:txBody>
          <a:bodyPr wrap="square" rtlCol="0" anchor="ctr"/>
          <a:lstStyle/>
          <a:p>
            <a:pPr marL="0" indent="0">
              <a:buNone/>
            </a:pPr>
            <a:r>
              <a:rPr lang="en-US" sz="1350" dirty="0">
                <a:solidFill>
                  <a:srgbClr val="565A61"/>
                </a:solidFill>
                <a:latin typeface="Calibri" pitchFamily="34" charset="0"/>
                <a:ea typeface="Calibri" pitchFamily="34" charset="-122"/>
                <a:cs typeface="Calibri" pitchFamily="34" charset="-120"/>
              </a:rPr>
              <a:t>Not an auto-pilot — a triage tool that routes the 84 flagged employees based on how confident and how costly a mistake would be.</a:t>
            </a:r>
            <a:endParaRPr lang="en-US" sz="1350" dirty="0"/>
          </a:p>
        </p:txBody>
      </p:sp>
      <p:sp>
        <p:nvSpPr>
          <p:cNvPr id="7" name="Shape 5"/>
          <p:cNvSpPr/>
          <p:nvPr/>
        </p:nvSpPr>
        <p:spPr>
          <a:xfrm>
            <a:off x="822960" y="2286000"/>
            <a:ext cx="3291840" cy="3108960"/>
          </a:xfrm>
          <a:prstGeom prst="roundRect">
            <a:avLst>
              <a:gd name="adj" fmla="val 2941"/>
            </a:avLst>
          </a:prstGeom>
          <a:solidFill>
            <a:srgbClr val="FAFAFC"/>
          </a:solidFill>
          <a:ln w="12700">
            <a:solidFill>
              <a:srgbClr val="E3E5E8"/>
            </a:solidFill>
            <a:prstDash val="solid"/>
          </a:ln>
        </p:spPr>
      </p:sp>
      <p:sp>
        <p:nvSpPr>
          <p:cNvPr id="8" name="Shape 6"/>
          <p:cNvSpPr/>
          <p:nvPr/>
        </p:nvSpPr>
        <p:spPr>
          <a:xfrm>
            <a:off x="1097280" y="2560320"/>
            <a:ext cx="256032" cy="256032"/>
          </a:xfrm>
          <a:prstGeom prst="ellipse">
            <a:avLst/>
          </a:prstGeom>
          <a:solidFill>
            <a:srgbClr val="5B8C72"/>
          </a:solidFill>
        </p:spPr>
      </p:sp>
      <p:sp>
        <p:nvSpPr>
          <p:cNvPr id="9" name="Text 7"/>
          <p:cNvSpPr/>
          <p:nvPr/>
        </p:nvSpPr>
        <p:spPr>
          <a:xfrm>
            <a:off x="1463040" y="2487168"/>
            <a:ext cx="2377440" cy="365760"/>
          </a:xfrm>
          <a:prstGeom prst="rect">
            <a:avLst/>
          </a:prstGeom>
          <a:noFill/>
        </p:spPr>
        <p:txBody>
          <a:bodyPr wrap="square"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Low Risk Flag</a:t>
            </a:r>
            <a:endParaRPr lang="en-US" sz="1400" dirty="0"/>
          </a:p>
        </p:txBody>
      </p:sp>
      <p:sp>
        <p:nvSpPr>
          <p:cNvPr id="10" name="Text 8"/>
          <p:cNvSpPr/>
          <p:nvPr/>
        </p:nvSpPr>
        <p:spPr>
          <a:xfrm>
            <a:off x="1097280" y="2971800"/>
            <a:ext cx="2743200" cy="2194560"/>
          </a:xfrm>
          <a:prstGeom prst="rect">
            <a:avLst/>
          </a:prstGeom>
          <a:noFill/>
        </p:spPr>
        <p:txBody>
          <a:bodyPr wrap="square" rtlCol="0" anchor="ctr"/>
          <a:lstStyle/>
          <a:p>
            <a:pPr marL="0" indent="0">
              <a:buNone/>
            </a:pPr>
            <a:r>
              <a:rPr lang="en-US" sz="1150" dirty="0">
                <a:solidFill>
                  <a:srgbClr val="565A61"/>
                </a:solidFill>
                <a:latin typeface="Calibri" pitchFamily="34" charset="0"/>
                <a:ea typeface="Calibri" pitchFamily="34" charset="-122"/>
                <a:cs typeface="Calibri" pitchFamily="34" charset="-120"/>
              </a:rPr>
              <a:t>Quarterly check-in suggested to the HRBP — no urgency, logged for trend tracking.</a:t>
            </a:r>
            <a:endParaRPr lang="en-US" sz="1150" dirty="0"/>
          </a:p>
        </p:txBody>
      </p:sp>
      <p:sp>
        <p:nvSpPr>
          <p:cNvPr id="11" name="Shape 9"/>
          <p:cNvSpPr/>
          <p:nvPr/>
        </p:nvSpPr>
        <p:spPr>
          <a:xfrm>
            <a:off x="4297680" y="2286000"/>
            <a:ext cx="3291840" cy="3108960"/>
          </a:xfrm>
          <a:prstGeom prst="roundRect">
            <a:avLst>
              <a:gd name="adj" fmla="val 2941"/>
            </a:avLst>
          </a:prstGeom>
          <a:solidFill>
            <a:srgbClr val="FAFAFC"/>
          </a:solidFill>
          <a:ln w="12700">
            <a:solidFill>
              <a:srgbClr val="E3E5E8"/>
            </a:solidFill>
            <a:prstDash val="solid"/>
          </a:ln>
        </p:spPr>
      </p:sp>
      <p:sp>
        <p:nvSpPr>
          <p:cNvPr id="12" name="Shape 10"/>
          <p:cNvSpPr/>
          <p:nvPr/>
        </p:nvSpPr>
        <p:spPr>
          <a:xfrm>
            <a:off x="4572000" y="2560320"/>
            <a:ext cx="256032" cy="256032"/>
          </a:xfrm>
          <a:prstGeom prst="ellipse">
            <a:avLst/>
          </a:prstGeom>
          <a:solidFill>
            <a:srgbClr val="B98B3E"/>
          </a:solidFill>
        </p:spPr>
      </p:sp>
      <p:sp>
        <p:nvSpPr>
          <p:cNvPr id="13" name="Text 11"/>
          <p:cNvSpPr/>
          <p:nvPr/>
        </p:nvSpPr>
        <p:spPr>
          <a:xfrm>
            <a:off x="4937760" y="2487168"/>
            <a:ext cx="2377440" cy="365760"/>
          </a:xfrm>
          <a:prstGeom prst="rect">
            <a:avLst/>
          </a:prstGeom>
          <a:noFill/>
        </p:spPr>
        <p:txBody>
          <a:bodyPr wrap="square"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Elevated Risk Flag</a:t>
            </a:r>
            <a:endParaRPr lang="en-US" sz="1400" dirty="0"/>
          </a:p>
        </p:txBody>
      </p:sp>
      <p:sp>
        <p:nvSpPr>
          <p:cNvPr id="14" name="Text 12"/>
          <p:cNvSpPr/>
          <p:nvPr/>
        </p:nvSpPr>
        <p:spPr>
          <a:xfrm>
            <a:off x="4572000" y="2971800"/>
            <a:ext cx="2743200" cy="2194560"/>
          </a:xfrm>
          <a:prstGeom prst="rect">
            <a:avLst/>
          </a:prstGeom>
          <a:noFill/>
        </p:spPr>
        <p:txBody>
          <a:bodyPr wrap="square" rtlCol="0" anchor="ctr"/>
          <a:lstStyle/>
          <a:p>
            <a:pPr marL="0" indent="0">
              <a:buNone/>
            </a:pPr>
            <a:r>
              <a:rPr lang="en-US" sz="1150" dirty="0">
                <a:solidFill>
                  <a:srgbClr val="565A61"/>
                </a:solidFill>
                <a:latin typeface="Calibri" pitchFamily="34" charset="0"/>
                <a:ea typeface="Calibri" pitchFamily="34" charset="-122"/>
                <a:cs typeface="Calibri" pitchFamily="34" charset="-120"/>
              </a:rPr>
              <a:t>HRBP prompted to have a retention conversation within 2 weeks — human decides, model doesn't.</a:t>
            </a:r>
            <a:endParaRPr lang="en-US" sz="1150" dirty="0"/>
          </a:p>
        </p:txBody>
      </p:sp>
      <p:sp>
        <p:nvSpPr>
          <p:cNvPr id="15" name="Shape 13"/>
          <p:cNvSpPr/>
          <p:nvPr/>
        </p:nvSpPr>
        <p:spPr>
          <a:xfrm>
            <a:off x="7772400" y="2286000"/>
            <a:ext cx="3291840" cy="3108960"/>
          </a:xfrm>
          <a:prstGeom prst="roundRect">
            <a:avLst>
              <a:gd name="adj" fmla="val 2941"/>
            </a:avLst>
          </a:prstGeom>
          <a:solidFill>
            <a:srgbClr val="FAFAFC"/>
          </a:solidFill>
          <a:ln w="12700">
            <a:solidFill>
              <a:srgbClr val="E3E5E8"/>
            </a:solidFill>
            <a:prstDash val="solid"/>
          </a:ln>
        </p:spPr>
      </p:sp>
      <p:sp>
        <p:nvSpPr>
          <p:cNvPr id="16" name="Shape 14"/>
          <p:cNvSpPr/>
          <p:nvPr/>
        </p:nvSpPr>
        <p:spPr>
          <a:xfrm>
            <a:off x="8046720" y="2560320"/>
            <a:ext cx="256032" cy="256032"/>
          </a:xfrm>
          <a:prstGeom prst="ellipse">
            <a:avLst/>
          </a:prstGeom>
          <a:solidFill>
            <a:srgbClr val="A44A42"/>
          </a:solidFill>
        </p:spPr>
      </p:sp>
      <p:sp>
        <p:nvSpPr>
          <p:cNvPr id="17" name="Text 15"/>
          <p:cNvSpPr/>
          <p:nvPr/>
        </p:nvSpPr>
        <p:spPr>
          <a:xfrm>
            <a:off x="8412480" y="2487168"/>
            <a:ext cx="2377440" cy="365760"/>
          </a:xfrm>
          <a:prstGeom prst="rect">
            <a:avLst/>
          </a:prstGeom>
          <a:noFill/>
        </p:spPr>
        <p:txBody>
          <a:bodyPr wrap="square"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High Risk + High Value</a:t>
            </a:r>
            <a:endParaRPr lang="en-US" sz="1400" dirty="0"/>
          </a:p>
        </p:txBody>
      </p:sp>
      <p:sp>
        <p:nvSpPr>
          <p:cNvPr id="18" name="Text 16"/>
          <p:cNvSpPr/>
          <p:nvPr/>
        </p:nvSpPr>
        <p:spPr>
          <a:xfrm>
            <a:off x="8046720" y="2971800"/>
            <a:ext cx="2743200" cy="2194560"/>
          </a:xfrm>
          <a:prstGeom prst="rect">
            <a:avLst/>
          </a:prstGeom>
          <a:noFill/>
        </p:spPr>
        <p:txBody>
          <a:bodyPr wrap="square" rtlCol="0" anchor="ctr"/>
          <a:lstStyle/>
          <a:p>
            <a:pPr marL="0" indent="0">
              <a:buNone/>
            </a:pPr>
            <a:r>
              <a:rPr lang="en-US" sz="1150" dirty="0">
                <a:solidFill>
                  <a:srgbClr val="565A61"/>
                </a:solidFill>
                <a:latin typeface="Calibri" pitchFamily="34" charset="0"/>
                <a:ea typeface="Calibri" pitchFamily="34" charset="-122"/>
                <a:cs typeface="Calibri" pitchFamily="34" charset="-120"/>
              </a:rPr>
              <a:t>Escalated directly to the manager and HRBP together — the costliest kind of miss to allow.</a:t>
            </a:r>
            <a:endParaRPr lang="en-US" sz="1150" dirty="0"/>
          </a:p>
        </p:txBody>
      </p:sp>
      <p:sp>
        <p:nvSpPr>
          <p:cNvPr id="19" name="Text 17"/>
          <p:cNvSpPr/>
          <p:nvPr/>
        </p:nvSpPr>
        <p:spPr>
          <a:xfrm>
            <a:off x="822960" y="5577840"/>
            <a:ext cx="10332720" cy="548640"/>
          </a:xfrm>
          <a:prstGeom prst="rect">
            <a:avLst/>
          </a:prstGeom>
          <a:noFill/>
        </p:spPr>
        <p:txBody>
          <a:bodyPr wrap="square" rtlCol="0" anchor="ctr"/>
          <a:lstStyle/>
          <a:p>
            <a:pPr marL="0" indent="0">
              <a:buNone/>
            </a:pPr>
            <a:r>
              <a:rPr lang="en-US" sz="1200" i="1" dirty="0">
                <a:solidFill>
                  <a:srgbClr val="8B8F94"/>
                </a:solidFill>
                <a:latin typeface="Calibri" pitchFamily="34" charset="0"/>
                <a:ea typeface="Calibri" pitchFamily="34" charset="-122"/>
                <a:cs typeface="Calibri" pitchFamily="34" charset="-120"/>
              </a:rPr>
              <a:t>Why not fully automate: at 61.7% recall and 34.5% precision, the model is a useful early signal, not a verdict — a human makes the call every time.</a:t>
            </a:r>
            <a:endParaRPr lang="en-US" sz="1200" dirty="0"/>
          </a:p>
        </p:txBody>
      </p:sp>
      <p:sp>
        <p:nvSpPr>
          <p:cNvPr id="20" name="Text 18"/>
          <p:cNvSpPr/>
          <p:nvPr/>
        </p:nvSpPr>
        <p:spPr>
          <a:xfrm>
            <a:off x="457200" y="6473952"/>
            <a:ext cx="7315200" cy="274320"/>
          </a:xfrm>
          <a:prstGeom prst="rect">
            <a:avLst/>
          </a:prstGeom>
          <a:noFill/>
        </p:spPr>
        <p:txBody>
          <a:bodyPr wrap="square" rtlCol="0" anchor="ctr"/>
          <a:lstStyle/>
          <a:p>
            <a:pPr marL="0" indent="0">
              <a:buNone/>
            </a:pPr>
            <a:r>
              <a:rPr lang="en-US" sz="900" dirty="0">
                <a:solidFill>
                  <a:srgbClr val="8B8F94"/>
                </a:solidFill>
                <a:latin typeface="Calibri" pitchFamily="34" charset="0"/>
                <a:ea typeface="Calibri" pitchFamily="34" charset="-122"/>
                <a:cs typeface="Calibri" pitchFamily="34" charset="-120"/>
              </a:rPr>
              <a:t>Attrition Model — Measured Results  ·  Data &amp; Analytics Briefing</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548640"/>
            <a:ext cx="8229600" cy="274320"/>
          </a:xfrm>
          <a:prstGeom prst="rect">
            <a:avLst/>
          </a:prstGeom>
          <a:noFill/>
        </p:spPr>
        <p:txBody>
          <a:bodyPr wrap="square" rtlCol="0" anchor="ctr"/>
          <a:lstStyle/>
          <a:p>
            <a:pPr marL="0" indent="0">
              <a:buNone/>
            </a:pPr>
            <a:r>
              <a:rPr lang="en-US" sz="1100" b="1" kern="0" spc="200" dirty="0">
                <a:solidFill>
                  <a:srgbClr val="3E6B8A"/>
                </a:solidFill>
                <a:latin typeface="Calibri" pitchFamily="34" charset="0"/>
                <a:ea typeface="Calibri" pitchFamily="34" charset="-122"/>
                <a:cs typeface="Calibri" pitchFamily="34" charset="-120"/>
              </a:rPr>
              <a:t>APPENDIX · TRADE-OFFS &amp; HONEST LIMITATIONS</a:t>
            </a:r>
            <a:endParaRPr lang="en-US" sz="1100" dirty="0"/>
          </a:p>
        </p:txBody>
      </p:sp>
      <p:sp>
        <p:nvSpPr>
          <p:cNvPr id="3" name="Text 1"/>
          <p:cNvSpPr/>
          <p:nvPr/>
        </p:nvSpPr>
        <p:spPr>
          <a:xfrm>
            <a:off x="822960" y="868680"/>
            <a:ext cx="10058400" cy="548640"/>
          </a:xfrm>
          <a:prstGeom prst="rect">
            <a:avLst/>
          </a:prstGeom>
          <a:noFill/>
        </p:spPr>
        <p:txBody>
          <a:bodyPr wrap="square" rtlCol="0" anchor="ctr"/>
          <a:lstStyle/>
          <a:p>
            <a:pPr marL="0" indent="0">
              <a:buNone/>
            </a:pPr>
            <a:r>
              <a:rPr lang="en-US" sz="2700" b="1" dirty="0">
                <a:solidFill>
                  <a:srgbClr val="1A1A1A"/>
                </a:solidFill>
                <a:latin typeface="Calibri" pitchFamily="34" charset="0"/>
                <a:ea typeface="Calibri" pitchFamily="34" charset="-122"/>
                <a:cs typeface="Calibri" pitchFamily="34" charset="-120"/>
              </a:rPr>
              <a:t>Trade-offs Worth Being Asked About</a:t>
            </a:r>
            <a:endParaRPr lang="en-US" sz="2700" dirty="0"/>
          </a:p>
        </p:txBody>
      </p:sp>
      <p:sp>
        <p:nvSpPr>
          <p:cNvPr id="4" name="Shape 2"/>
          <p:cNvSpPr/>
          <p:nvPr/>
        </p:nvSpPr>
        <p:spPr>
          <a:xfrm>
            <a:off x="822960" y="1508760"/>
            <a:ext cx="2971800" cy="2331720"/>
          </a:xfrm>
          <a:prstGeom prst="roundRect">
            <a:avLst>
              <a:gd name="adj" fmla="val 3137"/>
            </a:avLst>
          </a:prstGeom>
          <a:solidFill>
            <a:srgbClr val="FAFAFC"/>
          </a:solidFill>
          <a:ln w="12700">
            <a:solidFill>
              <a:srgbClr val="E3E5E8"/>
            </a:solidFill>
            <a:prstDash val="solid"/>
          </a:ln>
        </p:spPr>
      </p:sp>
      <p:sp>
        <p:nvSpPr>
          <p:cNvPr id="5" name="Shape 3"/>
          <p:cNvSpPr/>
          <p:nvPr/>
        </p:nvSpPr>
        <p:spPr>
          <a:xfrm>
            <a:off x="1024128" y="1691640"/>
            <a:ext cx="146304" cy="146304"/>
          </a:xfrm>
          <a:prstGeom prst="ellipse">
            <a:avLst/>
          </a:prstGeom>
          <a:solidFill>
            <a:srgbClr val="3E6B8A"/>
          </a:solidFill>
        </p:spPr>
      </p:sp>
      <p:sp>
        <p:nvSpPr>
          <p:cNvPr id="6" name="Text 4"/>
          <p:cNvSpPr/>
          <p:nvPr/>
        </p:nvSpPr>
        <p:spPr>
          <a:xfrm>
            <a:off x="1280160" y="1618488"/>
            <a:ext cx="2377440" cy="365760"/>
          </a:xfrm>
          <a:prstGeom prst="rect">
            <a:avLst/>
          </a:prstGeom>
          <a:noFill/>
        </p:spPr>
        <p:txBody>
          <a:bodyPr wrap="square" rtlCol="0" anchor="ctr"/>
          <a:lstStyle/>
          <a:p>
            <a:pPr marL="0" indent="0">
              <a:buNone/>
            </a:pPr>
            <a:r>
              <a:rPr lang="en-US" sz="1200" b="1" dirty="0">
                <a:solidFill>
                  <a:srgbClr val="1A1A1A"/>
                </a:solidFill>
                <a:latin typeface="Calibri" pitchFamily="34" charset="0"/>
                <a:ea typeface="Calibri" pitchFamily="34" charset="-122"/>
                <a:cs typeface="Calibri" pitchFamily="34" charset="-120"/>
              </a:rPr>
              <a:t>Recall vs. Precision</a:t>
            </a:r>
            <a:endParaRPr lang="en-US" sz="1200" dirty="0"/>
          </a:p>
        </p:txBody>
      </p:sp>
      <p:sp>
        <p:nvSpPr>
          <p:cNvPr id="7" name="Text 5"/>
          <p:cNvSpPr/>
          <p:nvPr/>
        </p:nvSpPr>
        <p:spPr>
          <a:xfrm>
            <a:off x="1024128" y="2011680"/>
            <a:ext cx="2606040" cy="1737360"/>
          </a:xfrm>
          <a:prstGeom prst="rect">
            <a:avLst/>
          </a:prstGeom>
          <a:noFill/>
        </p:spPr>
        <p:txBody>
          <a:bodyPr wrap="square" rtlCol="0" anchor="ctr"/>
          <a:lstStyle/>
          <a:p>
            <a:pPr marL="0" indent="0">
              <a:buNone/>
            </a:pPr>
            <a:r>
              <a:rPr lang="en-US" sz="980" dirty="0">
                <a:solidFill>
                  <a:srgbClr val="565A61"/>
                </a:solidFill>
                <a:latin typeface="Calibri" pitchFamily="34" charset="0"/>
                <a:ea typeface="Calibri" pitchFamily="34" charset="-122"/>
                <a:cs typeface="Calibri" pitchFamily="34" charset="-120"/>
              </a:rPr>
              <a:t>Optimizing for recall (catch more leavers) means more false alarms. The 34.5% precision was an accepted cost, not an oversight — cheap false positives buy fewer expensive false negatives.</a:t>
            </a:r>
            <a:endParaRPr lang="en-US" sz="980" dirty="0"/>
          </a:p>
        </p:txBody>
      </p:sp>
      <p:sp>
        <p:nvSpPr>
          <p:cNvPr id="8" name="Shape 6"/>
          <p:cNvSpPr/>
          <p:nvPr/>
        </p:nvSpPr>
        <p:spPr>
          <a:xfrm>
            <a:off x="3977640" y="1508760"/>
            <a:ext cx="2971800" cy="2331720"/>
          </a:xfrm>
          <a:prstGeom prst="roundRect">
            <a:avLst>
              <a:gd name="adj" fmla="val 3137"/>
            </a:avLst>
          </a:prstGeom>
          <a:solidFill>
            <a:srgbClr val="FAFAFC"/>
          </a:solidFill>
          <a:ln w="12700">
            <a:solidFill>
              <a:srgbClr val="E3E5E8"/>
            </a:solidFill>
            <a:prstDash val="solid"/>
          </a:ln>
        </p:spPr>
      </p:sp>
      <p:sp>
        <p:nvSpPr>
          <p:cNvPr id="9" name="Shape 7"/>
          <p:cNvSpPr/>
          <p:nvPr/>
        </p:nvSpPr>
        <p:spPr>
          <a:xfrm>
            <a:off x="4178808" y="1691640"/>
            <a:ext cx="146304" cy="146304"/>
          </a:xfrm>
          <a:prstGeom prst="ellipse">
            <a:avLst/>
          </a:prstGeom>
          <a:solidFill>
            <a:srgbClr val="3E6B8A"/>
          </a:solidFill>
        </p:spPr>
      </p:sp>
      <p:sp>
        <p:nvSpPr>
          <p:cNvPr id="10" name="Text 8"/>
          <p:cNvSpPr/>
          <p:nvPr/>
        </p:nvSpPr>
        <p:spPr>
          <a:xfrm>
            <a:off x="4434840" y="1618488"/>
            <a:ext cx="2377440" cy="365760"/>
          </a:xfrm>
          <a:prstGeom prst="rect">
            <a:avLst/>
          </a:prstGeom>
          <a:noFill/>
        </p:spPr>
        <p:txBody>
          <a:bodyPr wrap="square" rtlCol="0" anchor="ctr"/>
          <a:lstStyle/>
          <a:p>
            <a:pPr marL="0" indent="0">
              <a:buNone/>
            </a:pPr>
            <a:r>
              <a:rPr lang="en-US" sz="1200" b="1" dirty="0">
                <a:solidFill>
                  <a:srgbClr val="1A1A1A"/>
                </a:solidFill>
                <a:latin typeface="Calibri" pitchFamily="34" charset="0"/>
                <a:ea typeface="Calibri" pitchFamily="34" charset="-122"/>
                <a:cs typeface="Calibri" pitchFamily="34" charset="-120"/>
              </a:rPr>
              <a:t>Simplicity vs. Power</a:t>
            </a:r>
            <a:endParaRPr lang="en-US" sz="1200" dirty="0"/>
          </a:p>
        </p:txBody>
      </p:sp>
      <p:sp>
        <p:nvSpPr>
          <p:cNvPr id="11" name="Text 9"/>
          <p:cNvSpPr/>
          <p:nvPr/>
        </p:nvSpPr>
        <p:spPr>
          <a:xfrm>
            <a:off x="4178808" y="2011680"/>
            <a:ext cx="2606040" cy="1737360"/>
          </a:xfrm>
          <a:prstGeom prst="rect">
            <a:avLst/>
          </a:prstGeom>
          <a:noFill/>
        </p:spPr>
        <p:txBody>
          <a:bodyPr wrap="square" rtlCol="0" anchor="ctr"/>
          <a:lstStyle/>
          <a:p>
            <a:pPr marL="0" indent="0">
              <a:buNone/>
            </a:pPr>
            <a:r>
              <a:rPr lang="en-US" sz="980" dirty="0">
                <a:solidFill>
                  <a:srgbClr val="565A61"/>
                </a:solidFill>
                <a:latin typeface="Calibri" pitchFamily="34" charset="0"/>
                <a:ea typeface="Calibri" pitchFamily="34" charset="-122"/>
                <a:cs typeface="Calibri" pitchFamily="34" charset="-120"/>
              </a:rPr>
              <a:t>Logistic regression beat random forest on the metric that matters. A simpler, more explainable model that performs better is the right call — not automatically “upgrading” to a fancier one.</a:t>
            </a:r>
            <a:endParaRPr lang="en-US" sz="980" dirty="0"/>
          </a:p>
        </p:txBody>
      </p:sp>
      <p:sp>
        <p:nvSpPr>
          <p:cNvPr id="12" name="Shape 10"/>
          <p:cNvSpPr/>
          <p:nvPr/>
        </p:nvSpPr>
        <p:spPr>
          <a:xfrm>
            <a:off x="7132320" y="1508760"/>
            <a:ext cx="2971800" cy="2331720"/>
          </a:xfrm>
          <a:prstGeom prst="roundRect">
            <a:avLst>
              <a:gd name="adj" fmla="val 3137"/>
            </a:avLst>
          </a:prstGeom>
          <a:solidFill>
            <a:srgbClr val="FAFAFC"/>
          </a:solidFill>
          <a:ln w="12700">
            <a:solidFill>
              <a:srgbClr val="E3E5E8"/>
            </a:solidFill>
            <a:prstDash val="solid"/>
          </a:ln>
        </p:spPr>
      </p:sp>
      <p:sp>
        <p:nvSpPr>
          <p:cNvPr id="13" name="Shape 11"/>
          <p:cNvSpPr/>
          <p:nvPr/>
        </p:nvSpPr>
        <p:spPr>
          <a:xfrm>
            <a:off x="7333488" y="1691640"/>
            <a:ext cx="146304" cy="146304"/>
          </a:xfrm>
          <a:prstGeom prst="ellipse">
            <a:avLst/>
          </a:prstGeom>
          <a:solidFill>
            <a:srgbClr val="3E6B8A"/>
          </a:solidFill>
        </p:spPr>
      </p:sp>
      <p:sp>
        <p:nvSpPr>
          <p:cNvPr id="14" name="Text 12"/>
          <p:cNvSpPr/>
          <p:nvPr/>
        </p:nvSpPr>
        <p:spPr>
          <a:xfrm>
            <a:off x="7589520" y="1618488"/>
            <a:ext cx="2377440" cy="365760"/>
          </a:xfrm>
          <a:prstGeom prst="rect">
            <a:avLst/>
          </a:prstGeom>
          <a:noFill/>
        </p:spPr>
        <p:txBody>
          <a:bodyPr wrap="square" rtlCol="0" anchor="ctr"/>
          <a:lstStyle/>
          <a:p>
            <a:pPr marL="0" indent="0">
              <a:buNone/>
            </a:pPr>
            <a:r>
              <a:rPr lang="en-US" sz="1200" b="1" dirty="0">
                <a:solidFill>
                  <a:srgbClr val="1A1A1A"/>
                </a:solidFill>
                <a:latin typeface="Calibri" pitchFamily="34" charset="0"/>
                <a:ea typeface="Calibri" pitchFamily="34" charset="-122"/>
                <a:cs typeface="Calibri" pitchFamily="34" charset="-120"/>
              </a:rPr>
              <a:t>Sample Size &amp; Data Realism</a:t>
            </a:r>
            <a:endParaRPr lang="en-US" sz="1200" dirty="0"/>
          </a:p>
        </p:txBody>
      </p:sp>
      <p:sp>
        <p:nvSpPr>
          <p:cNvPr id="15" name="Text 13"/>
          <p:cNvSpPr/>
          <p:nvPr/>
        </p:nvSpPr>
        <p:spPr>
          <a:xfrm>
            <a:off x="7333488" y="2011680"/>
            <a:ext cx="2606040" cy="1737360"/>
          </a:xfrm>
          <a:prstGeom prst="rect">
            <a:avLst/>
          </a:prstGeom>
          <a:noFill/>
        </p:spPr>
        <p:txBody>
          <a:bodyPr wrap="square" rtlCol="0" anchor="ctr"/>
          <a:lstStyle/>
          <a:p>
            <a:pPr marL="0" indent="0">
              <a:buNone/>
            </a:pPr>
            <a:r>
              <a:rPr lang="en-US" sz="980" dirty="0">
                <a:solidFill>
                  <a:srgbClr val="565A61"/>
                </a:solidFill>
                <a:latin typeface="Calibri" pitchFamily="34" charset="0"/>
                <a:ea typeface="Calibri" pitchFamily="34" charset="-122"/>
                <a:cs typeface="Calibri" pitchFamily="34" charset="-120"/>
              </a:rPr>
              <a:t>1,470 employees, 47 leavers in the test set — real but small, so these percentages carry real uncertainty. It's also IBM's public sample dataset, not a live organization's data.</a:t>
            </a:r>
            <a:endParaRPr lang="en-US" sz="980" dirty="0"/>
          </a:p>
        </p:txBody>
      </p:sp>
      <p:sp>
        <p:nvSpPr>
          <p:cNvPr id="16" name="Shape 14"/>
          <p:cNvSpPr/>
          <p:nvPr/>
        </p:nvSpPr>
        <p:spPr>
          <a:xfrm>
            <a:off x="822960" y="4023360"/>
            <a:ext cx="2971800" cy="2331720"/>
          </a:xfrm>
          <a:prstGeom prst="roundRect">
            <a:avLst>
              <a:gd name="adj" fmla="val 3137"/>
            </a:avLst>
          </a:prstGeom>
          <a:solidFill>
            <a:srgbClr val="FAFAFC"/>
          </a:solidFill>
          <a:ln w="12700">
            <a:solidFill>
              <a:srgbClr val="E3E5E8"/>
            </a:solidFill>
            <a:prstDash val="solid"/>
          </a:ln>
        </p:spPr>
      </p:sp>
      <p:sp>
        <p:nvSpPr>
          <p:cNvPr id="17" name="Shape 15"/>
          <p:cNvSpPr/>
          <p:nvPr/>
        </p:nvSpPr>
        <p:spPr>
          <a:xfrm>
            <a:off x="1024128" y="4206240"/>
            <a:ext cx="146304" cy="146304"/>
          </a:xfrm>
          <a:prstGeom prst="ellipse">
            <a:avLst/>
          </a:prstGeom>
          <a:solidFill>
            <a:srgbClr val="AD8A57"/>
          </a:solidFill>
        </p:spPr>
      </p:sp>
      <p:sp>
        <p:nvSpPr>
          <p:cNvPr id="18" name="Text 16"/>
          <p:cNvSpPr/>
          <p:nvPr/>
        </p:nvSpPr>
        <p:spPr>
          <a:xfrm>
            <a:off x="1280160" y="4133088"/>
            <a:ext cx="2377440" cy="365760"/>
          </a:xfrm>
          <a:prstGeom prst="rect">
            <a:avLst/>
          </a:prstGeom>
          <a:noFill/>
        </p:spPr>
        <p:txBody>
          <a:bodyPr wrap="square" rtlCol="0" anchor="ctr"/>
          <a:lstStyle/>
          <a:p>
            <a:pPr marL="0" indent="0">
              <a:buNone/>
            </a:pPr>
            <a:r>
              <a:rPr lang="en-US" sz="1200" b="1" dirty="0">
                <a:solidFill>
                  <a:srgbClr val="1A1A1A"/>
                </a:solidFill>
                <a:latin typeface="Calibri" pitchFamily="34" charset="0"/>
                <a:ea typeface="Calibri" pitchFamily="34" charset="-122"/>
                <a:cs typeface="Calibri" pitchFamily="34" charset="-120"/>
              </a:rPr>
              <a:t>Correlation, Not Causation</a:t>
            </a:r>
            <a:endParaRPr lang="en-US" sz="1200" dirty="0"/>
          </a:p>
        </p:txBody>
      </p:sp>
      <p:sp>
        <p:nvSpPr>
          <p:cNvPr id="19" name="Text 17"/>
          <p:cNvSpPr/>
          <p:nvPr/>
        </p:nvSpPr>
        <p:spPr>
          <a:xfrm>
            <a:off x="1024128" y="4526280"/>
            <a:ext cx="2606040" cy="1737360"/>
          </a:xfrm>
          <a:prstGeom prst="rect">
            <a:avLst/>
          </a:prstGeom>
          <a:noFill/>
        </p:spPr>
        <p:txBody>
          <a:bodyPr wrap="square" rtlCol="0" anchor="ctr"/>
          <a:lstStyle/>
          <a:p>
            <a:pPr marL="0" indent="0">
              <a:buNone/>
            </a:pPr>
            <a:r>
              <a:rPr lang="en-US" sz="980" dirty="0">
                <a:solidFill>
                  <a:srgbClr val="565A61"/>
                </a:solidFill>
                <a:latin typeface="Calibri" pitchFamily="34" charset="0"/>
                <a:ea typeface="Calibri" pitchFamily="34" charset="-122"/>
                <a:cs typeface="Calibri" pitchFamily="34" charset="-120"/>
              </a:rPr>
              <a:t>Overtime and income correlate with leaving; the model doesn't prove either causes it. Recommending policy changes from this needs a controlled follow-up, not just feature importance.</a:t>
            </a:r>
            <a:endParaRPr lang="en-US" sz="980" dirty="0"/>
          </a:p>
        </p:txBody>
      </p:sp>
      <p:sp>
        <p:nvSpPr>
          <p:cNvPr id="20" name="Shape 18"/>
          <p:cNvSpPr/>
          <p:nvPr/>
        </p:nvSpPr>
        <p:spPr>
          <a:xfrm>
            <a:off x="3977640" y="4023360"/>
            <a:ext cx="2971800" cy="2331720"/>
          </a:xfrm>
          <a:prstGeom prst="roundRect">
            <a:avLst>
              <a:gd name="adj" fmla="val 3137"/>
            </a:avLst>
          </a:prstGeom>
          <a:solidFill>
            <a:srgbClr val="FAFAFC"/>
          </a:solidFill>
          <a:ln w="12700">
            <a:solidFill>
              <a:srgbClr val="E3E5E8"/>
            </a:solidFill>
            <a:prstDash val="solid"/>
          </a:ln>
        </p:spPr>
      </p:sp>
      <p:sp>
        <p:nvSpPr>
          <p:cNvPr id="21" name="Shape 19"/>
          <p:cNvSpPr/>
          <p:nvPr/>
        </p:nvSpPr>
        <p:spPr>
          <a:xfrm>
            <a:off x="4178808" y="4206240"/>
            <a:ext cx="146304" cy="146304"/>
          </a:xfrm>
          <a:prstGeom prst="ellipse">
            <a:avLst/>
          </a:prstGeom>
          <a:solidFill>
            <a:srgbClr val="AD8A57"/>
          </a:solidFill>
        </p:spPr>
      </p:sp>
      <p:sp>
        <p:nvSpPr>
          <p:cNvPr id="22" name="Text 20"/>
          <p:cNvSpPr/>
          <p:nvPr/>
        </p:nvSpPr>
        <p:spPr>
          <a:xfrm>
            <a:off x="4434840" y="4133088"/>
            <a:ext cx="2377440" cy="365760"/>
          </a:xfrm>
          <a:prstGeom prst="rect">
            <a:avLst/>
          </a:prstGeom>
          <a:noFill/>
        </p:spPr>
        <p:txBody>
          <a:bodyPr wrap="square" rtlCol="0" anchor="ctr"/>
          <a:lstStyle/>
          <a:p>
            <a:pPr marL="0" indent="0">
              <a:buNone/>
            </a:pPr>
            <a:r>
              <a:rPr lang="en-US" sz="1200" b="1" dirty="0">
                <a:solidFill>
                  <a:srgbClr val="1A1A1A"/>
                </a:solidFill>
                <a:latin typeface="Calibri" pitchFamily="34" charset="0"/>
                <a:ea typeface="Calibri" pitchFamily="34" charset="-122"/>
                <a:cs typeface="Calibri" pitchFamily="34" charset="-120"/>
              </a:rPr>
              <a:t>Threshold Is a Dial, Not Fixed</a:t>
            </a:r>
            <a:endParaRPr lang="en-US" sz="1200" dirty="0"/>
          </a:p>
        </p:txBody>
      </p:sp>
      <p:sp>
        <p:nvSpPr>
          <p:cNvPr id="23" name="Text 21"/>
          <p:cNvSpPr/>
          <p:nvPr/>
        </p:nvSpPr>
        <p:spPr>
          <a:xfrm>
            <a:off x="4178808" y="4526280"/>
            <a:ext cx="2606040" cy="1737360"/>
          </a:xfrm>
          <a:prstGeom prst="rect">
            <a:avLst/>
          </a:prstGeom>
          <a:noFill/>
        </p:spPr>
        <p:txBody>
          <a:bodyPr wrap="square" rtlCol="0" anchor="ctr"/>
          <a:lstStyle/>
          <a:p>
            <a:pPr marL="0" indent="0">
              <a:buNone/>
            </a:pPr>
            <a:r>
              <a:rPr lang="en-US" sz="980" dirty="0">
                <a:solidFill>
                  <a:srgbClr val="565A61"/>
                </a:solidFill>
                <a:latin typeface="Calibri" pitchFamily="34" charset="0"/>
                <a:ea typeface="Calibri" pitchFamily="34" charset="-122"/>
                <a:cs typeface="Calibri" pitchFamily="34" charset="-120"/>
              </a:rPr>
              <a:t>61.7% recall / 34.5% precision reflects the default 0.5 decision threshold. Lowering it catches more leavers at the cost of more false alarms — a business, not a modeling, decision.</a:t>
            </a:r>
            <a:endParaRPr lang="en-US" sz="980" dirty="0"/>
          </a:p>
        </p:txBody>
      </p:sp>
      <p:sp>
        <p:nvSpPr>
          <p:cNvPr id="24" name="Shape 22"/>
          <p:cNvSpPr/>
          <p:nvPr/>
        </p:nvSpPr>
        <p:spPr>
          <a:xfrm>
            <a:off x="7132320" y="4023360"/>
            <a:ext cx="2971800" cy="2331720"/>
          </a:xfrm>
          <a:prstGeom prst="roundRect">
            <a:avLst>
              <a:gd name="adj" fmla="val 3137"/>
            </a:avLst>
          </a:prstGeom>
          <a:solidFill>
            <a:srgbClr val="FAFAFC"/>
          </a:solidFill>
          <a:ln w="12700">
            <a:solidFill>
              <a:srgbClr val="E3E5E8"/>
            </a:solidFill>
            <a:prstDash val="solid"/>
          </a:ln>
        </p:spPr>
      </p:sp>
      <p:sp>
        <p:nvSpPr>
          <p:cNvPr id="25" name="Shape 23"/>
          <p:cNvSpPr/>
          <p:nvPr/>
        </p:nvSpPr>
        <p:spPr>
          <a:xfrm>
            <a:off x="7333488" y="4206240"/>
            <a:ext cx="146304" cy="146304"/>
          </a:xfrm>
          <a:prstGeom prst="ellipse">
            <a:avLst/>
          </a:prstGeom>
          <a:solidFill>
            <a:srgbClr val="A44A42"/>
          </a:solidFill>
        </p:spPr>
      </p:sp>
      <p:sp>
        <p:nvSpPr>
          <p:cNvPr id="26" name="Text 24"/>
          <p:cNvSpPr/>
          <p:nvPr/>
        </p:nvSpPr>
        <p:spPr>
          <a:xfrm>
            <a:off x="7589520" y="4133088"/>
            <a:ext cx="2377440" cy="365760"/>
          </a:xfrm>
          <a:prstGeom prst="rect">
            <a:avLst/>
          </a:prstGeom>
          <a:noFill/>
        </p:spPr>
        <p:txBody>
          <a:bodyPr wrap="square" rtlCol="0" anchor="ctr"/>
          <a:lstStyle/>
          <a:p>
            <a:pPr marL="0" indent="0">
              <a:buNone/>
            </a:pPr>
            <a:r>
              <a:rPr lang="en-US" sz="1200" b="1" dirty="0">
                <a:solidFill>
                  <a:srgbClr val="1A1A1A"/>
                </a:solidFill>
                <a:latin typeface="Calibri" pitchFamily="34" charset="0"/>
                <a:ea typeface="Calibri" pitchFamily="34" charset="-122"/>
                <a:cs typeface="Calibri" pitchFamily="34" charset="-120"/>
              </a:rPr>
              <a:t>Fairness Wasn't Audited Here</a:t>
            </a:r>
            <a:endParaRPr lang="en-US" sz="1200" dirty="0"/>
          </a:p>
        </p:txBody>
      </p:sp>
      <p:sp>
        <p:nvSpPr>
          <p:cNvPr id="27" name="Text 25"/>
          <p:cNvSpPr/>
          <p:nvPr/>
        </p:nvSpPr>
        <p:spPr>
          <a:xfrm>
            <a:off x="7333488" y="4526280"/>
            <a:ext cx="2606040" cy="1737360"/>
          </a:xfrm>
          <a:prstGeom prst="rect">
            <a:avLst/>
          </a:prstGeom>
          <a:noFill/>
        </p:spPr>
        <p:txBody>
          <a:bodyPr wrap="square" rtlCol="0" anchor="ctr"/>
          <a:lstStyle/>
          <a:p>
            <a:pPr marL="0" indent="0">
              <a:buNone/>
            </a:pPr>
            <a:r>
              <a:rPr lang="en-US" sz="980" dirty="0">
                <a:solidFill>
                  <a:srgbClr val="565A61"/>
                </a:solidFill>
                <a:latin typeface="Calibri" pitchFamily="34" charset="0"/>
                <a:ea typeface="Calibri" pitchFamily="34" charset="-122"/>
                <a:cs typeface="Calibri" pitchFamily="34" charset="-120"/>
              </a:rPr>
              <a:t>A model like this should be checked for disparate flagging across age, gender, or tenure groups before real deployment — not done in this exercise, and worth naming as a next step.</a:t>
            </a:r>
            <a:endParaRPr lang="en-US" sz="980" dirty="0"/>
          </a:p>
        </p:txBody>
      </p:sp>
      <p:sp>
        <p:nvSpPr>
          <p:cNvPr id="28" name="Text 26"/>
          <p:cNvSpPr/>
          <p:nvPr/>
        </p:nvSpPr>
        <p:spPr>
          <a:xfrm>
            <a:off x="457200" y="6473952"/>
            <a:ext cx="7315200" cy="274320"/>
          </a:xfrm>
          <a:prstGeom prst="rect">
            <a:avLst/>
          </a:prstGeom>
          <a:noFill/>
        </p:spPr>
        <p:txBody>
          <a:bodyPr wrap="square" rtlCol="0" anchor="ctr"/>
          <a:lstStyle/>
          <a:p>
            <a:pPr marL="0" indent="0">
              <a:buNone/>
            </a:pPr>
            <a:r>
              <a:rPr lang="en-US" sz="900" dirty="0">
                <a:solidFill>
                  <a:srgbClr val="8B8F94"/>
                </a:solidFill>
                <a:latin typeface="Calibri" pitchFamily="34" charset="0"/>
                <a:ea typeface="Calibri" pitchFamily="34" charset="-122"/>
                <a:cs typeface="Calibri" pitchFamily="34" charset="-120"/>
              </a:rPr>
              <a:t>Attrition Model — Measured Results  ·  Data &amp; Analytics Briefing</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548640"/>
            <a:ext cx="8229600" cy="274320"/>
          </a:xfrm>
          <a:prstGeom prst="rect">
            <a:avLst/>
          </a:prstGeom>
          <a:noFill/>
        </p:spPr>
        <p:txBody>
          <a:bodyPr wrap="square" rtlCol="0" anchor="ctr"/>
          <a:lstStyle/>
          <a:p>
            <a:pPr marL="0" indent="0">
              <a:buNone/>
            </a:pPr>
            <a:r>
              <a:rPr lang="en-US" sz="1100" b="1" kern="0" spc="200" dirty="0">
                <a:solidFill>
                  <a:srgbClr val="AD8A57"/>
                </a:solidFill>
                <a:latin typeface="Calibri" pitchFamily="34" charset="0"/>
                <a:ea typeface="Calibri" pitchFamily="34" charset="-122"/>
                <a:cs typeface="Calibri" pitchFamily="34" charset="-120"/>
              </a:rPr>
              <a:t>SECTION 05 · THE RECOMMENDATION</a:t>
            </a:r>
            <a:endParaRPr lang="en-US" sz="1100" dirty="0"/>
          </a:p>
        </p:txBody>
      </p:sp>
      <p:sp>
        <p:nvSpPr>
          <p:cNvPr id="3" name="Text 1"/>
          <p:cNvSpPr/>
          <p:nvPr/>
        </p:nvSpPr>
        <p:spPr>
          <a:xfrm>
            <a:off x="822960" y="868680"/>
            <a:ext cx="10058400" cy="548640"/>
          </a:xfrm>
          <a:prstGeom prst="rect">
            <a:avLst/>
          </a:prstGeom>
          <a:noFill/>
        </p:spPr>
        <p:txBody>
          <a:bodyPr wrap="square" rtlCol="0" anchor="ctr"/>
          <a:lstStyle/>
          <a:p>
            <a:pPr marL="0" indent="0">
              <a:buNone/>
            </a:pPr>
            <a:r>
              <a:rPr lang="en-US" sz="2700" b="1" dirty="0">
                <a:solidFill>
                  <a:srgbClr val="1A1A1A"/>
                </a:solidFill>
                <a:latin typeface="Calibri" pitchFamily="34" charset="0"/>
                <a:ea typeface="Calibri" pitchFamily="34" charset="-122"/>
                <a:cs typeface="Calibri" pitchFamily="34" charset="-120"/>
              </a:rPr>
              <a:t>Next Steps If This Moved Forward</a:t>
            </a:r>
            <a:endParaRPr lang="en-US" sz="2700" dirty="0"/>
          </a:p>
        </p:txBody>
      </p:sp>
      <p:sp>
        <p:nvSpPr>
          <p:cNvPr id="4" name="Shape 2"/>
          <p:cNvSpPr/>
          <p:nvPr/>
        </p:nvSpPr>
        <p:spPr>
          <a:xfrm>
            <a:off x="1554480" y="2359152"/>
            <a:ext cx="8549640" cy="0"/>
          </a:xfrm>
          <a:prstGeom prst="line">
            <a:avLst/>
          </a:prstGeom>
          <a:noFill/>
          <a:ln w="25400">
            <a:solidFill>
              <a:srgbClr val="E3E5E8"/>
            </a:solidFill>
            <a:prstDash val="solid"/>
          </a:ln>
        </p:spPr>
      </p:sp>
      <p:sp>
        <p:nvSpPr>
          <p:cNvPr id="5" name="Shape 3"/>
          <p:cNvSpPr/>
          <p:nvPr/>
        </p:nvSpPr>
        <p:spPr>
          <a:xfrm>
            <a:off x="1554480" y="2103120"/>
            <a:ext cx="457200" cy="457200"/>
          </a:xfrm>
          <a:prstGeom prst="ellipse">
            <a:avLst/>
          </a:prstGeom>
          <a:solidFill>
            <a:srgbClr val="3E6B8A"/>
          </a:solidFill>
        </p:spPr>
      </p:sp>
      <p:sp>
        <p:nvSpPr>
          <p:cNvPr id="6" name="Text 4"/>
          <p:cNvSpPr/>
          <p:nvPr/>
        </p:nvSpPr>
        <p:spPr>
          <a:xfrm>
            <a:off x="1554480" y="2103120"/>
            <a:ext cx="457200" cy="457200"/>
          </a:xfrm>
          <a:prstGeom prst="rect">
            <a:avLst/>
          </a:prstGeom>
          <a:noFill/>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502920" y="2697480"/>
            <a:ext cx="2560320" cy="320040"/>
          </a:xfrm>
          <a:prstGeom prst="rect">
            <a:avLst/>
          </a:prstGeom>
          <a:noFill/>
        </p:spPr>
        <p:txBody>
          <a:bodyPr wrap="square" rtlCol="0" anchor="ctr"/>
          <a:lstStyle/>
          <a:p>
            <a:pPr marL="0" indent="0" algn="ctr">
              <a:buNone/>
            </a:pPr>
            <a:r>
              <a:rPr lang="en-US" sz="1400" b="1" dirty="0">
                <a:solidFill>
                  <a:srgbClr val="1A1A1A"/>
                </a:solidFill>
                <a:latin typeface="Calibri" pitchFamily="34" charset="0"/>
                <a:ea typeface="Calibri" pitchFamily="34" charset="-122"/>
                <a:cs typeface="Calibri" pitchFamily="34" charset="-120"/>
              </a:rPr>
              <a:t>Pilot</a:t>
            </a:r>
            <a:endParaRPr lang="en-US" sz="1400" dirty="0"/>
          </a:p>
        </p:txBody>
      </p:sp>
      <p:sp>
        <p:nvSpPr>
          <p:cNvPr id="8" name="Text 6"/>
          <p:cNvSpPr/>
          <p:nvPr/>
        </p:nvSpPr>
        <p:spPr>
          <a:xfrm>
            <a:off x="502920" y="3063240"/>
            <a:ext cx="2560320" cy="1463040"/>
          </a:xfrm>
          <a:prstGeom prst="rect">
            <a:avLst/>
          </a:prstGeom>
          <a:noFill/>
        </p:spPr>
        <p:txBody>
          <a:bodyPr wrap="square" rtlCol="0" anchor="ctr"/>
          <a:lstStyle/>
          <a:p>
            <a:pPr marL="0" indent="0" algn="ctr">
              <a:buNone/>
            </a:pPr>
            <a:r>
              <a:rPr lang="en-US" sz="1050" dirty="0">
                <a:solidFill>
                  <a:srgbClr val="565A61"/>
                </a:solidFill>
                <a:latin typeface="Calibri" pitchFamily="34" charset="0"/>
                <a:ea typeface="Calibri" pitchFamily="34" charset="-122"/>
                <a:cs typeface="Calibri" pitchFamily="34" charset="-120"/>
              </a:rPr>
              <a:t>Run silently alongside one HR team for a quarter — compare flags against actual departures before anyone acts on them.</a:t>
            </a:r>
            <a:endParaRPr lang="en-US" sz="1050" dirty="0"/>
          </a:p>
        </p:txBody>
      </p:sp>
      <p:sp>
        <p:nvSpPr>
          <p:cNvPr id="9" name="Shape 7"/>
          <p:cNvSpPr/>
          <p:nvPr/>
        </p:nvSpPr>
        <p:spPr>
          <a:xfrm>
            <a:off x="4325112" y="2103120"/>
            <a:ext cx="457200" cy="457200"/>
          </a:xfrm>
          <a:prstGeom prst="ellipse">
            <a:avLst/>
          </a:prstGeom>
          <a:solidFill>
            <a:srgbClr val="AD8A57"/>
          </a:solidFill>
        </p:spPr>
      </p:sp>
      <p:sp>
        <p:nvSpPr>
          <p:cNvPr id="10" name="Text 8"/>
          <p:cNvSpPr/>
          <p:nvPr/>
        </p:nvSpPr>
        <p:spPr>
          <a:xfrm>
            <a:off x="4325112" y="2103120"/>
            <a:ext cx="457200" cy="457200"/>
          </a:xfrm>
          <a:prstGeom prst="rect">
            <a:avLst/>
          </a:prstGeom>
          <a:noFill/>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1" name="Text 9"/>
          <p:cNvSpPr/>
          <p:nvPr/>
        </p:nvSpPr>
        <p:spPr>
          <a:xfrm>
            <a:off x="3273552" y="2697480"/>
            <a:ext cx="2560320" cy="320040"/>
          </a:xfrm>
          <a:prstGeom prst="rect">
            <a:avLst/>
          </a:prstGeom>
          <a:noFill/>
        </p:spPr>
        <p:txBody>
          <a:bodyPr wrap="square" rtlCol="0" anchor="ctr"/>
          <a:lstStyle/>
          <a:p>
            <a:pPr marL="0" indent="0" algn="ctr">
              <a:buNone/>
            </a:pPr>
            <a:r>
              <a:rPr lang="en-US" sz="1400" b="1" dirty="0">
                <a:solidFill>
                  <a:srgbClr val="1A1A1A"/>
                </a:solidFill>
                <a:latin typeface="Calibri" pitchFamily="34" charset="0"/>
                <a:ea typeface="Calibri" pitchFamily="34" charset="-122"/>
                <a:cs typeface="Calibri" pitchFamily="34" charset="-120"/>
              </a:rPr>
              <a:t>Audit</a:t>
            </a:r>
            <a:endParaRPr lang="en-US" sz="1400" dirty="0"/>
          </a:p>
        </p:txBody>
      </p:sp>
      <p:sp>
        <p:nvSpPr>
          <p:cNvPr id="12" name="Text 10"/>
          <p:cNvSpPr/>
          <p:nvPr/>
        </p:nvSpPr>
        <p:spPr>
          <a:xfrm>
            <a:off x="3273552" y="3063240"/>
            <a:ext cx="2560320" cy="1463040"/>
          </a:xfrm>
          <a:prstGeom prst="rect">
            <a:avLst/>
          </a:prstGeom>
          <a:noFill/>
        </p:spPr>
        <p:txBody>
          <a:bodyPr wrap="square" rtlCol="0" anchor="ctr"/>
          <a:lstStyle/>
          <a:p>
            <a:pPr marL="0" indent="0" algn="ctr">
              <a:buNone/>
            </a:pPr>
            <a:r>
              <a:rPr lang="en-US" sz="1050" dirty="0">
                <a:solidFill>
                  <a:srgbClr val="565A61"/>
                </a:solidFill>
                <a:latin typeface="Calibri" pitchFamily="34" charset="0"/>
                <a:ea typeface="Calibri" pitchFamily="34" charset="-122"/>
                <a:cs typeface="Calibri" pitchFamily="34" charset="-120"/>
              </a:rPr>
              <a:t>Check flagging rates across age, gender, tenure, and department before any live rollout.</a:t>
            </a:r>
            <a:endParaRPr lang="en-US" sz="1050" dirty="0"/>
          </a:p>
        </p:txBody>
      </p:sp>
      <p:sp>
        <p:nvSpPr>
          <p:cNvPr id="13" name="Shape 11"/>
          <p:cNvSpPr/>
          <p:nvPr/>
        </p:nvSpPr>
        <p:spPr>
          <a:xfrm>
            <a:off x="7104888" y="2103120"/>
            <a:ext cx="457200" cy="457200"/>
          </a:xfrm>
          <a:prstGeom prst="ellipse">
            <a:avLst/>
          </a:prstGeom>
          <a:solidFill>
            <a:srgbClr val="3E6B8A"/>
          </a:solidFill>
        </p:spPr>
      </p:sp>
      <p:sp>
        <p:nvSpPr>
          <p:cNvPr id="14" name="Text 12"/>
          <p:cNvSpPr/>
          <p:nvPr/>
        </p:nvSpPr>
        <p:spPr>
          <a:xfrm>
            <a:off x="7104888" y="2103120"/>
            <a:ext cx="457200" cy="457200"/>
          </a:xfrm>
          <a:prstGeom prst="rect">
            <a:avLst/>
          </a:prstGeom>
          <a:noFill/>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5" name="Text 13"/>
          <p:cNvSpPr/>
          <p:nvPr/>
        </p:nvSpPr>
        <p:spPr>
          <a:xfrm>
            <a:off x="6053328" y="2697480"/>
            <a:ext cx="2560320" cy="320040"/>
          </a:xfrm>
          <a:prstGeom prst="rect">
            <a:avLst/>
          </a:prstGeom>
          <a:noFill/>
        </p:spPr>
        <p:txBody>
          <a:bodyPr wrap="square" rtlCol="0" anchor="ctr"/>
          <a:lstStyle/>
          <a:p>
            <a:pPr marL="0" indent="0" algn="ctr">
              <a:buNone/>
            </a:pPr>
            <a:r>
              <a:rPr lang="en-US" sz="1400" b="1" dirty="0">
                <a:solidFill>
                  <a:srgbClr val="1A1A1A"/>
                </a:solidFill>
                <a:latin typeface="Calibri" pitchFamily="34" charset="0"/>
                <a:ea typeface="Calibri" pitchFamily="34" charset="-122"/>
                <a:cs typeface="Calibri" pitchFamily="34" charset="-120"/>
              </a:rPr>
              <a:t>Threshold-Tune</a:t>
            </a:r>
            <a:endParaRPr lang="en-US" sz="1400" dirty="0"/>
          </a:p>
        </p:txBody>
      </p:sp>
      <p:sp>
        <p:nvSpPr>
          <p:cNvPr id="16" name="Text 14"/>
          <p:cNvSpPr/>
          <p:nvPr/>
        </p:nvSpPr>
        <p:spPr>
          <a:xfrm>
            <a:off x="6053328" y="3063240"/>
            <a:ext cx="2560320" cy="1463040"/>
          </a:xfrm>
          <a:prstGeom prst="rect">
            <a:avLst/>
          </a:prstGeom>
          <a:noFill/>
        </p:spPr>
        <p:txBody>
          <a:bodyPr wrap="square" rtlCol="0" anchor="ctr"/>
          <a:lstStyle/>
          <a:p>
            <a:pPr marL="0" indent="0" algn="ctr">
              <a:buNone/>
            </a:pPr>
            <a:r>
              <a:rPr lang="en-US" sz="1050" dirty="0">
                <a:solidFill>
                  <a:srgbClr val="565A61"/>
                </a:solidFill>
                <a:latin typeface="Calibri" pitchFamily="34" charset="0"/>
                <a:ea typeface="Calibri" pitchFamily="34" charset="-122"/>
                <a:cs typeface="Calibri" pitchFamily="34" charset="-120"/>
              </a:rPr>
              <a:t>Set the decision threshold with HR leadership input — trade off recall and precision to match real intervention capacity.</a:t>
            </a:r>
            <a:endParaRPr lang="en-US" sz="1050" dirty="0"/>
          </a:p>
        </p:txBody>
      </p:sp>
      <p:sp>
        <p:nvSpPr>
          <p:cNvPr id="17" name="Shape 15"/>
          <p:cNvSpPr/>
          <p:nvPr/>
        </p:nvSpPr>
        <p:spPr>
          <a:xfrm>
            <a:off x="9875520" y="2103120"/>
            <a:ext cx="457200" cy="457200"/>
          </a:xfrm>
          <a:prstGeom prst="ellipse">
            <a:avLst/>
          </a:prstGeom>
          <a:solidFill>
            <a:srgbClr val="AD8A57"/>
          </a:solidFill>
        </p:spPr>
      </p:sp>
      <p:sp>
        <p:nvSpPr>
          <p:cNvPr id="18" name="Text 16"/>
          <p:cNvSpPr/>
          <p:nvPr/>
        </p:nvSpPr>
        <p:spPr>
          <a:xfrm>
            <a:off x="9875520" y="2103120"/>
            <a:ext cx="457200" cy="457200"/>
          </a:xfrm>
          <a:prstGeom prst="rect">
            <a:avLst/>
          </a:prstGeom>
          <a:noFill/>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9" name="Text 17"/>
          <p:cNvSpPr/>
          <p:nvPr/>
        </p:nvSpPr>
        <p:spPr>
          <a:xfrm>
            <a:off x="8823960" y="2697480"/>
            <a:ext cx="2560320" cy="320040"/>
          </a:xfrm>
          <a:prstGeom prst="rect">
            <a:avLst/>
          </a:prstGeom>
          <a:noFill/>
        </p:spPr>
        <p:txBody>
          <a:bodyPr wrap="square" rtlCol="0" anchor="ctr"/>
          <a:lstStyle/>
          <a:p>
            <a:pPr marL="0" indent="0" algn="ctr">
              <a:buNone/>
            </a:pPr>
            <a:r>
              <a:rPr lang="en-US" sz="1400" b="1" dirty="0">
                <a:solidFill>
                  <a:srgbClr val="1A1A1A"/>
                </a:solidFill>
                <a:latin typeface="Calibri" pitchFamily="34" charset="0"/>
                <a:ea typeface="Calibri" pitchFamily="34" charset="-122"/>
                <a:cs typeface="Calibri" pitchFamily="34" charset="-120"/>
              </a:rPr>
              <a:t>Retrain Cadence</a:t>
            </a:r>
            <a:endParaRPr lang="en-US" sz="1400" dirty="0"/>
          </a:p>
        </p:txBody>
      </p:sp>
      <p:sp>
        <p:nvSpPr>
          <p:cNvPr id="20" name="Text 18"/>
          <p:cNvSpPr/>
          <p:nvPr/>
        </p:nvSpPr>
        <p:spPr>
          <a:xfrm>
            <a:off x="8823960" y="3063240"/>
            <a:ext cx="2560320" cy="1463040"/>
          </a:xfrm>
          <a:prstGeom prst="rect">
            <a:avLst/>
          </a:prstGeom>
          <a:noFill/>
        </p:spPr>
        <p:txBody>
          <a:bodyPr wrap="square" rtlCol="0" anchor="ctr"/>
          <a:lstStyle/>
          <a:p>
            <a:pPr marL="0" indent="0" algn="ctr">
              <a:buNone/>
            </a:pPr>
            <a:r>
              <a:rPr lang="en-US" sz="1050" dirty="0">
                <a:solidFill>
                  <a:srgbClr val="565A61"/>
                </a:solidFill>
                <a:latin typeface="Calibri" pitchFamily="34" charset="0"/>
                <a:ea typeface="Calibri" pitchFamily="34" charset="-122"/>
                <a:cs typeface="Calibri" pitchFamily="34" charset="-120"/>
              </a:rPr>
              <a:t>Refresh the model quarterly as new attrition data accumulates; monitor for drift in what's predictive.</a:t>
            </a:r>
            <a:endParaRPr lang="en-US" sz="1050" dirty="0"/>
          </a:p>
        </p:txBody>
      </p:sp>
      <p:sp>
        <p:nvSpPr>
          <p:cNvPr id="21" name="Text 19"/>
          <p:cNvSpPr/>
          <p:nvPr/>
        </p:nvSpPr>
        <p:spPr>
          <a:xfrm>
            <a:off x="822960" y="5394960"/>
            <a:ext cx="10332720" cy="457200"/>
          </a:xfrm>
          <a:prstGeom prst="rect">
            <a:avLst/>
          </a:prstGeom>
          <a:noFill/>
        </p:spPr>
        <p:txBody>
          <a:bodyPr wrap="square" rtlCol="0" anchor="ctr"/>
          <a:lstStyle/>
          <a:p>
            <a:pPr marL="0" indent="0">
              <a:buNone/>
            </a:pPr>
            <a:r>
              <a:rPr lang="en-US" sz="1250" i="1" dirty="0">
                <a:solidFill>
                  <a:srgbClr val="8B8F94"/>
                </a:solidFill>
                <a:latin typeface="Calibri" pitchFamily="34" charset="0"/>
                <a:ea typeface="Calibri" pitchFamily="34" charset="-122"/>
                <a:cs typeface="Calibri" pitchFamily="34" charset="-120"/>
              </a:rPr>
              <a:t>None of this requires new data collection — everything used here already lives inside the systems HR runs today.</a:t>
            </a:r>
            <a:endParaRPr lang="en-US" sz="1250" dirty="0"/>
          </a:p>
        </p:txBody>
      </p:sp>
      <p:sp>
        <p:nvSpPr>
          <p:cNvPr id="22" name="Text 20"/>
          <p:cNvSpPr/>
          <p:nvPr/>
        </p:nvSpPr>
        <p:spPr>
          <a:xfrm>
            <a:off x="457200" y="6473952"/>
            <a:ext cx="7315200" cy="274320"/>
          </a:xfrm>
          <a:prstGeom prst="rect">
            <a:avLst/>
          </a:prstGeom>
          <a:noFill/>
        </p:spPr>
        <p:txBody>
          <a:bodyPr wrap="square" rtlCol="0" anchor="ctr"/>
          <a:lstStyle/>
          <a:p>
            <a:pPr marL="0" indent="0">
              <a:buNone/>
            </a:pPr>
            <a:r>
              <a:rPr lang="en-US" sz="900" dirty="0">
                <a:solidFill>
                  <a:srgbClr val="8B8F94"/>
                </a:solidFill>
                <a:latin typeface="Calibri" pitchFamily="34" charset="0"/>
                <a:ea typeface="Calibri" pitchFamily="34" charset="-122"/>
                <a:cs typeface="Calibri" pitchFamily="34" charset="-120"/>
              </a:rPr>
              <a:t>Attrition Model — Measured Results  ·  Data &amp; Analytics Briefing</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C222E"/>
        </a:solidFill>
        <a:effectLst/>
      </p:bgPr>
    </p:bg>
    <p:spTree>
      <p:nvGrpSpPr>
        <p:cNvPr id="1" name=""/>
        <p:cNvGrpSpPr/>
        <p:nvPr/>
      </p:nvGrpSpPr>
      <p:grpSpPr>
        <a:xfrm>
          <a:off x="0" y="0"/>
          <a:ext cx="0" cy="0"/>
          <a:chOff x="0" y="0"/>
          <a:chExt cx="0" cy="0"/>
        </a:xfrm>
      </p:grpSpPr>
      <p:sp>
        <p:nvSpPr>
          <p:cNvPr id="2" name="Shape 0"/>
          <p:cNvSpPr/>
          <p:nvPr/>
        </p:nvSpPr>
        <p:spPr>
          <a:xfrm>
            <a:off x="-1645920" y="-1645920"/>
            <a:ext cx="4114800" cy="4114800"/>
          </a:xfrm>
          <a:prstGeom prst="ellipse">
            <a:avLst/>
          </a:prstGeom>
          <a:solidFill>
            <a:srgbClr val="242B38">
              <a:alpha val="55000"/>
            </a:srgbClr>
          </a:solidFill>
        </p:spPr>
      </p:sp>
      <p:sp>
        <p:nvSpPr>
          <p:cNvPr id="3" name="Text 1"/>
          <p:cNvSpPr/>
          <p:nvPr/>
        </p:nvSpPr>
        <p:spPr>
          <a:xfrm>
            <a:off x="822960" y="640080"/>
            <a:ext cx="8229600" cy="274320"/>
          </a:xfrm>
          <a:prstGeom prst="rect">
            <a:avLst/>
          </a:prstGeom>
          <a:noFill/>
        </p:spPr>
        <p:txBody>
          <a:bodyPr wrap="square" rtlCol="0" anchor="ctr"/>
          <a:lstStyle/>
          <a:p>
            <a:pPr marL="0" indent="0">
              <a:buNone/>
            </a:pPr>
            <a:r>
              <a:rPr lang="en-US" sz="1100" b="1" kern="0" spc="200" dirty="0">
                <a:solidFill>
                  <a:srgbClr val="A9B7C4"/>
                </a:solidFill>
                <a:latin typeface="Calibri" pitchFamily="34" charset="0"/>
                <a:ea typeface="Calibri" pitchFamily="34" charset="-122"/>
                <a:cs typeface="Calibri" pitchFamily="34" charset="-120"/>
              </a:rPr>
              <a:t>CLOSE</a:t>
            </a:r>
            <a:endParaRPr lang="en-US" sz="1100" dirty="0"/>
          </a:p>
        </p:txBody>
      </p:sp>
      <p:sp>
        <p:nvSpPr>
          <p:cNvPr id="4" name="Text 2"/>
          <p:cNvSpPr/>
          <p:nvPr/>
        </p:nvSpPr>
        <p:spPr>
          <a:xfrm>
            <a:off x="822960" y="914400"/>
            <a:ext cx="9601200" cy="640080"/>
          </a:xfrm>
          <a:prstGeom prst="rect">
            <a:avLst/>
          </a:prstGeom>
          <a:noFill/>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Questions &amp; Discussion</a:t>
            </a:r>
            <a:endParaRPr lang="en-US" sz="3000" dirty="0"/>
          </a:p>
        </p:txBody>
      </p:sp>
      <p:sp>
        <p:nvSpPr>
          <p:cNvPr id="5" name="Text 3"/>
          <p:cNvSpPr/>
          <p:nvPr/>
        </p:nvSpPr>
        <p:spPr>
          <a:xfrm>
            <a:off x="822960" y="1783080"/>
            <a:ext cx="9875520" cy="2011680"/>
          </a:xfrm>
          <a:prstGeom prst="rect">
            <a:avLst/>
          </a:prstGeom>
          <a:noFill/>
        </p:spPr>
        <p:txBody>
          <a:bodyPr wrap="square" rtlCol="0" anchor="ctr"/>
          <a:lstStyle/>
          <a:p>
            <a:pPr marL="342900" indent="-342900">
              <a:spcAft>
                <a:spcPts val="1400"/>
              </a:spcAft>
              <a:buSzPct val="100000"/>
              <a:buChar char="•"/>
            </a:pPr>
            <a:r>
              <a:rPr lang="en-US" sz="1500" dirty="0">
                <a:solidFill>
                  <a:srgbClr val="D7DEE4"/>
                </a:solidFill>
                <a:latin typeface="Calibri" pitchFamily="34" charset="0"/>
                <a:ea typeface="Calibri" pitchFamily="34" charset="-122"/>
                <a:cs typeface="Calibri" pitchFamily="34" charset="-120"/>
              </a:rPr>
              <a:t>Model: Logistic Regression, class-weighted, AUC 0.798, Recall 61.7% on held-out test data</a:t>
            </a:r>
            <a:endParaRPr lang="en-US" sz="1500" dirty="0"/>
          </a:p>
          <a:p>
            <a:pPr marL="342900" indent="-342900">
              <a:spcAft>
                <a:spcPts val="1400"/>
              </a:spcAft>
              <a:buSzPct val="100000"/>
              <a:buChar char="•"/>
            </a:pPr>
            <a:r>
              <a:rPr lang="en-US" sz="1500" dirty="0">
                <a:solidFill>
                  <a:srgbClr val="D7DEE4"/>
                </a:solidFill>
                <a:latin typeface="Calibri" pitchFamily="34" charset="0"/>
                <a:ea typeface="Calibri" pitchFamily="34" charset="-122"/>
                <a:cs typeface="Calibri" pitchFamily="34" charset="-120"/>
              </a:rPr>
              <a:t>Dataset: 1,470 employees, 237 who left / 1,233 who stayed (16.1% attrition) — IBM HR Analytics Employee Attrition dataset (Kaggle)</a:t>
            </a:r>
            <a:endParaRPr lang="en-US" sz="1500" dirty="0"/>
          </a:p>
          <a:p>
            <a:pPr marL="342900" indent="-342900">
              <a:buSzPct val="100000"/>
              <a:buChar char="•"/>
            </a:pPr>
            <a:r>
              <a:rPr lang="en-US" sz="1500" dirty="0">
                <a:solidFill>
                  <a:srgbClr val="D7DEE4"/>
                </a:solidFill>
                <a:latin typeface="Calibri" pitchFamily="34" charset="0"/>
                <a:ea typeface="Calibri" pitchFamily="34" charset="-122"/>
                <a:cs typeface="Calibri" pitchFamily="34" charset="-120"/>
              </a:rPr>
              <a:t>Full notebook and results workbook available on request</a:t>
            </a:r>
            <a:endParaRPr lang="en-US" sz="1500" dirty="0"/>
          </a:p>
        </p:txBody>
      </p:sp>
      <p:sp>
        <p:nvSpPr>
          <p:cNvPr id="6" name="Text 4"/>
          <p:cNvSpPr/>
          <p:nvPr/>
        </p:nvSpPr>
        <p:spPr>
          <a:xfrm>
            <a:off x="822960" y="6126480"/>
            <a:ext cx="9601200" cy="365760"/>
          </a:xfrm>
          <a:prstGeom prst="rect">
            <a:avLst/>
          </a:prstGeom>
          <a:noFill/>
        </p:spPr>
        <p:txBody>
          <a:bodyPr wrap="square" rtlCol="0" anchor="ctr"/>
          <a:lstStyle/>
          <a:p>
            <a:pPr marL="0" indent="0">
              <a:buNone/>
            </a:pPr>
            <a:r>
              <a:rPr lang="en-US" sz="1200" dirty="0">
                <a:solidFill>
                  <a:srgbClr val="7C8894"/>
                </a:solidFill>
                <a:latin typeface="Calibri" pitchFamily="34" charset="0"/>
                <a:ea typeface="Calibri" pitchFamily="34" charset="-122"/>
                <a:cs typeface="Calibri" pitchFamily="34" charset="-120"/>
              </a:rPr>
              <a:t>Uma Ramanathan  —  Product, UX &amp; Data Portfolio  ·  umaramanathan54@gmail.com</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8571</Words>
  <Application>WPS Docs</Application>
  <PresentationFormat>On-screen Show (16:9)</PresentationFormat>
  <Paragraphs>316</Paragraphs>
  <Slides>12</Slides>
  <Notes>13</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12</vt:i4>
      </vt:variant>
    </vt:vector>
  </HeadingPairs>
  <TitlesOfParts>
    <vt:vector size="25" baseType="lpstr">
      <vt:lpstr>Arial</vt:lpstr>
      <vt:lpstr>SimSun</vt:lpstr>
      <vt:lpstr>Wingdings</vt:lpstr>
      <vt:lpstr>Calibri</vt:lpstr>
      <vt:lpstr>Helvetica Neue</vt:lpstr>
      <vt:lpstr>Calibri</vt:lpstr>
      <vt:lpstr>Calibri</vt:lpstr>
      <vt:lpstr>Arial</vt:lpstr>
      <vt:lpstr>Microsoft YaHei</vt:lpstr>
      <vt:lpstr>汉仪旗黑</vt:lpstr>
      <vt:lpstr>Arial Unicode MS</vt:lpstr>
      <vt:lpstr>宋体-简</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Predicting Attrition: From Data to Action</dc:title>
  <dc:creator>Uma Ramanathan</dc:creator>
  <dc:subject>PptxGenJS Presentation</dc:subject>
  <cp:lastModifiedBy>knottrail</cp:lastModifiedBy>
  <cp:revision>2</cp:revision>
  <dcterms:created xsi:type="dcterms:W3CDTF">2026-08-20T14:06:23Z</dcterms:created>
  <dcterms:modified xsi:type="dcterms:W3CDTF">2026-08-20T14:06:23Z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0C1D810D93E8812CDF09876A70263F27_42</vt:lpwstr>
  </property>
  <property fmtid="{D5CDD505-2E9C-101B-9397-08002B2CF9AE}" pid="3" name="KSOProductBuildVer">
    <vt:lpwstr>1033-12.1.26015.26015</vt:lpwstr>
  </property>
</Properties>
</file>