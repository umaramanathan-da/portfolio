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this as a self-directed case study built to answer the Data &amp; AI PM (HR &amp; Legal) job requirements section by section — same approach as the Ad Copilot deck, applied to an enterprise data-governance-heavy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is sectioned to match the JD's What You'll Do list. Each row names the reader it's written for — feel free to jump around depending on who's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personas, same underlying failure. The point of this slide is to show the pains aren't coincidentally similar — they share one root cause, which is exactly what justifies building one platform instead of two point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four source systems feed one semantic model that carries lineage, provenance, auditability and domain ownership rules; that model splits into an HR module and a Legal module, both surfaced through the same APIs, dashboards, and conversational AI layer. The shared middle is the differentiated part — anyone can build a dashboard per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section closest to real prior experience — data masking and metadata management work translates directly here. If asked to go deeper technically, this is the slide to expand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proves value with zero new pipelines. Phase 2 is the unglamorous but essential foundation — this is the technical-debt-vs-quick-win tradeoff the JD explicitly asks for. Phase 3 is where AI/ML compounds the return on Phase 2's investment.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Low-risk, high-confidence actions move automatically; everything else stays a human decision, with the model doing the flagging, not the deciding. This is the model-governance pattern that makes an AI/ML feature defensible in a regulated function, not just a v1 feature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Adoption and cycle-time prove near-term value; forecast accuracy and model quality prove the AI layer is trustworthy, not just novel; automation ROI is the number Finance asks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agile release cycle, but the point to make out loud is who's in the room at each step — engineering from day one, not after the PRD is 'done'.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tying each bullet back to a specific line in the JD's What You'll Bring / What You'll Do sections — this list was written to mirror that language deliberately.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6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161B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FA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CASE STUDY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PeopleOps &amp; Legal Intelligence Hub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semantic data product for HR and Legal — governance, AI/ML, and an ROI-informed roadmap.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 Strategy   ·   Semantic Modeling   ·   AI/ML Product Management   ·   Data Governance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Ramanathan  —  Product, UX &amp; Data Portfolio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Deck Is Organized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sections, each answering a specific part of the role — useful to a different reader.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FAFAFC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093976"/>
            <a:ext cx="457200" cy="45720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093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202082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37360" y="233172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HR &amp; Legal data, manual reporting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2148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Manager, HRBP &amp; Legal stakeholders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2807208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FAFAFC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2935224"/>
            <a:ext cx="457200" cy="457200"/>
          </a:xfrm>
          <a:prstGeom prst="ellipse">
            <a:avLst/>
          </a:prstGeom>
          <a:solidFill>
            <a:srgbClr val="4A3AA7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935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28620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&amp; Governance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37360" y="317296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semantic layer, shared lineage &amp; ownership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29900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/ Engineering, Hiring Manager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3648456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FAFAFC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776472"/>
            <a:ext cx="457200" cy="457200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776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37360" y="3703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737360" y="401421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ROI-informed sequencing of the build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383133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Manager, Finance / Ops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" y="4489704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FAFAFC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" y="4617720"/>
            <a:ext cx="457200" cy="45720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737360" y="45445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&amp; Responsible AI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737360" y="485546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 with human review lanes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467258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Eng, Hiring Manager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2960" y="5330952"/>
            <a:ext cx="10515600" cy="713232"/>
          </a:xfrm>
          <a:prstGeom prst="roundRect">
            <a:avLst>
              <a:gd name="adj" fmla="val 10256"/>
            </a:avLst>
          </a:prstGeom>
          <a:solidFill>
            <a:srgbClr val="FAFAFC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1560" y="5458968"/>
            <a:ext cx="457200" cy="457200"/>
          </a:xfrm>
          <a:prstGeom prst="ellipse">
            <a:avLst/>
          </a:prstGeom>
          <a:solidFill>
            <a:srgbClr val="8A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1051560" y="5458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737360" y="538581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&amp; Delivery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737360" y="569671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that prove value, agile release plan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26480" y="55138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Manager, cross-functional teams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PeopleOps &amp; Legal Intelligence Hub  ·  Portfolio Case Study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57200" cy="45720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Functions, One Shared Pattern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and Legal both run on manual, spreadsheet-stitched reporting pulled from systems that were never built to talk to each other — with real governance risk every time that stitching happens by hand.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5074920" cy="3566160"/>
          </a:xfrm>
          <a:prstGeom prst="roundRect">
            <a:avLst>
              <a:gd name="adj" fmla="val 2564"/>
            </a:avLst>
          </a:prstGeom>
          <a:solidFill>
            <a:srgbClr val="EAF2FC"/>
          </a:solidFill>
          <a:ln w="19050">
            <a:solidFill>
              <a:srgbClr val="2A78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0632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planning is reactive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97280" y="3520440"/>
            <a:ext cx="4526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risk visible only after an exit interview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 and workforce reporting rebuilt by hand each cycle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forward view on skills gaps across teams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2423160"/>
            <a:ext cx="5074920" cy="3566160"/>
          </a:xfrm>
          <a:prstGeom prst="roundRect">
            <a:avLst>
              <a:gd name="adj" fmla="val 2564"/>
            </a:avLst>
          </a:prstGeom>
          <a:solidFill>
            <a:srgbClr val="FDECE4"/>
          </a:solidFill>
          <a:ln w="19050">
            <a:solidFill>
              <a:srgbClr val="EB68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30632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&amp; compliance risk hides in plain sight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37960" y="3520440"/>
            <a:ext cx="4526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bottlenecks surface only when someone asks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and renewals tracked outside any system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gaps discovered after the fact, not before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615391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root cause: no single governed source of reference — every report is rebuilt from scratch, with no lineage back to source.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PeopleOps &amp; Legal Intelligence Hub  ·  Portfolio Case Study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57200" cy="457200"/>
          </a:xfrm>
          <a:prstGeom prst="ellipse">
            <a:avLst/>
          </a:prstGeom>
          <a:solidFill>
            <a:srgbClr val="4A3AA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A3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THE PRODUCT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Semantic Layer, Two Modules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two disconnected dashboards, both functions query the same governed model — through APIs, dashboards, and a conversational AI assistant.</a:t>
            </a:r>
            <a:endParaRPr lang="en-US" sz="1350" dirty="0"/>
          </a:p>
        </p:txBody>
      </p:sp>
      <p:pic>
        <p:nvPicPr>
          <p:cNvPr id="7" name="Image 0" descr="/home/claude/diagram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528" y="2057400"/>
            <a:ext cx="9692640" cy="40587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PeopleOps &amp; Legal Intelligence Hub  ·  Portfolio Case Study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57200" cy="457200"/>
          </a:xfrm>
          <a:prstGeom prst="ellipse">
            <a:avLst/>
          </a:prstGeom>
          <a:solidFill>
            <a:srgbClr val="4A3AA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A3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THE PRODUCT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Isn't a Checkbox — It's the Model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157276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real data-masking, metadata management, and schema classification work from regulated healthcare and banking environments.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5074920" cy="1554480"/>
          </a:xfrm>
          <a:prstGeom prst="roundRect">
            <a:avLst>
              <a:gd name="adj" fmla="val 5882"/>
            </a:avLst>
          </a:prstGeom>
          <a:solidFill>
            <a:srgbClr val="FAFAFC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606040"/>
            <a:ext cx="201168" cy="20116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253288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953512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traceable back to its source system and transformation.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2331720"/>
            <a:ext cx="5074920" cy="1554480"/>
          </a:xfrm>
          <a:prstGeom prst="roundRect">
            <a:avLst>
              <a:gd name="adj" fmla="val 5882"/>
            </a:avLst>
          </a:prstGeom>
          <a:solidFill>
            <a:srgbClr val="FAFAFC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2606040"/>
            <a:ext cx="201168" cy="201168"/>
          </a:xfrm>
          <a:prstGeom prst="ellipse">
            <a:avLst/>
          </a:prstGeom>
          <a:solidFill>
            <a:srgbClr val="4A3AA7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253288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2953512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ownership of who changed what, and when.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160520"/>
            <a:ext cx="5074920" cy="1554480"/>
          </a:xfrm>
          <a:prstGeom prst="roundRect">
            <a:avLst>
              <a:gd name="adj" fmla="val 5882"/>
            </a:avLst>
          </a:prstGeom>
          <a:solidFill>
            <a:srgbClr val="FAFAFC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4434840"/>
            <a:ext cx="201168" cy="201168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7" name="Text 15"/>
          <p:cNvSpPr/>
          <p:nvPr/>
        </p:nvSpPr>
        <p:spPr>
          <a:xfrm>
            <a:off x="1417320" y="436168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782312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AI-influenced decision logged and reviewable.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160520"/>
            <a:ext cx="5074920" cy="1554480"/>
          </a:xfrm>
          <a:prstGeom prst="roundRect">
            <a:avLst>
              <a:gd name="adj" fmla="val 5882"/>
            </a:avLst>
          </a:prstGeom>
          <a:solidFill>
            <a:srgbClr val="FAFAFC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434840"/>
            <a:ext cx="201168" cy="201168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436168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Ownership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37960" y="4782312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owns HR definitions, Legal owns Legal definitions.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60807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records compliance: GDPR data-subject rights and records-of-processing obligations are treated as model constraints from day one — not a review step bolted on before launch.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PeopleOps &amp; Legal Intelligence Hub  ·  Portfolio Case Study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57200" cy="457200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ROI-Informed: Quick Win First, Foundation Underneath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57276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is deliberate — a fast, low-risk win earns the trust needed to invest in the harder foundational and AI/ML work.</a:t>
            </a:r>
            <a:endParaRPr lang="en-US" sz="1350" dirty="0"/>
          </a:p>
        </p:txBody>
      </p:sp>
      <p:pic>
        <p:nvPicPr>
          <p:cNvPr id="7" name="Image 0" descr="/home/claude/diagrams/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368" y="2286000"/>
            <a:ext cx="9966960" cy="30025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PeopleOps &amp; Legal Intelligence Hub  ·  Portfolio Case Study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57200" cy="45720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AI/ML &amp; RESPONSIBLE AI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Output Earns Trust Before It Acts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157276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attrition-risk model for HR and a contract/compliance anomaly model for Legal — neither acts unsupervised.</a:t>
            </a:r>
            <a:endParaRPr lang="en-US" sz="1350" dirty="0"/>
          </a:p>
        </p:txBody>
      </p:sp>
      <p:pic>
        <p:nvPicPr>
          <p:cNvPr id="7" name="Image 0" descr="/home/claude/diagrams/ai_la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528" y="2148840"/>
            <a:ext cx="9692640" cy="3259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PeopleOps &amp; Legal Intelligence Hub  ·  Portfolio Case Study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57200" cy="457200"/>
          </a:xfrm>
          <a:prstGeom prst="ellipse">
            <a:avLst/>
          </a:prstGeom>
          <a:solidFill>
            <a:srgbClr val="8A5CF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BUSINESS CASE &amp; DELIVERY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Metrics That Prove Product Value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157276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to answer the question every stakeholder actually asks: is this worth what it costs.</a:t>
            </a:r>
            <a:endParaRPr lang="en-US" sz="1350" dirty="0"/>
          </a:p>
        </p:txBody>
      </p:sp>
      <p:pic>
        <p:nvPicPr>
          <p:cNvPr id="7" name="Image 0" descr="/home/claude/diagrams/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088" y="2377440"/>
            <a:ext cx="9875520" cy="20306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63669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targets — a real engagement would baseline these against current-state manual reporting.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PeopleOps &amp; Legal Intelligence Hub  ·  Portfolio Case Study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57200" cy="457200"/>
          </a:xfrm>
          <a:prstGeom prst="ellipse">
            <a:avLst/>
          </a:prstGeom>
          <a:solidFill>
            <a:srgbClr val="8A5CF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BUSINESS CASE &amp; DELIVERY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 Framed With Engineering, Not Handed to Them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backlog shared across data platform, data science, and AI/ML teams — the model only stays trustworthy if product and engineering build it together.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280160" y="2999232"/>
            <a:ext cx="9601200" cy="0"/>
          </a:xfrm>
          <a:prstGeom prst="line">
            <a:avLst/>
          </a:prstGeom>
          <a:noFill/>
          <a:ln w="25400">
            <a:solidFill>
              <a:srgbClr val="E1E0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743200"/>
            <a:ext cx="457200" cy="45720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3337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37033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 &amp; data-feasibility with data engineering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99560" y="2743200"/>
            <a:ext cx="457200" cy="457200"/>
          </a:xfrm>
          <a:prstGeom prst="ellipse">
            <a:avLst/>
          </a:prstGeom>
          <a:solidFill>
            <a:srgbClr val="4A3AA7"/>
          </a:solidFill>
          <a:ln/>
        </p:spPr>
      </p:sp>
      <p:sp>
        <p:nvSpPr>
          <p:cNvPr id="13" name="Text 11"/>
          <p:cNvSpPr/>
          <p:nvPr/>
        </p:nvSpPr>
        <p:spPr>
          <a:xfrm>
            <a:off x="409956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22320" y="3337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22320" y="37033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 + one dashboard, built for UAT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47560" y="2743200"/>
            <a:ext cx="457200" cy="457200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7" name="Text 15"/>
          <p:cNvSpPr/>
          <p:nvPr/>
        </p:nvSpPr>
        <p:spPr>
          <a:xfrm>
            <a:off x="714756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70320" y="3337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70320" y="37033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with HRBPs &amp; Legal Ops, data quality &amp; security checks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195560" y="2743200"/>
            <a:ext cx="457200" cy="45720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21" name="Text 19"/>
          <p:cNvSpPr/>
          <p:nvPr/>
        </p:nvSpPr>
        <p:spPr>
          <a:xfrm>
            <a:off x="1019556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418320" y="3337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18320" y="37033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 of APIs, then the AI/ML layer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PeopleOps &amp; Legal Intelligence Hub  ·  Portfolio Case Study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161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FA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9875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D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fragmented stakeholder pain into one governed data product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D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ROI-informed roadmap sequencing: quick win, foundation, compounding AI value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D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modeling &amp; data governance: lineage, provenance, auditability, domain ownership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D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an AI/ML product with a human-in-the-loop review model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D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construction with named, falsifiable success metrics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DD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delivery across data engineering, data science &amp; platform teams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Ramanathan  —  Product, UX &amp; Data Portfolio  ·  umaramanathan54@gmail.com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Portfolio Case Study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PeopleOps &amp; Legal Intelligence Hub</dc:title>
  <dc:subject>PptxGenJS Presentation</dc:subject>
  <dc:creator>Uma Ramanathan</dc:creator>
  <cp:lastModifiedBy>Uma Ramanathan</cp:lastModifiedBy>
  <cp:revision>1</cp:revision>
  <dcterms:created xsi:type="dcterms:W3CDTF">2026-08-18T15:01:47Z</dcterms:created>
  <dcterms:modified xsi:type="dcterms:W3CDTF">2026-08-18T15:01:47Z</dcterms:modified>
</cp:coreProperties>
</file>